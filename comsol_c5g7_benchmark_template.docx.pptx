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77.xml"/>
  <Override ContentType="application/vnd.openxmlformats-officedocument.presentationml.slide+xml" PartName="/ppt/slides/slide78.xml"/>
  <Override ContentType="application/vnd.openxmlformats-officedocument.presentationml.slide+xml" PartName="/ppt/slides/slide79.xml"/>
  <Override ContentType="application/vnd.openxmlformats-officedocument.presentationml.slide+xml" PartName="/ppt/slides/slide80.xml"/>
  <Override ContentType="application/vnd.openxmlformats-officedocument.presentationml.slide+xml" PartName="/ppt/slides/slide81.xml"/>
  <Override ContentType="application/vnd.openxmlformats-officedocument.presentationml.slide+xml" PartName="/ppt/slides/slide82.xml"/>
  <Override ContentType="application/vnd.openxmlformats-officedocument.presentationml.slide+xml" PartName="/ppt/slides/slide83.xml"/>
  <Override ContentType="application/vnd.openxmlformats-officedocument.presentationml.slide+xml" PartName="/ppt/slides/slide84.xml"/>
  <Override ContentType="application/vnd.openxmlformats-officedocument.presentationml.slide+xml" PartName="/ppt/slides/slide85.xml"/>
  <Override ContentType="application/vnd.openxmlformats-officedocument.presentationml.slide+xml" PartName="/ppt/slides/slide86.xml"/>
  <Override ContentType="application/vnd.openxmlformats-officedocument.presentationml.slide+xml" PartName="/ppt/slides/slide87.xml"/>
  <Override ContentType="application/vnd.openxmlformats-officedocument.presentationml.slide+xml" PartName="/ppt/slides/slide88.xml"/>
  <Override ContentType="application/vnd.openxmlformats-officedocument.presentationml.slide+xml" PartName="/ppt/slides/slide89.xml"/>
  <Override ContentType="application/vnd.openxmlformats-officedocument.presentationml.slide+xml" PartName="/ppt/slides/slide90.xml"/>
  <Override ContentType="application/vnd.openxmlformats-officedocument.presentationml.slide+xml" PartName="/ppt/slides/slide91.xml"/>
  <Override ContentType="application/vnd.openxmlformats-officedocument.presentationml.slide+xml" PartName="/ppt/slides/slide92.xml"/>
  <Override ContentType="application/vnd.openxmlformats-officedocument.presentationml.slide+xml" PartName="/ppt/slides/slide93.xml"/>
  <Override ContentType="application/vnd.openxmlformats-officedocument.presentationml.slide+xml" PartName="/ppt/slides/slide94.xml"/>
  <Override ContentType="application/vnd.openxmlformats-officedocument.presentationml.slide+xml" PartName="/ppt/slides/slide95.xml"/>
  <Override ContentType="application/vnd.openxmlformats-officedocument.presentationml.slide+xml" PartName="/ppt/slides/slide96.xml"/>
  <Override ContentType="application/vnd.openxmlformats-officedocument.presentationml.slide+xml" PartName="/ppt/slides/slide97.xml"/>
  <Override ContentType="application/vnd.openxmlformats-officedocument.presentationml.slide+xml" PartName="/ppt/slides/slide98.xml"/>
  <Override ContentType="application/vnd.openxmlformats-officedocument.presentationml.slide+xml" PartName="/ppt/slides/slide99.xml"/>
  <Override ContentType="application/vnd.openxmlformats-officedocument.presentationml.slide+xml" PartName="/ppt/slides/slide100.xml"/>
  <Override ContentType="application/vnd.openxmlformats-officedocument.presentationml.slide+xml" PartName="/ppt/slides/slide101.xml"/>
  <Override ContentType="application/vnd.openxmlformats-officedocument.presentationml.slide+xml" PartName="/ppt/slides/slide102.xml"/>
  <Override ContentType="application/vnd.openxmlformats-officedocument.presentationml.slide+xml" PartName="/ppt/slides/slide103.xml"/>
  <Override ContentType="application/vnd.openxmlformats-officedocument.presentationml.slide+xml" PartName="/ppt/slides/slide104.xml"/>
  <Override ContentType="application/vnd.openxmlformats-officedocument.presentationml.slide+xml" PartName="/ppt/slides/slide105.xml"/>
  <Override ContentType="application/vnd.openxmlformats-officedocument.presentationml.slide+xml" PartName="/ppt/slides/slide106.xml"/>
  <Override ContentType="application/vnd.openxmlformats-officedocument.presentationml.slide+xml" PartName="/ppt/slides/slide107.xml"/>
  <Override ContentType="application/vnd.openxmlformats-officedocument.presentationml.slide+xml" PartName="/ppt/slides/slide108.xml"/>
  <Override ContentType="application/vnd.openxmlformats-officedocument.presentationml.slide+xml" PartName="/ppt/slides/slide109.xml"/>
  <Override ContentType="application/vnd.openxmlformats-officedocument.presentationml.slide+xml" PartName="/ppt/slides/slide110.xml"/>
  <Override ContentType="application/vnd.openxmlformats-officedocument.presentationml.slide+xml" PartName="/ppt/slides/slide111.xml"/>
  <Override ContentType="application/vnd.openxmlformats-officedocument.presentationml.slide+xml" PartName="/ppt/slides/slide112.xml"/>
  <Override ContentType="application/vnd.openxmlformats-officedocument.presentationml.slide+xml" PartName="/ppt/slides/slide113.xml"/>
  <Override ContentType="application/vnd.openxmlformats-officedocument.presentationml.slide+xml" PartName="/ppt/slides/slide114.xml"/>
  <Override ContentType="application/vnd.openxmlformats-officedocument.presentationml.slide+xml" PartName="/ppt/slides/slide115.xml"/>
  <Override ContentType="application/vnd.openxmlformats-officedocument.presentationml.slide+xml" PartName="/ppt/slides/slide116.xml"/>
  <Override ContentType="application/vnd.openxmlformats-officedocument.presentationml.slide+xml" PartName="/ppt/slides/slide117.xml"/>
  <Override ContentType="application/vnd.openxmlformats-officedocument.presentationml.slide+xml" PartName="/ppt/slides/slide118.xml"/>
  <Override ContentType="application/vnd.openxmlformats-officedocument.presentationml.slide+xml" PartName="/ppt/slides/slide119.xml"/>
  <Override ContentType="application/vnd.openxmlformats-officedocument.presentationml.slide+xml" PartName="/ppt/slides/slide120.xml"/>
  <Override ContentType="application/vnd.openxmlformats-officedocument.presentationml.slide+xml" PartName="/ppt/slides/slide121.xml"/>
  <Override ContentType="application/vnd.openxmlformats-officedocument.presentationml.slide+xml" PartName="/ppt/slides/slide122.xml"/>
  <Override ContentType="application/vnd.openxmlformats-officedocument.presentationml.slide+xml" PartName="/ppt/slides/slide123.xml"/>
  <Override ContentType="application/vnd.openxmlformats-officedocument.presentationml.slide+xml" PartName="/ppt/slides/slide124.xml"/>
  <Override ContentType="application/vnd.openxmlformats-officedocument.presentationml.slide+xml" PartName="/ppt/slides/slide125.xml"/>
  <Override ContentType="application/vnd.openxmlformats-officedocument.presentationml.slide+xml" PartName="/ppt/slides/slide126.xml"/>
  <Override ContentType="application/vnd.openxmlformats-officedocument.presentationml.slide+xml" PartName="/ppt/slides/slide127.xml"/>
  <Override ContentType="application/vnd.openxmlformats-officedocument.presentationml.slide+xml" PartName="/ppt/slides/slide128.xml"/>
  <Override ContentType="application/vnd.openxmlformats-officedocument.presentationml.slide+xml" PartName="/ppt/slides/slide129.xml"/>
  <Override ContentType="application/vnd.openxmlformats-officedocument.presentationml.slide+xml" PartName="/ppt/slides/slide130.xml"/>
  <Override ContentType="application/vnd.openxmlformats-officedocument.presentationml.slide+xml" PartName="/ppt/slides/slide131.xml"/>
  <Override ContentType="application/vnd.openxmlformats-officedocument.presentationml.slide+xml" PartName="/ppt/slides/slide132.xml"/>
  <Override ContentType="application/vnd.openxmlformats-officedocument.presentationml.slide+xml" PartName="/ppt/slides/slide1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Types>
</file>

<file path=_rels/.rels><?xml version="1.0" encoding="UTF-8" standalone="no"?><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 id="344" r:id="rId98"/>
    <p:sldId id="345" r:id="rId99"/>
    <p:sldId id="346" r:id="rId100"/>
    <p:sldId id="347" r:id="rId101"/>
    <p:sldId id="348" r:id="rId102"/>
    <p:sldId id="349" r:id="rId103"/>
    <p:sldId id="350" r:id="rId104"/>
    <p:sldId id="351" r:id="rId105"/>
    <p:sldId id="352" r:id="rId106"/>
    <p:sldId id="353" r:id="rId107"/>
    <p:sldId id="354" r:id="rId108"/>
    <p:sldId id="355" r:id="rId109"/>
    <p:sldId id="356" r:id="rId110"/>
    <p:sldId id="357" r:id="rId111"/>
    <p:sldId id="358" r:id="rId112"/>
    <p:sldId id="359" r:id="rId113"/>
    <p:sldId id="360" r:id="rId114"/>
    <p:sldId id="361" r:id="rId115"/>
    <p:sldId id="362" r:id="rId116"/>
    <p:sldId id="363" r:id="rId117"/>
    <p:sldId id="364" r:id="rId118"/>
    <p:sldId id="365" r:id="rId119"/>
    <p:sldId id="366" r:id="rId120"/>
    <p:sldId id="367" r:id="rId121"/>
    <p:sldId id="368" r:id="rId122"/>
    <p:sldId id="369" r:id="rId123"/>
    <p:sldId id="370" r:id="rId124"/>
    <p:sldId id="371" r:id="rId125"/>
    <p:sldId id="372" r:id="rId126"/>
    <p:sldId id="373" r:id="rId127"/>
    <p:sldId id="374" r:id="rId128"/>
    <p:sldId id="375" r:id="rId129"/>
    <p:sldId id="376" r:id="rId130"/>
    <p:sldId id="377" r:id="rId131"/>
    <p:sldId id="378" r:id="rId132"/>
    <p:sldId id="379" r:id="rId133"/>
    <p:sldId id="380" r:id="rId134"/>
    <p:sldId id="381" r:id="rId135"/>
    <p:sldId id="382" r:id="rId136"/>
    <p:sldId id="383" r:id="rId137"/>
    <p:sldId id="384" r:id="rId138"/>
    <p:sldId id="385" r:id="rId139"/>
    <p:sldId id="386" r:id="rId140"/>
    <p:sldId id="387" r:id="rId141"/>
    <p:sldId id="388" r:id="rId142"/>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9" autoAdjust="0"/>
    <p:restoredTop sz="94660"/>
  </p:normalViewPr>
  <p:slideViewPr>
    <p:cSldViewPr snapToGrid="0">
      <p:cViewPr varScale="1">
        <p:scale>
          <a:sx n="112" d="100"/>
          <a:sy n="112" d="100"/>
        </p:scale>
        <p:origin x="258" y="102"/>
      </p:cViewPr>
      <p:guideLst/>
    </p:cSldViewPr>
  </p:slideViewPr>
  <p:notesTextViewPr>
    <p:cViewPr>
      <p:scale>
        <a:sx n="1" d="1"/>
        <a:sy n="1" d="1"/>
      </p:scale>
      <p:origin x="0" y="0"/>
    </p:cViewPr>
  </p:notesTextViewPr>
  <p:gridSpacing cx="72008" cy="72008"/>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10" Target="slides/slide1.xml" Type="http://schemas.openxmlformats.org/officeDocument/2006/relationships/slide"/><Relationship Id="rId100" Target="slides/slide91.xml" Type="http://schemas.openxmlformats.org/officeDocument/2006/relationships/slide"/><Relationship Id="rId101" Target="slides/slide92.xml" Type="http://schemas.openxmlformats.org/officeDocument/2006/relationships/slide"/><Relationship Id="rId102" Target="slides/slide93.xml" Type="http://schemas.openxmlformats.org/officeDocument/2006/relationships/slide"/><Relationship Id="rId103" Target="slides/slide94.xml" Type="http://schemas.openxmlformats.org/officeDocument/2006/relationships/slide"/><Relationship Id="rId104" Target="slides/slide95.xml" Type="http://schemas.openxmlformats.org/officeDocument/2006/relationships/slide"/><Relationship Id="rId105" Target="slides/slide96.xml" Type="http://schemas.openxmlformats.org/officeDocument/2006/relationships/slide"/><Relationship Id="rId106" Target="slides/slide97.xml" Type="http://schemas.openxmlformats.org/officeDocument/2006/relationships/slide"/><Relationship Id="rId107" Target="slides/slide98.xml" Type="http://schemas.openxmlformats.org/officeDocument/2006/relationships/slide"/><Relationship Id="rId108" Target="slides/slide99.xml" Type="http://schemas.openxmlformats.org/officeDocument/2006/relationships/slide"/><Relationship Id="rId109" Target="slides/slide100.xml" Type="http://schemas.openxmlformats.org/officeDocument/2006/relationships/slide"/><Relationship Id="rId11" Target="slides/slide2.xml" Type="http://schemas.openxmlformats.org/officeDocument/2006/relationships/slide"/><Relationship Id="rId110" Target="slides/slide101.xml" Type="http://schemas.openxmlformats.org/officeDocument/2006/relationships/slide"/><Relationship Id="rId111" Target="slides/slide102.xml" Type="http://schemas.openxmlformats.org/officeDocument/2006/relationships/slide"/><Relationship Id="rId112" Target="slides/slide103.xml" Type="http://schemas.openxmlformats.org/officeDocument/2006/relationships/slide"/><Relationship Id="rId113" Target="slides/slide104.xml" Type="http://schemas.openxmlformats.org/officeDocument/2006/relationships/slide"/><Relationship Id="rId114" Target="slides/slide105.xml" Type="http://schemas.openxmlformats.org/officeDocument/2006/relationships/slide"/><Relationship Id="rId115" Target="slides/slide106.xml" Type="http://schemas.openxmlformats.org/officeDocument/2006/relationships/slide"/><Relationship Id="rId116" Target="slides/slide107.xml" Type="http://schemas.openxmlformats.org/officeDocument/2006/relationships/slide"/><Relationship Id="rId117" Target="slides/slide108.xml" Type="http://schemas.openxmlformats.org/officeDocument/2006/relationships/slide"/><Relationship Id="rId118" Target="slides/slide109.xml" Type="http://schemas.openxmlformats.org/officeDocument/2006/relationships/slide"/><Relationship Id="rId119" Target="slides/slide110.xml" Type="http://schemas.openxmlformats.org/officeDocument/2006/relationships/slide"/><Relationship Id="rId12" Target="slides/slide3.xml" Type="http://schemas.openxmlformats.org/officeDocument/2006/relationships/slide"/><Relationship Id="rId120" Target="slides/slide111.xml" Type="http://schemas.openxmlformats.org/officeDocument/2006/relationships/slide"/><Relationship Id="rId121" Target="slides/slide112.xml" Type="http://schemas.openxmlformats.org/officeDocument/2006/relationships/slide"/><Relationship Id="rId122" Target="slides/slide113.xml" Type="http://schemas.openxmlformats.org/officeDocument/2006/relationships/slide"/><Relationship Id="rId123" Target="slides/slide114.xml" Type="http://schemas.openxmlformats.org/officeDocument/2006/relationships/slide"/><Relationship Id="rId124" Target="slides/slide115.xml" Type="http://schemas.openxmlformats.org/officeDocument/2006/relationships/slide"/><Relationship Id="rId125" Target="slides/slide116.xml" Type="http://schemas.openxmlformats.org/officeDocument/2006/relationships/slide"/><Relationship Id="rId126" Target="slides/slide117.xml" Type="http://schemas.openxmlformats.org/officeDocument/2006/relationships/slide"/><Relationship Id="rId127" Target="slides/slide118.xml" Type="http://schemas.openxmlformats.org/officeDocument/2006/relationships/slide"/><Relationship Id="rId128" Target="slides/slide119.xml" Type="http://schemas.openxmlformats.org/officeDocument/2006/relationships/slide"/><Relationship Id="rId129" Target="slides/slide120.xml" Type="http://schemas.openxmlformats.org/officeDocument/2006/relationships/slide"/><Relationship Id="rId13" Target="slides/slide4.xml" Type="http://schemas.openxmlformats.org/officeDocument/2006/relationships/slide"/><Relationship Id="rId130" Target="slides/slide121.xml" Type="http://schemas.openxmlformats.org/officeDocument/2006/relationships/slide"/><Relationship Id="rId131" Target="slides/slide122.xml" Type="http://schemas.openxmlformats.org/officeDocument/2006/relationships/slide"/><Relationship Id="rId132" Target="slides/slide123.xml" Type="http://schemas.openxmlformats.org/officeDocument/2006/relationships/slide"/><Relationship Id="rId133" Target="slides/slide124.xml" Type="http://schemas.openxmlformats.org/officeDocument/2006/relationships/slide"/><Relationship Id="rId134" Target="slides/slide125.xml" Type="http://schemas.openxmlformats.org/officeDocument/2006/relationships/slide"/><Relationship Id="rId135" Target="slides/slide126.xml" Type="http://schemas.openxmlformats.org/officeDocument/2006/relationships/slide"/><Relationship Id="rId136" Target="slides/slide127.xml" Type="http://schemas.openxmlformats.org/officeDocument/2006/relationships/slide"/><Relationship Id="rId137" Target="slides/slide128.xml" Type="http://schemas.openxmlformats.org/officeDocument/2006/relationships/slide"/><Relationship Id="rId138" Target="slides/slide129.xml" Type="http://schemas.openxmlformats.org/officeDocument/2006/relationships/slide"/><Relationship Id="rId139" Target="slides/slide130.xml" Type="http://schemas.openxmlformats.org/officeDocument/2006/relationships/slide"/><Relationship Id="rId14" Target="slides/slide5.xml" Type="http://schemas.openxmlformats.org/officeDocument/2006/relationships/slide"/><Relationship Id="rId140" Target="slides/slide131.xml" Type="http://schemas.openxmlformats.org/officeDocument/2006/relationships/slide"/><Relationship Id="rId141" Target="slides/slide132.xml" Type="http://schemas.openxmlformats.org/officeDocument/2006/relationships/slide"/><Relationship Id="rId142" Target="slides/slide133.xml" Type="http://schemas.openxmlformats.org/officeDocument/2006/relationships/slide"/><Relationship Id="rId15" Target="slides/slide6.xml" Type="http://schemas.openxmlformats.org/officeDocument/2006/relationships/slide"/><Relationship Id="rId16" Target="slides/slide7.xml" Type="http://schemas.openxmlformats.org/officeDocument/2006/relationships/slide"/><Relationship Id="rId17" Target="slides/slide8.xml" Type="http://schemas.openxmlformats.org/officeDocument/2006/relationships/slide"/><Relationship Id="rId18" Target="slides/slide9.xml" Type="http://schemas.openxmlformats.org/officeDocument/2006/relationships/slide"/><Relationship Id="rId19" Target="slides/slide10.xml" Type="http://schemas.openxmlformats.org/officeDocument/2006/relationships/slide"/><Relationship Id="rId20" Target="slides/slide11.xml" Type="http://schemas.openxmlformats.org/officeDocument/2006/relationships/slide"/><Relationship Id="rId21" Target="slides/slide12.xml" Type="http://schemas.openxmlformats.org/officeDocument/2006/relationships/slide"/><Relationship Id="rId22" Target="slides/slide13.xml" Type="http://schemas.openxmlformats.org/officeDocument/2006/relationships/slide"/><Relationship Id="rId23" Target="slides/slide14.xml" Type="http://schemas.openxmlformats.org/officeDocument/2006/relationships/slide"/><Relationship Id="rId24" Target="slides/slide15.xml" Type="http://schemas.openxmlformats.org/officeDocument/2006/relationships/slide"/><Relationship Id="rId25" Target="slides/slide16.xml" Type="http://schemas.openxmlformats.org/officeDocument/2006/relationships/slide"/><Relationship Id="rId26" Target="slides/slide17.xml" Type="http://schemas.openxmlformats.org/officeDocument/2006/relationships/slide"/><Relationship Id="rId27" Target="slides/slide18.xml" Type="http://schemas.openxmlformats.org/officeDocument/2006/relationships/slide"/><Relationship Id="rId28" Target="slides/slide19.xml" Type="http://schemas.openxmlformats.org/officeDocument/2006/relationships/slide"/><Relationship Id="rId29" Target="slides/slide20.xml" Type="http://schemas.openxmlformats.org/officeDocument/2006/relationships/slide"/><Relationship Id="rId3" Target="presProps.xml" Type="http://schemas.openxmlformats.org/officeDocument/2006/relationships/presProps"/><Relationship Id="rId30" Target="slides/slide21.xml" Type="http://schemas.openxmlformats.org/officeDocument/2006/relationships/slide"/><Relationship Id="rId31" Target="slides/slide22.xml" Type="http://schemas.openxmlformats.org/officeDocument/2006/relationships/slide"/><Relationship Id="rId32" Target="slides/slide23.xml" Type="http://schemas.openxmlformats.org/officeDocument/2006/relationships/slide"/><Relationship Id="rId33" Target="slides/slide24.xml" Type="http://schemas.openxmlformats.org/officeDocument/2006/relationships/slide"/><Relationship Id="rId34" Target="slides/slide25.xml" Type="http://schemas.openxmlformats.org/officeDocument/2006/relationships/slide"/><Relationship Id="rId35" Target="slides/slide26.xml" Type="http://schemas.openxmlformats.org/officeDocument/2006/relationships/slide"/><Relationship Id="rId36" Target="slides/slide27.xml" Type="http://schemas.openxmlformats.org/officeDocument/2006/relationships/slide"/><Relationship Id="rId37" Target="slides/slide28.xml" Type="http://schemas.openxmlformats.org/officeDocument/2006/relationships/slide"/><Relationship Id="rId38" Target="slides/slide29.xml" Type="http://schemas.openxmlformats.org/officeDocument/2006/relationships/slide"/><Relationship Id="rId39" Target="slides/slide30.xml" Type="http://schemas.openxmlformats.org/officeDocument/2006/relationships/slide"/><Relationship Id="rId4" Target="viewProps.xml" Type="http://schemas.openxmlformats.org/officeDocument/2006/relationships/viewProps"/><Relationship Id="rId40" Target="slides/slide31.xml" Type="http://schemas.openxmlformats.org/officeDocument/2006/relationships/slide"/><Relationship Id="rId41" Target="slides/slide32.xml" Type="http://schemas.openxmlformats.org/officeDocument/2006/relationships/slide"/><Relationship Id="rId42" Target="slides/slide33.xml" Type="http://schemas.openxmlformats.org/officeDocument/2006/relationships/slide"/><Relationship Id="rId43" Target="slides/slide34.xml" Type="http://schemas.openxmlformats.org/officeDocument/2006/relationships/slide"/><Relationship Id="rId44" Target="slides/slide35.xml" Type="http://schemas.openxmlformats.org/officeDocument/2006/relationships/slide"/><Relationship Id="rId45" Target="slides/slide36.xml" Type="http://schemas.openxmlformats.org/officeDocument/2006/relationships/slide"/><Relationship Id="rId46" Target="slides/slide37.xml" Type="http://schemas.openxmlformats.org/officeDocument/2006/relationships/slide"/><Relationship Id="rId47" Target="slides/slide38.xml" Type="http://schemas.openxmlformats.org/officeDocument/2006/relationships/slide"/><Relationship Id="rId48" Target="slides/slide39.xml" Type="http://schemas.openxmlformats.org/officeDocument/2006/relationships/slide"/><Relationship Id="rId49" Target="slides/slide40.xml" Type="http://schemas.openxmlformats.org/officeDocument/2006/relationships/slide"/><Relationship Id="rId5" Target="theme/theme1.xml" Type="http://schemas.openxmlformats.org/officeDocument/2006/relationships/theme"/><Relationship Id="rId50" Target="slides/slide41.xml" Type="http://schemas.openxmlformats.org/officeDocument/2006/relationships/slide"/><Relationship Id="rId51" Target="slides/slide42.xml" Type="http://schemas.openxmlformats.org/officeDocument/2006/relationships/slide"/><Relationship Id="rId52" Target="slides/slide43.xml" Type="http://schemas.openxmlformats.org/officeDocument/2006/relationships/slide"/><Relationship Id="rId53" Target="slides/slide44.xml" Type="http://schemas.openxmlformats.org/officeDocument/2006/relationships/slide"/><Relationship Id="rId54" Target="slides/slide45.xml" Type="http://schemas.openxmlformats.org/officeDocument/2006/relationships/slide"/><Relationship Id="rId55" Target="slides/slide46.xml" Type="http://schemas.openxmlformats.org/officeDocument/2006/relationships/slide"/><Relationship Id="rId56" Target="slides/slide47.xml" Type="http://schemas.openxmlformats.org/officeDocument/2006/relationships/slide"/><Relationship Id="rId57" Target="slides/slide48.xml" Type="http://schemas.openxmlformats.org/officeDocument/2006/relationships/slide"/><Relationship Id="rId58" Target="slides/slide49.xml" Type="http://schemas.openxmlformats.org/officeDocument/2006/relationships/slide"/><Relationship Id="rId59" Target="slides/slide50.xml" Type="http://schemas.openxmlformats.org/officeDocument/2006/relationships/slide"/><Relationship Id="rId6" Target="tableStyles.xml" Type="http://schemas.openxmlformats.org/officeDocument/2006/relationships/tableStyles"/><Relationship Id="rId60" Target="slides/slide51.xml" Type="http://schemas.openxmlformats.org/officeDocument/2006/relationships/slide"/><Relationship Id="rId61" Target="slides/slide52.xml" Type="http://schemas.openxmlformats.org/officeDocument/2006/relationships/slide"/><Relationship Id="rId62" Target="slides/slide53.xml" Type="http://schemas.openxmlformats.org/officeDocument/2006/relationships/slide"/><Relationship Id="rId63" Target="slides/slide54.xml" Type="http://schemas.openxmlformats.org/officeDocument/2006/relationships/slide"/><Relationship Id="rId64" Target="slides/slide55.xml" Type="http://schemas.openxmlformats.org/officeDocument/2006/relationships/slide"/><Relationship Id="rId65" Target="slides/slide56.xml" Type="http://schemas.openxmlformats.org/officeDocument/2006/relationships/slide"/><Relationship Id="rId66" Target="slides/slide57.xml" Type="http://schemas.openxmlformats.org/officeDocument/2006/relationships/slide"/><Relationship Id="rId67" Target="slides/slide58.xml" Type="http://schemas.openxmlformats.org/officeDocument/2006/relationships/slide"/><Relationship Id="rId68" Target="slides/slide59.xml" Type="http://schemas.openxmlformats.org/officeDocument/2006/relationships/slide"/><Relationship Id="rId69" Target="slides/slide60.xml" Type="http://schemas.openxmlformats.org/officeDocument/2006/relationships/slide"/><Relationship Id="rId70" Target="slides/slide61.xml" Type="http://schemas.openxmlformats.org/officeDocument/2006/relationships/slide"/><Relationship Id="rId71" Target="slides/slide62.xml" Type="http://schemas.openxmlformats.org/officeDocument/2006/relationships/slide"/><Relationship Id="rId72" Target="slides/slide63.xml" Type="http://schemas.openxmlformats.org/officeDocument/2006/relationships/slide"/><Relationship Id="rId73" Target="slides/slide64.xml" Type="http://schemas.openxmlformats.org/officeDocument/2006/relationships/slide"/><Relationship Id="rId74" Target="slides/slide65.xml" Type="http://schemas.openxmlformats.org/officeDocument/2006/relationships/slide"/><Relationship Id="rId75" Target="slides/slide66.xml" Type="http://schemas.openxmlformats.org/officeDocument/2006/relationships/slide"/><Relationship Id="rId76" Target="slides/slide67.xml" Type="http://schemas.openxmlformats.org/officeDocument/2006/relationships/slide"/><Relationship Id="rId77" Target="slides/slide68.xml" Type="http://schemas.openxmlformats.org/officeDocument/2006/relationships/slide"/><Relationship Id="rId78" Target="slides/slide69.xml" Type="http://schemas.openxmlformats.org/officeDocument/2006/relationships/slide"/><Relationship Id="rId79" Target="slides/slide70.xml" Type="http://schemas.openxmlformats.org/officeDocument/2006/relationships/slide"/><Relationship Id="rId80" Target="slides/slide71.xml" Type="http://schemas.openxmlformats.org/officeDocument/2006/relationships/slide"/><Relationship Id="rId81" Target="slides/slide72.xml" Type="http://schemas.openxmlformats.org/officeDocument/2006/relationships/slide"/><Relationship Id="rId82" Target="slides/slide73.xml" Type="http://schemas.openxmlformats.org/officeDocument/2006/relationships/slide"/><Relationship Id="rId83" Target="slides/slide74.xml" Type="http://schemas.openxmlformats.org/officeDocument/2006/relationships/slide"/><Relationship Id="rId84" Target="slides/slide75.xml" Type="http://schemas.openxmlformats.org/officeDocument/2006/relationships/slide"/><Relationship Id="rId85" Target="slides/slide76.xml" Type="http://schemas.openxmlformats.org/officeDocument/2006/relationships/slide"/><Relationship Id="rId86" Target="slides/slide77.xml" Type="http://schemas.openxmlformats.org/officeDocument/2006/relationships/slide"/><Relationship Id="rId87" Target="slides/slide78.xml" Type="http://schemas.openxmlformats.org/officeDocument/2006/relationships/slide"/><Relationship Id="rId88" Target="slides/slide79.xml" Type="http://schemas.openxmlformats.org/officeDocument/2006/relationships/slide"/><Relationship Id="rId89" Target="slides/slide80.xml" Type="http://schemas.openxmlformats.org/officeDocument/2006/relationships/slide"/><Relationship Id="rId90" Target="slides/slide81.xml" Type="http://schemas.openxmlformats.org/officeDocument/2006/relationships/slide"/><Relationship Id="rId91" Target="slides/slide82.xml" Type="http://schemas.openxmlformats.org/officeDocument/2006/relationships/slide"/><Relationship Id="rId92" Target="slides/slide83.xml" Type="http://schemas.openxmlformats.org/officeDocument/2006/relationships/slide"/><Relationship Id="rId93" Target="slides/slide84.xml" Type="http://schemas.openxmlformats.org/officeDocument/2006/relationships/slide"/><Relationship Id="rId94" Target="slides/slide85.xml" Type="http://schemas.openxmlformats.org/officeDocument/2006/relationships/slide"/><Relationship Id="rId95" Target="slides/slide86.xml" Type="http://schemas.openxmlformats.org/officeDocument/2006/relationships/slide"/><Relationship Id="rId96" Target="slides/slide87.xml" Type="http://schemas.openxmlformats.org/officeDocument/2006/relationships/slide"/><Relationship Id="rId97" Target="slides/slide88.xml" Type="http://schemas.openxmlformats.org/officeDocument/2006/relationships/slide"/><Relationship Id="rId98" Target="slides/slide89.xml" Type="http://schemas.openxmlformats.org/officeDocument/2006/relationships/slide"/><Relationship Id="rId99" Target="slides/slide90.xml" Type="http://schemas.openxmlformats.org/officeDocument/2006/relationships/slide"/></Relationships>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022D2-9A77-4266-A194-249938CCFE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E"/>
          </a:p>
        </p:txBody>
      </p:sp>
      <p:sp>
        <p:nvSpPr>
          <p:cNvPr id="3" name="Subtitle 2">
            <a:extLst>
              <a:ext uri="{FF2B5EF4-FFF2-40B4-BE49-F238E27FC236}">
                <a16:creationId xmlns:a16="http://schemas.microsoft.com/office/drawing/2014/main" id="{1C3C6768-D34A-44F3-BF0D-CF31FFCF62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E"/>
          </a:p>
        </p:txBody>
      </p:sp>
      <p:sp>
        <p:nvSpPr>
          <p:cNvPr id="4" name="Date Placeholder 3">
            <a:extLst>
              <a:ext uri="{FF2B5EF4-FFF2-40B4-BE49-F238E27FC236}">
                <a16:creationId xmlns:a16="http://schemas.microsoft.com/office/drawing/2014/main" id="{D6417169-34BE-48FD-BFEB-6404B0C547CD}"/>
              </a:ext>
            </a:extLst>
          </p:cNvPr>
          <p:cNvSpPr>
            <a:spLocks noGrp="1"/>
          </p:cNvSpPr>
          <p:nvPr>
            <p:ph type="dt" sz="half" idx="10"/>
          </p:nvPr>
        </p:nvSpPr>
        <p:spPr/>
        <p:txBody>
          <a:bodyPr/>
          <a:lstStyle/>
          <a:p>
            <a:fld id="{12E53A4F-364F-44DF-911C-307785C1606E}" type="datetimeFigureOut">
              <a:rPr lang="en-SE" smtClean="0"/>
              <a:t>2021-06-24</a:t>
            </a:fld>
            <a:endParaRPr lang="en-SE"/>
          </a:p>
        </p:txBody>
      </p:sp>
      <p:sp>
        <p:nvSpPr>
          <p:cNvPr id="5" name="Footer Placeholder 4">
            <a:extLst>
              <a:ext uri="{FF2B5EF4-FFF2-40B4-BE49-F238E27FC236}">
                <a16:creationId xmlns:a16="http://schemas.microsoft.com/office/drawing/2014/main" id="{215719B0-A578-4154-ABB6-2DAC13A1560C}"/>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DEC22857-5431-482A-A2EC-96A17F6B5C96}"/>
              </a:ext>
            </a:extLst>
          </p:cNvPr>
          <p:cNvSpPr>
            <a:spLocks noGrp="1"/>
          </p:cNvSpPr>
          <p:nvPr>
            <p:ph type="sldNum" sz="quarter" idx="12"/>
          </p:nvPr>
        </p:nvSpPr>
        <p:spPr/>
        <p:txBody>
          <a:bodyPr/>
          <a:lstStyle/>
          <a:p>
            <a:fld id="{5D8A864E-D1C9-4D55-9E51-A6C5C382C584}" type="slidenum">
              <a:rPr lang="en-SE" smtClean="0"/>
              <a:t>‹#›</a:t>
            </a:fld>
            <a:endParaRPr lang="en-SE"/>
          </a:p>
        </p:txBody>
      </p:sp>
    </p:spTree>
    <p:extLst>
      <p:ext uri="{BB962C8B-B14F-4D97-AF65-F5344CB8AC3E}">
        <p14:creationId xmlns:p14="http://schemas.microsoft.com/office/powerpoint/2010/main" val="2269895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1ECB-5946-45BA-9D00-67CC6F9343A2}"/>
              </a:ext>
            </a:extLst>
          </p:cNvPr>
          <p:cNvSpPr>
            <a:spLocks noGrp="1"/>
          </p:cNvSpPr>
          <p:nvPr>
            <p:ph type="title"/>
          </p:nvPr>
        </p:nvSpPr>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9F47FC58-994F-46B3-A98F-D87BB373C9B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CBEF7F9F-DF98-49F0-B757-3AE5D5CBE5B6}"/>
              </a:ext>
            </a:extLst>
          </p:cNvPr>
          <p:cNvSpPr>
            <a:spLocks noGrp="1"/>
          </p:cNvSpPr>
          <p:nvPr>
            <p:ph type="dt" sz="half" idx="10"/>
          </p:nvPr>
        </p:nvSpPr>
        <p:spPr/>
        <p:txBody>
          <a:bodyPr/>
          <a:lstStyle/>
          <a:p>
            <a:fld id="{12E53A4F-364F-44DF-911C-307785C1606E}" type="datetimeFigureOut">
              <a:rPr lang="en-SE" smtClean="0"/>
              <a:t>2021-06-24</a:t>
            </a:fld>
            <a:endParaRPr lang="en-SE"/>
          </a:p>
        </p:txBody>
      </p:sp>
      <p:sp>
        <p:nvSpPr>
          <p:cNvPr id="5" name="Footer Placeholder 4">
            <a:extLst>
              <a:ext uri="{FF2B5EF4-FFF2-40B4-BE49-F238E27FC236}">
                <a16:creationId xmlns:a16="http://schemas.microsoft.com/office/drawing/2014/main" id="{F8EC79E1-9402-44EA-B348-3791C4701937}"/>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576E5C6F-5ED5-4888-9201-ADFC42A95DA7}"/>
              </a:ext>
            </a:extLst>
          </p:cNvPr>
          <p:cNvSpPr>
            <a:spLocks noGrp="1"/>
          </p:cNvSpPr>
          <p:nvPr>
            <p:ph type="sldNum" sz="quarter" idx="12"/>
          </p:nvPr>
        </p:nvSpPr>
        <p:spPr/>
        <p:txBody>
          <a:bodyPr/>
          <a:lstStyle/>
          <a:p>
            <a:fld id="{5D8A864E-D1C9-4D55-9E51-A6C5C382C584}" type="slidenum">
              <a:rPr lang="en-SE" smtClean="0"/>
              <a:t>‹#›</a:t>
            </a:fld>
            <a:endParaRPr lang="en-SE"/>
          </a:p>
        </p:txBody>
      </p:sp>
    </p:spTree>
    <p:extLst>
      <p:ext uri="{BB962C8B-B14F-4D97-AF65-F5344CB8AC3E}">
        <p14:creationId xmlns:p14="http://schemas.microsoft.com/office/powerpoint/2010/main" val="3861100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ABC90-8170-4D79-89A9-C888F72D4A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E"/>
          </a:p>
        </p:txBody>
      </p:sp>
      <p:sp>
        <p:nvSpPr>
          <p:cNvPr id="3" name="Text Placeholder 2">
            <a:extLst>
              <a:ext uri="{FF2B5EF4-FFF2-40B4-BE49-F238E27FC236}">
                <a16:creationId xmlns:a16="http://schemas.microsoft.com/office/drawing/2014/main" id="{88B8B529-588F-42EC-99EB-F8DB59CA66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CE31425-7D48-44E7-AF3D-DF7A3C27FD1E}"/>
              </a:ext>
            </a:extLst>
          </p:cNvPr>
          <p:cNvSpPr>
            <a:spLocks noGrp="1"/>
          </p:cNvSpPr>
          <p:nvPr>
            <p:ph type="dt" sz="half" idx="10"/>
          </p:nvPr>
        </p:nvSpPr>
        <p:spPr/>
        <p:txBody>
          <a:bodyPr/>
          <a:lstStyle/>
          <a:p>
            <a:fld id="{12E53A4F-364F-44DF-911C-307785C1606E}" type="datetimeFigureOut">
              <a:rPr lang="en-SE" smtClean="0"/>
              <a:t>2021-06-24</a:t>
            </a:fld>
            <a:endParaRPr lang="en-SE"/>
          </a:p>
        </p:txBody>
      </p:sp>
      <p:sp>
        <p:nvSpPr>
          <p:cNvPr id="5" name="Footer Placeholder 4">
            <a:extLst>
              <a:ext uri="{FF2B5EF4-FFF2-40B4-BE49-F238E27FC236}">
                <a16:creationId xmlns:a16="http://schemas.microsoft.com/office/drawing/2014/main" id="{0D77D200-4380-4DB8-AA27-3604A576ECFC}"/>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ADC17499-C07C-48C6-8533-8A19161D06F0}"/>
              </a:ext>
            </a:extLst>
          </p:cNvPr>
          <p:cNvSpPr>
            <a:spLocks noGrp="1"/>
          </p:cNvSpPr>
          <p:nvPr>
            <p:ph type="sldNum" sz="quarter" idx="12"/>
          </p:nvPr>
        </p:nvSpPr>
        <p:spPr/>
        <p:txBody>
          <a:bodyPr/>
          <a:lstStyle/>
          <a:p>
            <a:fld id="{5D8A864E-D1C9-4D55-9E51-A6C5C382C584}" type="slidenum">
              <a:rPr lang="en-SE" smtClean="0"/>
              <a:t>‹#›</a:t>
            </a:fld>
            <a:endParaRPr lang="en-SE"/>
          </a:p>
        </p:txBody>
      </p:sp>
    </p:spTree>
    <p:extLst>
      <p:ext uri="{BB962C8B-B14F-4D97-AF65-F5344CB8AC3E}">
        <p14:creationId xmlns:p14="http://schemas.microsoft.com/office/powerpoint/2010/main" val="2566334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C337A4FD-E367-44E0-B2AA-6684E1B4E68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Content Placeholder 3">
            <a:extLst>
              <a:ext uri="{FF2B5EF4-FFF2-40B4-BE49-F238E27FC236}">
                <a16:creationId xmlns:a16="http://schemas.microsoft.com/office/drawing/2014/main" id="{D02A4E6A-3D8C-41D6-80EF-1F963FD8E88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5" name="Date Placeholder 4">
            <a:extLst>
              <a:ext uri="{FF2B5EF4-FFF2-40B4-BE49-F238E27FC236}">
                <a16:creationId xmlns:a16="http://schemas.microsoft.com/office/drawing/2014/main" id="{5693C417-DD9B-4A9D-8B80-0ED1CD7A964E}"/>
              </a:ext>
            </a:extLst>
          </p:cNvPr>
          <p:cNvSpPr>
            <a:spLocks noGrp="1"/>
          </p:cNvSpPr>
          <p:nvPr>
            <p:ph type="dt" sz="half" idx="10"/>
          </p:nvPr>
        </p:nvSpPr>
        <p:spPr/>
        <p:txBody>
          <a:bodyPr/>
          <a:lstStyle/>
          <a:p>
            <a:fld id="{12E53A4F-364F-44DF-911C-307785C1606E}" type="datetimeFigureOut">
              <a:rPr lang="en-SE" smtClean="0"/>
              <a:t>2021-06-24</a:t>
            </a:fld>
            <a:endParaRPr lang="en-SE"/>
          </a:p>
        </p:txBody>
      </p:sp>
      <p:sp>
        <p:nvSpPr>
          <p:cNvPr id="6" name="Footer Placeholder 5">
            <a:extLst>
              <a:ext uri="{FF2B5EF4-FFF2-40B4-BE49-F238E27FC236}">
                <a16:creationId xmlns:a16="http://schemas.microsoft.com/office/drawing/2014/main" id="{C545C3E8-BD10-4528-9D5D-96EE36C44534}"/>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069C24BB-84FB-40A9-8B16-CEAC2C7D2873}"/>
              </a:ext>
            </a:extLst>
          </p:cNvPr>
          <p:cNvSpPr>
            <a:spLocks noGrp="1"/>
          </p:cNvSpPr>
          <p:nvPr>
            <p:ph type="sldNum" sz="quarter" idx="12"/>
          </p:nvPr>
        </p:nvSpPr>
        <p:spPr/>
        <p:txBody>
          <a:bodyPr/>
          <a:lstStyle/>
          <a:p>
            <a:fld id="{5D8A864E-D1C9-4D55-9E51-A6C5C382C584}" type="slidenum">
              <a:rPr lang="en-SE" smtClean="0"/>
              <a:t>‹#›</a:t>
            </a:fld>
            <a:endParaRPr lang="en-SE"/>
          </a:p>
        </p:txBody>
      </p:sp>
    </p:spTree>
    <p:extLst>
      <p:ext uri="{BB962C8B-B14F-4D97-AF65-F5344CB8AC3E}">
        <p14:creationId xmlns:p14="http://schemas.microsoft.com/office/powerpoint/2010/main" val="1318798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701F4-AD27-42A7-BB57-CE39CE726EBA}"/>
              </a:ext>
            </a:extLst>
          </p:cNvPr>
          <p:cNvSpPr>
            <a:spLocks noGrp="1"/>
          </p:cNvSpPr>
          <p:nvPr>
            <p:ph type="title"/>
          </p:nvPr>
        </p:nvSpPr>
        <p:spPr>
          <a:xfrm>
            <a:off x="839788" y="365125"/>
            <a:ext cx="10515600" cy="1325563"/>
          </a:xfrm>
        </p:spPr>
        <p:txBody>
          <a:bodyPr/>
          <a:lstStyle/>
          <a:p>
            <a:r>
              <a:rPr lang="en-US"/>
              <a:t>Click to edit Master title style</a:t>
            </a:r>
            <a:endParaRPr lang="en-SE"/>
          </a:p>
        </p:txBody>
      </p:sp>
      <p:sp>
        <p:nvSpPr>
          <p:cNvPr id="3" name="Text Placeholder 2">
            <a:extLst>
              <a:ext uri="{FF2B5EF4-FFF2-40B4-BE49-F238E27FC236}">
                <a16:creationId xmlns:a16="http://schemas.microsoft.com/office/drawing/2014/main" id="{1C5B6AD0-BD88-4F10-9B73-B60ED20F0F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F6DAAFC-A202-4922-A246-2C61C8CCA1A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5" name="Text Placeholder 4">
            <a:extLst>
              <a:ext uri="{FF2B5EF4-FFF2-40B4-BE49-F238E27FC236}">
                <a16:creationId xmlns:a16="http://schemas.microsoft.com/office/drawing/2014/main" id="{EF5B042E-473C-467A-A2FB-E7E1537FC4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4643200-4798-44E7-A1DB-6088DBDA7DE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7" name="Date Placeholder 6">
            <a:extLst>
              <a:ext uri="{FF2B5EF4-FFF2-40B4-BE49-F238E27FC236}">
                <a16:creationId xmlns:a16="http://schemas.microsoft.com/office/drawing/2014/main" id="{1652BEDA-7320-4F4B-B54D-E5E12732D494}"/>
              </a:ext>
            </a:extLst>
          </p:cNvPr>
          <p:cNvSpPr>
            <a:spLocks noGrp="1"/>
          </p:cNvSpPr>
          <p:nvPr>
            <p:ph type="dt" sz="half" idx="10"/>
          </p:nvPr>
        </p:nvSpPr>
        <p:spPr/>
        <p:txBody>
          <a:bodyPr/>
          <a:lstStyle/>
          <a:p>
            <a:fld id="{12E53A4F-364F-44DF-911C-307785C1606E}" type="datetimeFigureOut">
              <a:rPr lang="en-SE" smtClean="0"/>
              <a:t>2021-06-24</a:t>
            </a:fld>
            <a:endParaRPr lang="en-SE"/>
          </a:p>
        </p:txBody>
      </p:sp>
      <p:sp>
        <p:nvSpPr>
          <p:cNvPr id="8" name="Footer Placeholder 7">
            <a:extLst>
              <a:ext uri="{FF2B5EF4-FFF2-40B4-BE49-F238E27FC236}">
                <a16:creationId xmlns:a16="http://schemas.microsoft.com/office/drawing/2014/main" id="{E78380DF-B32A-4C2A-A7F9-3C1FEE09F3DE}"/>
              </a:ext>
            </a:extLst>
          </p:cNvPr>
          <p:cNvSpPr>
            <a:spLocks noGrp="1"/>
          </p:cNvSpPr>
          <p:nvPr>
            <p:ph type="ftr" sz="quarter" idx="11"/>
          </p:nvPr>
        </p:nvSpPr>
        <p:spPr/>
        <p:txBody>
          <a:bodyPr/>
          <a:lstStyle/>
          <a:p>
            <a:endParaRPr lang="en-SE"/>
          </a:p>
        </p:txBody>
      </p:sp>
      <p:sp>
        <p:nvSpPr>
          <p:cNvPr id="9" name="Slide Number Placeholder 8">
            <a:extLst>
              <a:ext uri="{FF2B5EF4-FFF2-40B4-BE49-F238E27FC236}">
                <a16:creationId xmlns:a16="http://schemas.microsoft.com/office/drawing/2014/main" id="{E4086562-E75F-4C03-9F7B-B0150782608C}"/>
              </a:ext>
            </a:extLst>
          </p:cNvPr>
          <p:cNvSpPr>
            <a:spLocks noGrp="1"/>
          </p:cNvSpPr>
          <p:nvPr>
            <p:ph type="sldNum" sz="quarter" idx="12"/>
          </p:nvPr>
        </p:nvSpPr>
        <p:spPr/>
        <p:txBody>
          <a:bodyPr/>
          <a:lstStyle/>
          <a:p>
            <a:fld id="{5D8A864E-D1C9-4D55-9E51-A6C5C382C584}" type="slidenum">
              <a:rPr lang="en-SE" smtClean="0"/>
              <a:t>‹#›</a:t>
            </a:fld>
            <a:endParaRPr lang="en-SE"/>
          </a:p>
        </p:txBody>
      </p:sp>
    </p:spTree>
    <p:extLst>
      <p:ext uri="{BB962C8B-B14F-4D97-AF65-F5344CB8AC3E}">
        <p14:creationId xmlns:p14="http://schemas.microsoft.com/office/powerpoint/2010/main" val="1238961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29AF3-8CC4-4CBD-965B-804273F1885C}"/>
              </a:ext>
            </a:extLst>
          </p:cNvPr>
          <p:cNvSpPr>
            <a:spLocks noGrp="1"/>
          </p:cNvSpPr>
          <p:nvPr>
            <p:ph type="title"/>
          </p:nvPr>
        </p:nvSpPr>
        <p:spPr/>
        <p:txBody>
          <a:bodyPr/>
          <a:lstStyle/>
          <a:p>
            <a:r>
              <a:rPr lang="en-US"/>
              <a:t>Click to edit Master title style</a:t>
            </a:r>
            <a:endParaRPr lang="en-SE"/>
          </a:p>
        </p:txBody>
      </p:sp>
      <p:sp>
        <p:nvSpPr>
          <p:cNvPr id="3" name="Date Placeholder 2">
            <a:extLst>
              <a:ext uri="{FF2B5EF4-FFF2-40B4-BE49-F238E27FC236}">
                <a16:creationId xmlns:a16="http://schemas.microsoft.com/office/drawing/2014/main" id="{AF5D9DFC-B0C7-4E05-AE92-B3315387C4D7}"/>
              </a:ext>
            </a:extLst>
          </p:cNvPr>
          <p:cNvSpPr>
            <a:spLocks noGrp="1"/>
          </p:cNvSpPr>
          <p:nvPr>
            <p:ph type="dt" sz="half" idx="10"/>
          </p:nvPr>
        </p:nvSpPr>
        <p:spPr/>
        <p:txBody>
          <a:bodyPr/>
          <a:lstStyle/>
          <a:p>
            <a:fld id="{12E53A4F-364F-44DF-911C-307785C1606E}" type="datetimeFigureOut">
              <a:rPr lang="en-SE" smtClean="0"/>
              <a:t>2021-06-24</a:t>
            </a:fld>
            <a:endParaRPr lang="en-SE"/>
          </a:p>
        </p:txBody>
      </p:sp>
      <p:sp>
        <p:nvSpPr>
          <p:cNvPr id="4" name="Footer Placeholder 3">
            <a:extLst>
              <a:ext uri="{FF2B5EF4-FFF2-40B4-BE49-F238E27FC236}">
                <a16:creationId xmlns:a16="http://schemas.microsoft.com/office/drawing/2014/main" id="{3E9EB298-3A28-4B93-BCA2-FD1683CD5450}"/>
              </a:ext>
            </a:extLst>
          </p:cNvPr>
          <p:cNvSpPr>
            <a:spLocks noGrp="1"/>
          </p:cNvSpPr>
          <p:nvPr>
            <p:ph type="ftr" sz="quarter" idx="11"/>
          </p:nvPr>
        </p:nvSpPr>
        <p:spPr/>
        <p:txBody>
          <a:bodyPr/>
          <a:lstStyle/>
          <a:p>
            <a:endParaRPr lang="en-SE"/>
          </a:p>
        </p:txBody>
      </p:sp>
      <p:sp>
        <p:nvSpPr>
          <p:cNvPr id="5" name="Slide Number Placeholder 4">
            <a:extLst>
              <a:ext uri="{FF2B5EF4-FFF2-40B4-BE49-F238E27FC236}">
                <a16:creationId xmlns:a16="http://schemas.microsoft.com/office/drawing/2014/main" id="{5864F2D4-EA38-49DB-BA1F-9151F7584305}"/>
              </a:ext>
            </a:extLst>
          </p:cNvPr>
          <p:cNvSpPr>
            <a:spLocks noGrp="1"/>
          </p:cNvSpPr>
          <p:nvPr>
            <p:ph type="sldNum" sz="quarter" idx="12"/>
          </p:nvPr>
        </p:nvSpPr>
        <p:spPr/>
        <p:txBody>
          <a:bodyPr/>
          <a:lstStyle/>
          <a:p>
            <a:fld id="{5D8A864E-D1C9-4D55-9E51-A6C5C382C584}" type="slidenum">
              <a:rPr lang="en-SE" smtClean="0"/>
              <a:t>‹#›</a:t>
            </a:fld>
            <a:endParaRPr lang="en-SE"/>
          </a:p>
        </p:txBody>
      </p:sp>
    </p:spTree>
    <p:extLst>
      <p:ext uri="{BB962C8B-B14F-4D97-AF65-F5344CB8AC3E}">
        <p14:creationId xmlns:p14="http://schemas.microsoft.com/office/powerpoint/2010/main" val="3778300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496531-C1FD-4894-89EF-2C217345C426}"/>
              </a:ext>
            </a:extLst>
          </p:cNvPr>
          <p:cNvSpPr>
            <a:spLocks noGrp="1"/>
          </p:cNvSpPr>
          <p:nvPr>
            <p:ph type="dt" sz="half" idx="10"/>
          </p:nvPr>
        </p:nvSpPr>
        <p:spPr/>
        <p:txBody>
          <a:bodyPr/>
          <a:lstStyle/>
          <a:p>
            <a:fld id="{12E53A4F-364F-44DF-911C-307785C1606E}" type="datetimeFigureOut">
              <a:rPr lang="en-SE" smtClean="0"/>
              <a:t>2021-06-24</a:t>
            </a:fld>
            <a:endParaRPr lang="en-SE"/>
          </a:p>
        </p:txBody>
      </p:sp>
      <p:sp>
        <p:nvSpPr>
          <p:cNvPr id="3" name="Footer Placeholder 2">
            <a:extLst>
              <a:ext uri="{FF2B5EF4-FFF2-40B4-BE49-F238E27FC236}">
                <a16:creationId xmlns:a16="http://schemas.microsoft.com/office/drawing/2014/main" id="{0964A098-76B1-4A75-8BA2-4DD5CEDE4F83}"/>
              </a:ext>
            </a:extLst>
          </p:cNvPr>
          <p:cNvSpPr>
            <a:spLocks noGrp="1"/>
          </p:cNvSpPr>
          <p:nvPr>
            <p:ph type="ftr" sz="quarter" idx="11"/>
          </p:nvPr>
        </p:nvSpPr>
        <p:spPr/>
        <p:txBody>
          <a:bodyPr/>
          <a:lstStyle/>
          <a:p>
            <a:endParaRPr lang="en-SE"/>
          </a:p>
        </p:txBody>
      </p:sp>
      <p:sp>
        <p:nvSpPr>
          <p:cNvPr id="4" name="Slide Number Placeholder 3">
            <a:extLst>
              <a:ext uri="{FF2B5EF4-FFF2-40B4-BE49-F238E27FC236}">
                <a16:creationId xmlns:a16="http://schemas.microsoft.com/office/drawing/2014/main" id="{63020034-2532-49B9-B2F0-2C87BF0DF1F4}"/>
              </a:ext>
            </a:extLst>
          </p:cNvPr>
          <p:cNvSpPr>
            <a:spLocks noGrp="1"/>
          </p:cNvSpPr>
          <p:nvPr>
            <p:ph type="sldNum" sz="quarter" idx="12"/>
          </p:nvPr>
        </p:nvSpPr>
        <p:spPr/>
        <p:txBody>
          <a:bodyPr/>
          <a:lstStyle/>
          <a:p>
            <a:fld id="{5D8A864E-D1C9-4D55-9E51-A6C5C382C584}" type="slidenum">
              <a:rPr lang="en-SE" smtClean="0"/>
              <a:t>‹#›</a:t>
            </a:fld>
            <a:endParaRPr lang="en-SE"/>
          </a:p>
        </p:txBody>
      </p:sp>
    </p:spTree>
    <p:extLst>
      <p:ext uri="{BB962C8B-B14F-4D97-AF65-F5344CB8AC3E}">
        <p14:creationId xmlns:p14="http://schemas.microsoft.com/office/powerpoint/2010/main" val="2089107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5782D-221C-4637-9CCB-7AC8BF0F41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E"/>
          </a:p>
        </p:txBody>
      </p:sp>
      <p:sp>
        <p:nvSpPr>
          <p:cNvPr id="3" name="Content Placeholder 2">
            <a:extLst>
              <a:ext uri="{FF2B5EF4-FFF2-40B4-BE49-F238E27FC236}">
                <a16:creationId xmlns:a16="http://schemas.microsoft.com/office/drawing/2014/main" id="{1E2AFAB7-CEAD-44A1-AF7A-EBEB71400F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Text Placeholder 3">
            <a:extLst>
              <a:ext uri="{FF2B5EF4-FFF2-40B4-BE49-F238E27FC236}">
                <a16:creationId xmlns:a16="http://schemas.microsoft.com/office/drawing/2014/main" id="{ED679003-4EE9-49EB-9190-11A52E1AB9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4C0A33F-F96B-427F-9086-5498416D873A}"/>
              </a:ext>
            </a:extLst>
          </p:cNvPr>
          <p:cNvSpPr>
            <a:spLocks noGrp="1"/>
          </p:cNvSpPr>
          <p:nvPr>
            <p:ph type="dt" sz="half" idx="10"/>
          </p:nvPr>
        </p:nvSpPr>
        <p:spPr/>
        <p:txBody>
          <a:bodyPr/>
          <a:lstStyle/>
          <a:p>
            <a:fld id="{12E53A4F-364F-44DF-911C-307785C1606E}" type="datetimeFigureOut">
              <a:rPr lang="en-SE" smtClean="0"/>
              <a:t>2021-06-24</a:t>
            </a:fld>
            <a:endParaRPr lang="en-SE"/>
          </a:p>
        </p:txBody>
      </p:sp>
      <p:sp>
        <p:nvSpPr>
          <p:cNvPr id="6" name="Footer Placeholder 5">
            <a:extLst>
              <a:ext uri="{FF2B5EF4-FFF2-40B4-BE49-F238E27FC236}">
                <a16:creationId xmlns:a16="http://schemas.microsoft.com/office/drawing/2014/main" id="{46C1417E-398D-4D4B-9BC5-9785A886C18E}"/>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0AEE0FA7-4CFD-4260-A67E-2E27EC3C3B29}"/>
              </a:ext>
            </a:extLst>
          </p:cNvPr>
          <p:cNvSpPr>
            <a:spLocks noGrp="1"/>
          </p:cNvSpPr>
          <p:nvPr>
            <p:ph type="sldNum" sz="quarter" idx="12"/>
          </p:nvPr>
        </p:nvSpPr>
        <p:spPr/>
        <p:txBody>
          <a:bodyPr/>
          <a:lstStyle/>
          <a:p>
            <a:fld id="{5D8A864E-D1C9-4D55-9E51-A6C5C382C584}" type="slidenum">
              <a:rPr lang="en-SE" smtClean="0"/>
              <a:t>‹#›</a:t>
            </a:fld>
            <a:endParaRPr lang="en-SE"/>
          </a:p>
        </p:txBody>
      </p:sp>
    </p:spTree>
    <p:extLst>
      <p:ext uri="{BB962C8B-B14F-4D97-AF65-F5344CB8AC3E}">
        <p14:creationId xmlns:p14="http://schemas.microsoft.com/office/powerpoint/2010/main" val="2610543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4A3C7-E09A-4B77-84B4-C1C08B20E5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E"/>
          </a:p>
        </p:txBody>
      </p:sp>
      <p:sp>
        <p:nvSpPr>
          <p:cNvPr id="3" name="Picture Placeholder 2">
            <a:extLst>
              <a:ext uri="{FF2B5EF4-FFF2-40B4-BE49-F238E27FC236}">
                <a16:creationId xmlns:a16="http://schemas.microsoft.com/office/drawing/2014/main" id="{21950BC5-A41A-4BB2-A86D-E324635AB8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E"/>
          </a:p>
        </p:txBody>
      </p:sp>
      <p:sp>
        <p:nvSpPr>
          <p:cNvPr id="4" name="Text Placeholder 3">
            <a:extLst>
              <a:ext uri="{FF2B5EF4-FFF2-40B4-BE49-F238E27FC236}">
                <a16:creationId xmlns:a16="http://schemas.microsoft.com/office/drawing/2014/main" id="{B56E5041-6C67-4AEF-8B02-89D4F61002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4BEC69D-529F-4D06-AF88-E8B29EEBAFB5}"/>
              </a:ext>
            </a:extLst>
          </p:cNvPr>
          <p:cNvSpPr>
            <a:spLocks noGrp="1"/>
          </p:cNvSpPr>
          <p:nvPr>
            <p:ph type="dt" sz="half" idx="10"/>
          </p:nvPr>
        </p:nvSpPr>
        <p:spPr/>
        <p:txBody>
          <a:bodyPr/>
          <a:lstStyle/>
          <a:p>
            <a:fld id="{12E53A4F-364F-44DF-911C-307785C1606E}" type="datetimeFigureOut">
              <a:rPr lang="en-SE" smtClean="0"/>
              <a:t>2021-06-24</a:t>
            </a:fld>
            <a:endParaRPr lang="en-SE"/>
          </a:p>
        </p:txBody>
      </p:sp>
      <p:sp>
        <p:nvSpPr>
          <p:cNvPr id="6" name="Footer Placeholder 5">
            <a:extLst>
              <a:ext uri="{FF2B5EF4-FFF2-40B4-BE49-F238E27FC236}">
                <a16:creationId xmlns:a16="http://schemas.microsoft.com/office/drawing/2014/main" id="{C5A5CE68-4FEB-4087-9646-63B3D509965E}"/>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EB7DCCCD-56EA-4DDA-B332-F9BB904B71FD}"/>
              </a:ext>
            </a:extLst>
          </p:cNvPr>
          <p:cNvSpPr>
            <a:spLocks noGrp="1"/>
          </p:cNvSpPr>
          <p:nvPr>
            <p:ph type="sldNum" sz="quarter" idx="12"/>
          </p:nvPr>
        </p:nvSpPr>
        <p:spPr/>
        <p:txBody>
          <a:bodyPr/>
          <a:lstStyle/>
          <a:p>
            <a:fld id="{5D8A864E-D1C9-4D55-9E51-A6C5C382C584}" type="slidenum">
              <a:rPr lang="en-SE" smtClean="0"/>
              <a:t>‹#›</a:t>
            </a:fld>
            <a:endParaRPr lang="en-SE"/>
          </a:p>
        </p:txBody>
      </p:sp>
    </p:spTree>
    <p:extLst>
      <p:ext uri="{BB962C8B-B14F-4D97-AF65-F5344CB8AC3E}">
        <p14:creationId xmlns:p14="http://schemas.microsoft.com/office/powerpoint/2010/main" val="3336934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0689B-409F-496B-927E-69AB104B536B}"/>
              </a:ext>
            </a:extLst>
          </p:cNvPr>
          <p:cNvSpPr>
            <a:spLocks noGrp="1"/>
          </p:cNvSpPr>
          <p:nvPr>
            <p:ph type="title"/>
          </p:nvPr>
        </p:nvSpPr>
        <p:spPr/>
        <p:txBody>
          <a:bodyPr/>
          <a:lstStyle/>
          <a:p>
            <a:r>
              <a:rPr lang="en-US"/>
              <a:t>Click to edit Master title style</a:t>
            </a:r>
            <a:endParaRPr lang="en-SE"/>
          </a:p>
        </p:txBody>
      </p:sp>
      <p:sp>
        <p:nvSpPr>
          <p:cNvPr id="3" name="Vertical Text Placeholder 2">
            <a:extLst>
              <a:ext uri="{FF2B5EF4-FFF2-40B4-BE49-F238E27FC236}">
                <a16:creationId xmlns:a16="http://schemas.microsoft.com/office/drawing/2014/main" id="{629D46B3-1853-4915-9599-6BD97A27495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E200FB78-A2BF-480E-A534-656E1C12FEBE}"/>
              </a:ext>
            </a:extLst>
          </p:cNvPr>
          <p:cNvSpPr>
            <a:spLocks noGrp="1"/>
          </p:cNvSpPr>
          <p:nvPr>
            <p:ph type="dt" sz="half" idx="10"/>
          </p:nvPr>
        </p:nvSpPr>
        <p:spPr/>
        <p:txBody>
          <a:bodyPr/>
          <a:lstStyle/>
          <a:p>
            <a:fld id="{12E53A4F-364F-44DF-911C-307785C1606E}" type="datetimeFigureOut">
              <a:rPr lang="en-SE" smtClean="0"/>
              <a:t>2021-06-24</a:t>
            </a:fld>
            <a:endParaRPr lang="en-SE"/>
          </a:p>
        </p:txBody>
      </p:sp>
      <p:sp>
        <p:nvSpPr>
          <p:cNvPr id="5" name="Footer Placeholder 4">
            <a:extLst>
              <a:ext uri="{FF2B5EF4-FFF2-40B4-BE49-F238E27FC236}">
                <a16:creationId xmlns:a16="http://schemas.microsoft.com/office/drawing/2014/main" id="{D3F6D938-BCF7-4525-B022-B7BBBCF6CDED}"/>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0ED10C6E-7BC6-4D0F-BE34-C6AF7D228333}"/>
              </a:ext>
            </a:extLst>
          </p:cNvPr>
          <p:cNvSpPr>
            <a:spLocks noGrp="1"/>
          </p:cNvSpPr>
          <p:nvPr>
            <p:ph type="sldNum" sz="quarter" idx="12"/>
          </p:nvPr>
        </p:nvSpPr>
        <p:spPr/>
        <p:txBody>
          <a:bodyPr/>
          <a:lstStyle/>
          <a:p>
            <a:fld id="{5D8A864E-D1C9-4D55-9E51-A6C5C382C584}" type="slidenum">
              <a:rPr lang="en-SE" smtClean="0"/>
              <a:t>‹#›</a:t>
            </a:fld>
            <a:endParaRPr lang="en-SE"/>
          </a:p>
        </p:txBody>
      </p:sp>
    </p:spTree>
    <p:extLst>
      <p:ext uri="{BB962C8B-B14F-4D97-AF65-F5344CB8AC3E}">
        <p14:creationId xmlns:p14="http://schemas.microsoft.com/office/powerpoint/2010/main" val="3631633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CA1386-2160-4310-8548-01812F1685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E"/>
          </a:p>
        </p:txBody>
      </p:sp>
      <p:sp>
        <p:nvSpPr>
          <p:cNvPr id="3" name="Vertical Text Placeholder 2">
            <a:extLst>
              <a:ext uri="{FF2B5EF4-FFF2-40B4-BE49-F238E27FC236}">
                <a16:creationId xmlns:a16="http://schemas.microsoft.com/office/drawing/2014/main" id="{97A58900-B3AC-49D9-AC09-59ABC743AB5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6A7409C3-C764-431B-ADDE-7CDC9ECEAE28}"/>
              </a:ext>
            </a:extLst>
          </p:cNvPr>
          <p:cNvSpPr>
            <a:spLocks noGrp="1"/>
          </p:cNvSpPr>
          <p:nvPr>
            <p:ph type="dt" sz="half" idx="10"/>
          </p:nvPr>
        </p:nvSpPr>
        <p:spPr/>
        <p:txBody>
          <a:bodyPr/>
          <a:lstStyle/>
          <a:p>
            <a:fld id="{12E53A4F-364F-44DF-911C-307785C1606E}" type="datetimeFigureOut">
              <a:rPr lang="en-SE" smtClean="0"/>
              <a:t>2021-06-24</a:t>
            </a:fld>
            <a:endParaRPr lang="en-SE"/>
          </a:p>
        </p:txBody>
      </p:sp>
      <p:sp>
        <p:nvSpPr>
          <p:cNvPr id="5" name="Footer Placeholder 4">
            <a:extLst>
              <a:ext uri="{FF2B5EF4-FFF2-40B4-BE49-F238E27FC236}">
                <a16:creationId xmlns:a16="http://schemas.microsoft.com/office/drawing/2014/main" id="{F432ACEA-B1F9-4D6C-AFAE-E6590318681A}"/>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1CF68932-9E90-43D7-A1A2-D76B4EDBE8D1}"/>
              </a:ext>
            </a:extLst>
          </p:cNvPr>
          <p:cNvSpPr>
            <a:spLocks noGrp="1"/>
          </p:cNvSpPr>
          <p:nvPr>
            <p:ph type="sldNum" sz="quarter" idx="12"/>
          </p:nvPr>
        </p:nvSpPr>
        <p:spPr/>
        <p:txBody>
          <a:bodyPr/>
          <a:lstStyle/>
          <a:p>
            <a:fld id="{5D8A864E-D1C9-4D55-9E51-A6C5C382C584}" type="slidenum">
              <a:rPr lang="en-SE" smtClean="0"/>
              <a:t>‹#›</a:t>
            </a:fld>
            <a:endParaRPr lang="en-SE"/>
          </a:p>
        </p:txBody>
      </p:sp>
    </p:spTree>
    <p:extLst>
      <p:ext uri="{BB962C8B-B14F-4D97-AF65-F5344CB8AC3E}">
        <p14:creationId xmlns:p14="http://schemas.microsoft.com/office/powerpoint/2010/main" val="910310946"/>
      </p:ext>
    </p:extLst>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58A3B9-7355-4AB5-8D2B-C462B3A46A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E"/>
          </a:p>
        </p:txBody>
      </p:sp>
      <p:sp>
        <p:nvSpPr>
          <p:cNvPr id="3" name="Text Placeholder 2">
            <a:extLst>
              <a:ext uri="{FF2B5EF4-FFF2-40B4-BE49-F238E27FC236}">
                <a16:creationId xmlns:a16="http://schemas.microsoft.com/office/drawing/2014/main" id="{13BA9DB4-32BD-411D-88C1-97EE27EF06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3A6A0C44-66AF-469C-8474-32320A02BA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E53A4F-364F-44DF-911C-307785C1606E}" type="datetimeFigureOut">
              <a:rPr lang="en-SE" smtClean="0"/>
              <a:t>2021-06-24</a:t>
            </a:fld>
            <a:endParaRPr lang="en-SE"/>
          </a:p>
        </p:txBody>
      </p:sp>
      <p:sp>
        <p:nvSpPr>
          <p:cNvPr id="5" name="Footer Placeholder 4">
            <a:extLst>
              <a:ext uri="{FF2B5EF4-FFF2-40B4-BE49-F238E27FC236}">
                <a16:creationId xmlns:a16="http://schemas.microsoft.com/office/drawing/2014/main" id="{A1CA5DA4-58E7-4D48-AD77-3BA553452E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E"/>
          </a:p>
        </p:txBody>
      </p:sp>
      <p:sp>
        <p:nvSpPr>
          <p:cNvPr id="6" name="Slide Number Placeholder 5">
            <a:extLst>
              <a:ext uri="{FF2B5EF4-FFF2-40B4-BE49-F238E27FC236}">
                <a16:creationId xmlns:a16="http://schemas.microsoft.com/office/drawing/2014/main" id="{BC84CF9E-A01A-489E-9922-4B9E61E58F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8A864E-D1C9-4D55-9E51-A6C5C382C584}" type="slidenum">
              <a:rPr lang="en-SE" smtClean="0"/>
              <a:t>‹#›</a:t>
            </a:fld>
            <a:endParaRPr lang="en-SE"/>
          </a:p>
        </p:txBody>
      </p:sp>
    </p:spTree>
    <p:extLst>
      <p:ext uri="{BB962C8B-B14F-4D97-AF65-F5344CB8AC3E}">
        <p14:creationId xmlns:p14="http://schemas.microsoft.com/office/powerpoint/2010/main" val="897388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no"?><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no"?><Relationships xmlns="http://schemas.openxmlformats.org/package/2006/relationships"><Relationship Id="rId1" Target="../slideLayouts/slideLayout3.xml" Type="http://schemas.openxmlformats.org/officeDocument/2006/relationships/slideLayout"/></Relationships>
</file>

<file path=ppt/slides/_rels/slide3.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9.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10.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11.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12.xml.rels><?xml version="1.0" encoding="UTF-8" standalone="no"?><Relationships xmlns="http://schemas.openxmlformats.org/package/2006/relationships"><Relationship Id="rId1" Target="../slideLayouts/slideLayout3.xml" Type="http://schemas.openxmlformats.org/officeDocument/2006/relationships/slideLayout"/></Relationships>
</file>

<file path=ppt/slides/_rels/slide13.xml.rels><?xml version="1.0" encoding="UTF-8" standalone="no"?><Relationships xmlns="http://schemas.openxmlformats.org/package/2006/relationships"><Relationship Id="rId1" Target="../slideLayouts/slideLayout3.xml" Type="http://schemas.openxmlformats.org/officeDocument/2006/relationships/slideLayout"/></Relationships>
</file>

<file path=ppt/slides/_rels/slide14.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png" Type="http://schemas.openxmlformats.org/officeDocument/2006/relationships/image"/><Relationship Id="rId3" Type="http://schemas.openxmlformats.org/officeDocument/2006/relationships/tags" Target="../tags/tag1.xml"/></Relationships>

</file>

<file path=ppt/slides/_rels/slide15.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png" Type="http://schemas.openxmlformats.org/officeDocument/2006/relationships/image"/><Relationship Id="rId3" Type="http://schemas.openxmlformats.org/officeDocument/2006/relationships/tags" Target="../tags/tag2.xml"/></Relationships>

</file>

<file path=ppt/slides/_rels/slide16.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2.png" Type="http://schemas.openxmlformats.org/officeDocument/2006/relationships/image"/><Relationship Id="rId3" Type="http://schemas.openxmlformats.org/officeDocument/2006/relationships/tags" Target="../tags/tag3.xml"/></Relationships>

</file>

<file path=ppt/slides/_rels/slide17.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2.png" Type="http://schemas.openxmlformats.org/officeDocument/2006/relationships/image"/><Relationship Id="rId3" Type="http://schemas.openxmlformats.org/officeDocument/2006/relationships/tags" Target="../tags/tag4.xml"/></Relationships>

</file>

<file path=ppt/slides/_rels/slide18.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3.png" Type="http://schemas.openxmlformats.org/officeDocument/2006/relationships/image"/><Relationship Id="rId3" Type="http://schemas.openxmlformats.org/officeDocument/2006/relationships/tags" Target="../tags/tag5.xml"/></Relationships>

</file>

<file path=ppt/slides/_rels/slide19.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3.png" Type="http://schemas.openxmlformats.org/officeDocument/2006/relationships/image"/><Relationship Id="rId3" Type="http://schemas.openxmlformats.org/officeDocument/2006/relationships/tags" Target="../tags/tag6.xml"/></Relationships>

</file>

<file path=ppt/slides/_rels/slide20.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4.png" Type="http://schemas.openxmlformats.org/officeDocument/2006/relationships/image"/><Relationship Id="rId3" Type="http://schemas.openxmlformats.org/officeDocument/2006/relationships/tags" Target="../tags/tag7.xml"/></Relationships>

</file>

<file path=ppt/slides/_rels/slide21.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4.png" Type="http://schemas.openxmlformats.org/officeDocument/2006/relationships/image"/><Relationship Id="rId3" Type="http://schemas.openxmlformats.org/officeDocument/2006/relationships/tags" Target="../tags/tag8.xml"/></Relationships>

</file>

<file path=ppt/slides/_rels/slide22.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5.png" Type="http://schemas.openxmlformats.org/officeDocument/2006/relationships/image"/><Relationship Id="rId3" Type="http://schemas.openxmlformats.org/officeDocument/2006/relationships/tags" Target="../tags/tag9.xml"/></Relationships>

</file>

<file path=ppt/slides/_rels/slide23.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6.png" Type="http://schemas.openxmlformats.org/officeDocument/2006/relationships/image"/><Relationship Id="rId3" Type="http://schemas.openxmlformats.org/officeDocument/2006/relationships/tags" Target="../tags/tag10.xml"/></Relationships>

</file>

<file path=ppt/slides/_rels/slide24.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6.png" Type="http://schemas.openxmlformats.org/officeDocument/2006/relationships/image"/><Relationship Id="rId3" Type="http://schemas.openxmlformats.org/officeDocument/2006/relationships/tags" Target="../tags/tag11.xml"/></Relationships>

</file>

<file path=ppt/slides/_rels/slide25.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7.png" Type="http://schemas.openxmlformats.org/officeDocument/2006/relationships/image"/><Relationship Id="rId3" Type="http://schemas.openxmlformats.org/officeDocument/2006/relationships/tags" Target="../tags/tag12.xml"/></Relationships>

</file>

<file path=ppt/slides/_rels/slide26.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7.png" Type="http://schemas.openxmlformats.org/officeDocument/2006/relationships/image"/><Relationship Id="rId3" Type="http://schemas.openxmlformats.org/officeDocument/2006/relationships/tags" Target="../tags/tag13.xml"/></Relationships>

</file>

<file path=ppt/slides/_rels/slide27.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8.png" Type="http://schemas.openxmlformats.org/officeDocument/2006/relationships/image"/><Relationship Id="rId3" Type="http://schemas.openxmlformats.org/officeDocument/2006/relationships/tags" Target="../tags/tag14.xml"/></Relationships>

</file>

<file path=ppt/slides/_rels/slide28.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9.png" Type="http://schemas.openxmlformats.org/officeDocument/2006/relationships/image"/><Relationship Id="rId3" Type="http://schemas.openxmlformats.org/officeDocument/2006/relationships/tags" Target="../tags/tag15.xml"/></Relationships>

</file>

<file path=ppt/slides/_rels/slide29.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9.png" Type="http://schemas.openxmlformats.org/officeDocument/2006/relationships/image"/><Relationship Id="rId3" Type="http://schemas.openxmlformats.org/officeDocument/2006/relationships/tags" Target="../tags/tag16.xml"/></Relationships>

</file>

<file path=ppt/slides/_rels/slide30.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9.png" Type="http://schemas.openxmlformats.org/officeDocument/2006/relationships/image"/><Relationship Id="rId3" Type="http://schemas.openxmlformats.org/officeDocument/2006/relationships/tags" Target="../tags/tag17.xml"/></Relationships>

</file>

<file path=ppt/slides/_rels/slide31.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9.png" Type="http://schemas.openxmlformats.org/officeDocument/2006/relationships/image"/><Relationship Id="rId3" Type="http://schemas.openxmlformats.org/officeDocument/2006/relationships/tags" Target="../tags/tag18.xml"/></Relationships>

</file>

<file path=ppt/slides/_rels/slide32.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8.png" Type="http://schemas.openxmlformats.org/officeDocument/2006/relationships/image"/><Relationship Id="rId3" Type="http://schemas.openxmlformats.org/officeDocument/2006/relationships/tags" Target="../tags/tag19.xml"/></Relationships>

</file>

<file path=ppt/slides/_rels/slide33.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8.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ype="http://schemas.openxmlformats.org/officeDocument/2006/relationships/tags" Target="../tags/tag20.xml"/></Relationships>

</file>

<file path=ppt/slides/_rels/slide34.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8.png" Type="http://schemas.openxmlformats.org/officeDocument/2006/relationships/image"/><Relationship Id="rId3" Type="http://schemas.openxmlformats.org/officeDocument/2006/relationships/tags" Target="../tags/tag21.xml"/></Relationships>

</file>

<file path=ppt/slides/_rels/slide35.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8.png" Type="http://schemas.openxmlformats.org/officeDocument/2006/relationships/image"/><Relationship Id="rId3" Type="http://schemas.openxmlformats.org/officeDocument/2006/relationships/tags" Target="../tags/tag22.xml"/></Relationships>

</file>

<file path=ppt/slides/_rels/slide36.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8.png" Type="http://schemas.openxmlformats.org/officeDocument/2006/relationships/image"/><Relationship Id="rId3" Type="http://schemas.openxmlformats.org/officeDocument/2006/relationships/tags" Target="../tags/tag23.xml"/></Relationships>

</file>

<file path=ppt/slides/_rels/slide37.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8.png" Type="http://schemas.openxmlformats.org/officeDocument/2006/relationships/image"/><Relationship Id="rId3" Type="http://schemas.openxmlformats.org/officeDocument/2006/relationships/tags" Target="../tags/tag24.xml"/></Relationships>

</file>

<file path=ppt/slides/_rels/slide38.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8.png" Type="http://schemas.openxmlformats.org/officeDocument/2006/relationships/image"/><Relationship Id="rId3" Type="http://schemas.openxmlformats.org/officeDocument/2006/relationships/tags" Target="../tags/tag25.xml"/></Relationships>

</file>

<file path=ppt/slides/_rels/slide39.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8.png" Type="http://schemas.openxmlformats.org/officeDocument/2006/relationships/image"/><Relationship Id="rId3" Type="http://schemas.openxmlformats.org/officeDocument/2006/relationships/tags" Target="../tags/tag26.xml"/></Relationships>

</file>

<file path=ppt/slides/_rels/slide40.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8.png" Type="http://schemas.openxmlformats.org/officeDocument/2006/relationships/image"/><Relationship Id="rId3" Type="http://schemas.openxmlformats.org/officeDocument/2006/relationships/tags" Target="../tags/tag27.xml"/></Relationships>

</file>

<file path=ppt/slides/_rels/slide41.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3.png" Type="http://schemas.openxmlformats.org/officeDocument/2006/relationships/image"/><Relationship Id="rId3" Type="http://schemas.openxmlformats.org/officeDocument/2006/relationships/tags" Target="../tags/tag28.xml"/></Relationships>

</file>

<file path=ppt/slides/_rels/slide42.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ype="http://schemas.openxmlformats.org/officeDocument/2006/relationships/tags" Target="../tags/tag29.xml"/></Relationships>

</file>

<file path=ppt/slides/_rels/slide43.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9.png" Type="http://schemas.openxmlformats.org/officeDocument/2006/relationships/image"/><Relationship Id="rId3" Type="http://schemas.openxmlformats.org/officeDocument/2006/relationships/tags" Target="../tags/tag30.xml"/></Relationships>

</file>

<file path=ppt/slides/_rels/slide44.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9.png" Type="http://schemas.openxmlformats.org/officeDocument/2006/relationships/image"/><Relationship Id="rId3" Type="http://schemas.openxmlformats.org/officeDocument/2006/relationships/tags" Target="../tags/tag31.xml"/></Relationships>

</file>

<file path=ppt/slides/_rels/slide45.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9.png" Type="http://schemas.openxmlformats.org/officeDocument/2006/relationships/image"/><Relationship Id="rId3" Type="http://schemas.openxmlformats.org/officeDocument/2006/relationships/tags" Target="../tags/tag32.xml"/></Relationships>

</file>

<file path=ppt/slides/_rels/slide46.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9.png" Type="http://schemas.openxmlformats.org/officeDocument/2006/relationships/image"/><Relationship Id="rId3" Type="http://schemas.openxmlformats.org/officeDocument/2006/relationships/tags" Target="../tags/tag33.xml"/></Relationships>

</file>

<file path=ppt/slides/_rels/slide47.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png" Type="http://schemas.openxmlformats.org/officeDocument/2006/relationships/image"/><Relationship Id="rId3" Type="http://schemas.openxmlformats.org/officeDocument/2006/relationships/tags" Target="../tags/tag34.xml"/></Relationships>

</file>

<file path=ppt/slides/_rels/slide48.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png" Type="http://schemas.openxmlformats.org/officeDocument/2006/relationships/image"/><Relationship Id="rId3" Type="http://schemas.openxmlformats.org/officeDocument/2006/relationships/tags" Target="../tags/tag35.xml"/></Relationships>

</file>

<file path=ppt/slides/_rels/slide49.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ype="http://schemas.openxmlformats.org/officeDocument/2006/relationships/tags" Target="../tags/tag36.xml"/></Relationships>

</file>

<file path=ppt/slides/_rels/slide50.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png" Type="http://schemas.openxmlformats.org/officeDocument/2006/relationships/image"/><Relationship Id="rId3" Type="http://schemas.openxmlformats.org/officeDocument/2006/relationships/tags" Target="../tags/tag37.xml"/></Relationships>

</file>

<file path=ppt/slides/_rels/slide51.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png" Type="http://schemas.openxmlformats.org/officeDocument/2006/relationships/image"/><Relationship Id="rId3" Type="http://schemas.openxmlformats.org/officeDocument/2006/relationships/tags" Target="../tags/tag38.xml"/></Relationships>

</file>

<file path=ppt/slides/_rels/slide52.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png" Type="http://schemas.openxmlformats.org/officeDocument/2006/relationships/image"/><Relationship Id="rId3" Type="http://schemas.openxmlformats.org/officeDocument/2006/relationships/tags" Target="../tags/tag39.xml"/></Relationships>

</file>

<file path=ppt/slides/_rels/slide53.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png" Type="http://schemas.openxmlformats.org/officeDocument/2006/relationships/image"/><Relationship Id="rId3" Type="http://schemas.openxmlformats.org/officeDocument/2006/relationships/tags" Target="../tags/tag40.xml"/></Relationships>

</file>

<file path=ppt/slides/_rels/slide54.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png" Type="http://schemas.openxmlformats.org/officeDocument/2006/relationships/image"/><Relationship Id="rId3" Type="http://schemas.openxmlformats.org/officeDocument/2006/relationships/tags" Target="../tags/tag41.xml"/></Relationships>

</file>

<file path=ppt/slides/_rels/slide55.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png" Type="http://schemas.openxmlformats.org/officeDocument/2006/relationships/image"/><Relationship Id="rId3" Type="http://schemas.openxmlformats.org/officeDocument/2006/relationships/tags" Target="../tags/tag42.xml"/></Relationships>

</file>

<file path=ppt/slides/_rels/slide56.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png" Type="http://schemas.openxmlformats.org/officeDocument/2006/relationships/image"/><Relationship Id="rId3" Type="http://schemas.openxmlformats.org/officeDocument/2006/relationships/tags" Target="../tags/tag43.xml"/></Relationships>

</file>

<file path=ppt/slides/_rels/slide57.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2.png" Type="http://schemas.openxmlformats.org/officeDocument/2006/relationships/image"/><Relationship Id="rId3" Type="http://schemas.openxmlformats.org/officeDocument/2006/relationships/tags" Target="../tags/tag44.xml"/></Relationships>

</file>

<file path=ppt/slides/_rels/slide58.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2.png" Type="http://schemas.openxmlformats.org/officeDocument/2006/relationships/image"/><Relationship Id="rId3" Type="http://schemas.openxmlformats.org/officeDocument/2006/relationships/tags" Target="../tags/tag45.xml"/></Relationships>

</file>

<file path=ppt/slides/_rels/slide59.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2.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ype="http://schemas.openxmlformats.org/officeDocument/2006/relationships/tags" Target="../tags/tag46.xml"/></Relationships>

</file>

<file path=ppt/slides/_rels/slide60.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2.png" Type="http://schemas.openxmlformats.org/officeDocument/2006/relationships/image"/><Relationship Id="rId3" Type="http://schemas.openxmlformats.org/officeDocument/2006/relationships/tags" Target="../tags/tag47.xml"/></Relationships>

</file>

<file path=ppt/slides/_rels/slide61.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2.png" Type="http://schemas.openxmlformats.org/officeDocument/2006/relationships/image"/><Relationship Id="rId3" Type="http://schemas.openxmlformats.org/officeDocument/2006/relationships/tags" Target="../tags/tag48.xml"/></Relationships>

</file>

<file path=ppt/slides/_rels/slide62.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2.png" Type="http://schemas.openxmlformats.org/officeDocument/2006/relationships/image"/><Relationship Id="rId3" Type="http://schemas.openxmlformats.org/officeDocument/2006/relationships/tags" Target="../tags/tag49.xml"/></Relationships>

</file>

<file path=ppt/slides/_rels/slide63.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2.png" Type="http://schemas.openxmlformats.org/officeDocument/2006/relationships/image"/><Relationship Id="rId3" Type="http://schemas.openxmlformats.org/officeDocument/2006/relationships/tags" Target="../tags/tag50.xml"/></Relationships>

</file>

<file path=ppt/slides/_rels/slide64.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2.png" Type="http://schemas.openxmlformats.org/officeDocument/2006/relationships/image"/><Relationship Id="rId3" Type="http://schemas.openxmlformats.org/officeDocument/2006/relationships/tags" Target="../tags/tag51.xml"/></Relationships>

</file>

<file path=ppt/slides/_rels/slide65.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2.png" Type="http://schemas.openxmlformats.org/officeDocument/2006/relationships/image"/><Relationship Id="rId3" Type="http://schemas.openxmlformats.org/officeDocument/2006/relationships/tags" Target="../tags/tag52.xml"/></Relationships>

</file>

<file path=ppt/slides/_rels/slide66.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2.png" Type="http://schemas.openxmlformats.org/officeDocument/2006/relationships/image"/><Relationship Id="rId3" Type="http://schemas.openxmlformats.org/officeDocument/2006/relationships/tags" Target="../tags/tag53.xml"/></Relationships>

</file>

<file path=ppt/slides/_rels/slide67.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3.png" Type="http://schemas.openxmlformats.org/officeDocument/2006/relationships/image"/><Relationship Id="rId3" Type="http://schemas.openxmlformats.org/officeDocument/2006/relationships/tags" Target="../tags/tag54.xml"/></Relationships>

</file>

<file path=ppt/slides/_rels/slide68.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3.png" Type="http://schemas.openxmlformats.org/officeDocument/2006/relationships/image"/><Relationship Id="rId3" Type="http://schemas.openxmlformats.org/officeDocument/2006/relationships/tags" Target="../tags/tag55.xml"/></Relationships>

</file>

<file path=ppt/slides/_rels/slide69.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3.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ype="http://schemas.openxmlformats.org/officeDocument/2006/relationships/tags" Target="../tags/tag56.xml"/></Relationships>

</file>

<file path=ppt/slides/_rels/slide70.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3.png" Type="http://schemas.openxmlformats.org/officeDocument/2006/relationships/image"/><Relationship Id="rId3" Type="http://schemas.openxmlformats.org/officeDocument/2006/relationships/tags" Target="../tags/tag57.xml"/></Relationships>

</file>

<file path=ppt/slides/_rels/slide71.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3.png" Type="http://schemas.openxmlformats.org/officeDocument/2006/relationships/image"/><Relationship Id="rId3" Type="http://schemas.openxmlformats.org/officeDocument/2006/relationships/tags" Target="../tags/tag58.xml"/></Relationships>

</file>

<file path=ppt/slides/_rels/slide72.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3.png" Type="http://schemas.openxmlformats.org/officeDocument/2006/relationships/image"/><Relationship Id="rId3" Type="http://schemas.openxmlformats.org/officeDocument/2006/relationships/tags" Target="../tags/tag59.xml"/></Relationships>

</file>

<file path=ppt/slides/_rels/slide73.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3.png" Type="http://schemas.openxmlformats.org/officeDocument/2006/relationships/image"/><Relationship Id="rId3" Type="http://schemas.openxmlformats.org/officeDocument/2006/relationships/tags" Target="../tags/tag60.xml"/></Relationships>

</file>

<file path=ppt/slides/_rels/slide74.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3.png" Type="http://schemas.openxmlformats.org/officeDocument/2006/relationships/image"/><Relationship Id="rId3" Type="http://schemas.openxmlformats.org/officeDocument/2006/relationships/tags" Target="../tags/tag61.xml"/></Relationships>

</file>

<file path=ppt/slides/_rels/slide75.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3.png" Type="http://schemas.openxmlformats.org/officeDocument/2006/relationships/image"/><Relationship Id="rId3" Type="http://schemas.openxmlformats.org/officeDocument/2006/relationships/tags" Target="../tags/tag62.xml"/></Relationships>

</file>

<file path=ppt/slides/_rels/slide76.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3.png" Type="http://schemas.openxmlformats.org/officeDocument/2006/relationships/image"/><Relationship Id="rId3" Type="http://schemas.openxmlformats.org/officeDocument/2006/relationships/tags" Target="../tags/tag63.xml"/></Relationships>

</file>

<file path=ppt/slides/_rels/slide77.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4.png" Type="http://schemas.openxmlformats.org/officeDocument/2006/relationships/image"/><Relationship Id="rId3" Type="http://schemas.openxmlformats.org/officeDocument/2006/relationships/tags" Target="../tags/tag64.xml"/></Relationships>

</file>

<file path=ppt/slides/_rels/slide78.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4.png" Type="http://schemas.openxmlformats.org/officeDocument/2006/relationships/image"/><Relationship Id="rId3" Type="http://schemas.openxmlformats.org/officeDocument/2006/relationships/tags" Target="../tags/tag65.xml"/></Relationships>

</file>

<file path=ppt/slides/_rels/slide79.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4.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ype="http://schemas.openxmlformats.org/officeDocument/2006/relationships/tags" Target="../tags/tag66.xml"/></Relationships>

</file>

<file path=ppt/slides/_rels/slide80.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4.png" Type="http://schemas.openxmlformats.org/officeDocument/2006/relationships/image"/><Relationship Id="rId3" Type="http://schemas.openxmlformats.org/officeDocument/2006/relationships/tags" Target="../tags/tag67.xml"/></Relationships>

</file>

<file path=ppt/slides/_rels/slide81.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4.png" Type="http://schemas.openxmlformats.org/officeDocument/2006/relationships/image"/><Relationship Id="rId3" Type="http://schemas.openxmlformats.org/officeDocument/2006/relationships/tags" Target="../tags/tag68.xml"/></Relationships>

</file>

<file path=ppt/slides/_rels/slide82.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4.png" Type="http://schemas.openxmlformats.org/officeDocument/2006/relationships/image"/><Relationship Id="rId3" Type="http://schemas.openxmlformats.org/officeDocument/2006/relationships/tags" Target="../tags/tag69.xml"/></Relationships>

</file>

<file path=ppt/slides/_rels/slide83.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4.png" Type="http://schemas.openxmlformats.org/officeDocument/2006/relationships/image"/><Relationship Id="rId3" Type="http://schemas.openxmlformats.org/officeDocument/2006/relationships/tags" Target="../tags/tag70.xml"/></Relationships>

</file>

<file path=ppt/slides/_rels/slide84.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4.png" Type="http://schemas.openxmlformats.org/officeDocument/2006/relationships/image"/><Relationship Id="rId3" Type="http://schemas.openxmlformats.org/officeDocument/2006/relationships/tags" Target="../tags/tag71.xml"/></Relationships>

</file>

<file path=ppt/slides/_rels/slide85.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4.png" Type="http://schemas.openxmlformats.org/officeDocument/2006/relationships/image"/><Relationship Id="rId3" Type="http://schemas.openxmlformats.org/officeDocument/2006/relationships/tags" Target="../tags/tag72.xml"/></Relationships>

</file>

<file path=ppt/slides/_rels/slide86.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4.png" Type="http://schemas.openxmlformats.org/officeDocument/2006/relationships/image"/><Relationship Id="rId3" Type="http://schemas.openxmlformats.org/officeDocument/2006/relationships/tags" Target="../tags/tag73.xml"/></Relationships>

</file>

<file path=ppt/slides/_rels/slide87.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5.png" Type="http://schemas.openxmlformats.org/officeDocument/2006/relationships/image"/><Relationship Id="rId3" Type="http://schemas.openxmlformats.org/officeDocument/2006/relationships/tags" Target="../tags/tag74.xml"/></Relationships>

</file>

<file path=ppt/slides/_rels/slide88.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5.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ype="http://schemas.openxmlformats.org/officeDocument/2006/relationships/tags" Target="../tags/tag75.xml"/></Relationships>

</file>

<file path=ppt/slides/_rels/slide89.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5.png" Type="http://schemas.openxmlformats.org/officeDocument/2006/relationships/image"/><Relationship Id="rId3" Type="http://schemas.openxmlformats.org/officeDocument/2006/relationships/tags" Target="../tags/tag76.xml"/></Relationships>

</file>

<file path=ppt/slides/_rels/slide90.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5.png" Type="http://schemas.openxmlformats.org/officeDocument/2006/relationships/image"/><Relationship Id="rId3" Type="http://schemas.openxmlformats.org/officeDocument/2006/relationships/tags" Target="../tags/tag77.xml"/></Relationships>

</file>

<file path=ppt/slides/_rels/slide91.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5.png" Type="http://schemas.openxmlformats.org/officeDocument/2006/relationships/image"/><Relationship Id="rId3" Type="http://schemas.openxmlformats.org/officeDocument/2006/relationships/tags" Target="../tags/tag78.xml"/></Relationships>

</file>

<file path=ppt/slides/_rels/slide92.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5.png" Type="http://schemas.openxmlformats.org/officeDocument/2006/relationships/image"/><Relationship Id="rId3" Type="http://schemas.openxmlformats.org/officeDocument/2006/relationships/tags" Target="../tags/tag79.xml"/></Relationships>

</file>

<file path=ppt/slides/_rels/slide93.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5.png" Type="http://schemas.openxmlformats.org/officeDocument/2006/relationships/image"/><Relationship Id="rId3" Type="http://schemas.openxmlformats.org/officeDocument/2006/relationships/tags" Target="../tags/tag80.xml"/></Relationships>

</file>

<file path=ppt/slides/_rels/slide94.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5.png" Type="http://schemas.openxmlformats.org/officeDocument/2006/relationships/image"/><Relationship Id="rId3" Type="http://schemas.openxmlformats.org/officeDocument/2006/relationships/tags" Target="../tags/tag81.xml"/></Relationships>

</file>

<file path=ppt/slides/_rels/slide95.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5.png" Type="http://schemas.openxmlformats.org/officeDocument/2006/relationships/image"/><Relationship Id="rId3" Type="http://schemas.openxmlformats.org/officeDocument/2006/relationships/tags" Target="../tags/tag82.xml"/></Relationships>

</file>

<file path=ppt/slides/_rels/slide96.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6.png" Type="http://schemas.openxmlformats.org/officeDocument/2006/relationships/image"/><Relationship Id="rId3" Type="http://schemas.openxmlformats.org/officeDocument/2006/relationships/tags" Target="../tags/tag83.xml"/></Relationships>

</file>

<file path=ppt/slides/_rels/slide97.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6.png" Type="http://schemas.openxmlformats.org/officeDocument/2006/relationships/image"/><Relationship Id="rId3" Type="http://schemas.openxmlformats.org/officeDocument/2006/relationships/tags" Target="../tags/tag84.xml"/></Relationships>

</file>

<file path=ppt/slides/_rels/slide98.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6.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ype="http://schemas.openxmlformats.org/officeDocument/2006/relationships/tags" Target="../tags/tag85.xml"/></Relationships>

</file>

<file path=ppt/slides/_rels/slide99.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6.png" Type="http://schemas.openxmlformats.org/officeDocument/2006/relationships/image"/><Relationship Id="rId3" Type="http://schemas.openxmlformats.org/officeDocument/2006/relationships/tags" Target="../tags/tag86.xml"/></Relationships>

</file>

<file path=ppt/slides/_rels/slide100.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6.png" Type="http://schemas.openxmlformats.org/officeDocument/2006/relationships/image"/><Relationship Id="rId3" Type="http://schemas.openxmlformats.org/officeDocument/2006/relationships/tags" Target="../tags/tag87.xml"/></Relationships>

</file>

<file path=ppt/slides/_rels/slide101.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6.png" Type="http://schemas.openxmlformats.org/officeDocument/2006/relationships/image"/><Relationship Id="rId3" Type="http://schemas.openxmlformats.org/officeDocument/2006/relationships/tags" Target="../tags/tag88.xml"/></Relationships>

</file>

<file path=ppt/slides/_rels/slide102.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6.png" Type="http://schemas.openxmlformats.org/officeDocument/2006/relationships/image"/><Relationship Id="rId3" Type="http://schemas.openxmlformats.org/officeDocument/2006/relationships/tags" Target="../tags/tag89.xml"/></Relationships>

</file>

<file path=ppt/slides/_rels/slide103.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6.png" Type="http://schemas.openxmlformats.org/officeDocument/2006/relationships/image"/><Relationship Id="rId3" Type="http://schemas.openxmlformats.org/officeDocument/2006/relationships/tags" Target="../tags/tag90.xml"/></Relationships>

</file>

<file path=ppt/slides/_rels/slide104.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6.png" Type="http://schemas.openxmlformats.org/officeDocument/2006/relationships/image"/><Relationship Id="rId3" Type="http://schemas.openxmlformats.org/officeDocument/2006/relationships/tags" Target="../tags/tag91.xml"/></Relationships>

</file>

<file path=ppt/slides/_rels/slide105.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6.png" Type="http://schemas.openxmlformats.org/officeDocument/2006/relationships/image"/><Relationship Id="rId3" Type="http://schemas.openxmlformats.org/officeDocument/2006/relationships/tags" Target="../tags/tag92.xml"/></Relationships>

</file>

<file path=ppt/slides/_rels/slide106.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7.png" Type="http://schemas.openxmlformats.org/officeDocument/2006/relationships/image"/><Relationship Id="rId3" Type="http://schemas.openxmlformats.org/officeDocument/2006/relationships/tags" Target="../tags/tag93.xml"/></Relationships>

</file>

<file path=ppt/slides/_rels/slide107.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7.png" Type="http://schemas.openxmlformats.org/officeDocument/2006/relationships/image"/><Relationship Id="rId3" Type="http://schemas.openxmlformats.org/officeDocument/2006/relationships/tags" Target="../tags/tag94.xml"/></Relationships>

</file>

<file path=ppt/slides/_rels/slide108.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7.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ype="http://schemas.openxmlformats.org/officeDocument/2006/relationships/tags" Target="../tags/tag95.xml"/></Relationships>

</file>

<file path=ppt/slides/_rels/slide109.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7.png" Type="http://schemas.openxmlformats.org/officeDocument/2006/relationships/image"/><Relationship Id="rId3" Type="http://schemas.openxmlformats.org/officeDocument/2006/relationships/tags" Target="../tags/tag96.xml"/></Relationships>

</file>

<file path=ppt/slides/_rels/slide110.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7.png" Type="http://schemas.openxmlformats.org/officeDocument/2006/relationships/image"/><Relationship Id="rId3" Type="http://schemas.openxmlformats.org/officeDocument/2006/relationships/tags" Target="../tags/tag97.xml"/></Relationships>

</file>

<file path=ppt/slides/_rels/slide111.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7.png" Type="http://schemas.openxmlformats.org/officeDocument/2006/relationships/image"/><Relationship Id="rId3" Type="http://schemas.openxmlformats.org/officeDocument/2006/relationships/tags" Target="../tags/tag98.xml"/></Relationships>

</file>

<file path=ppt/slides/_rels/slide112.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7.png" Type="http://schemas.openxmlformats.org/officeDocument/2006/relationships/image"/><Relationship Id="rId3" Type="http://schemas.openxmlformats.org/officeDocument/2006/relationships/tags" Target="../tags/tag99.xml"/></Relationships>

</file>

<file path=ppt/slides/_rels/slide113.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7.png" Type="http://schemas.openxmlformats.org/officeDocument/2006/relationships/image"/><Relationship Id="rId3" Type="http://schemas.openxmlformats.org/officeDocument/2006/relationships/tags" Target="../tags/tag100.xml"/></Relationships>

</file>

<file path=ppt/slides/_rels/slide114.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7.png" Type="http://schemas.openxmlformats.org/officeDocument/2006/relationships/image"/><Relationship Id="rId3" Type="http://schemas.openxmlformats.org/officeDocument/2006/relationships/tags" Target="../tags/tag101.xml"/></Relationships>

</file>

<file path=ppt/slides/_rels/slide115.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7.png" Type="http://schemas.openxmlformats.org/officeDocument/2006/relationships/image"/><Relationship Id="rId3" Type="http://schemas.openxmlformats.org/officeDocument/2006/relationships/tags" Target="../tags/tag102.xml"/></Relationships>

</file>

<file path=ppt/slides/_rels/slide116.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5.png" Type="http://schemas.openxmlformats.org/officeDocument/2006/relationships/image"/><Relationship Id="rId3" Type="http://schemas.openxmlformats.org/officeDocument/2006/relationships/tags" Target="../tags/tag103.xml"/></Relationships>

</file>

<file path=ppt/slides/_rels/slide117.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5.png" Type="http://schemas.openxmlformats.org/officeDocument/2006/relationships/image"/><Relationship Id="rId3" Type="http://schemas.openxmlformats.org/officeDocument/2006/relationships/tags" Target="../tags/tag104.xml"/></Relationships>

</file>

<file path=ppt/slides/_rels/slide118.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5.png" Type="http://schemas.openxmlformats.org/officeDocument/2006/relationships/image"/><Relationship Id="rId3" Target="../media/image14.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ype="http://schemas.openxmlformats.org/officeDocument/2006/relationships/tags" Target="../tags/tag105.xml"/></Relationships>

</file>

<file path=ppt/slides/_rels/slide119.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6.png" Type="http://schemas.openxmlformats.org/officeDocument/2006/relationships/image"/><Relationship Id="rId3" Type="http://schemas.openxmlformats.org/officeDocument/2006/relationships/tags" Target="../tags/tag106.xml"/></Relationships>

</file>

<file path=ppt/slides/_rels/slide120.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6.png" Type="http://schemas.openxmlformats.org/officeDocument/2006/relationships/image"/><Relationship Id="rId3" Type="http://schemas.openxmlformats.org/officeDocument/2006/relationships/tags" Target="../tags/tag107.xml"/></Relationships>

</file>

<file path=ppt/slides/_rels/slide121.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ype="http://schemas.openxmlformats.org/officeDocument/2006/relationships/tags" Target="../tags/tag108.xml"/></Relationships>

</file>

<file path=ppt/slides/_rels/slide122.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6.png" Type="http://schemas.openxmlformats.org/officeDocument/2006/relationships/image"/><Relationship Id="rId3" Type="http://schemas.openxmlformats.org/officeDocument/2006/relationships/tags" Target="../tags/tag109.xml"/></Relationships>

</file>

<file path=ppt/slides/_rels/slide123.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6.png" Type="http://schemas.openxmlformats.org/officeDocument/2006/relationships/image"/><Relationship Id="rId3" Type="http://schemas.openxmlformats.org/officeDocument/2006/relationships/tags" Target="../tags/tag110.xml"/></Relationships>

</file>

<file path=ppt/slides/_rels/slide124.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8.png" Type="http://schemas.openxmlformats.org/officeDocument/2006/relationships/image"/><Relationship Id="rId3" Type="http://schemas.openxmlformats.org/officeDocument/2006/relationships/tags" Target="../tags/tag111.xml"/></Relationships>

</file>

<file path=ppt/slides/_rels/slide125.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8.png" Type="http://schemas.openxmlformats.org/officeDocument/2006/relationships/image"/><Relationship Id="rId3" Type="http://schemas.openxmlformats.org/officeDocument/2006/relationships/tags" Target="../tags/tag112.xml"/></Relationships>

</file>

<file path=ppt/slides/_rels/slide126.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127.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9.png" Type="http://schemas.openxmlformats.org/officeDocument/2006/relationships/image"/><Relationship Id="rId3" Type="http://schemas.openxmlformats.org/officeDocument/2006/relationships/tags" Target="../tags/tag113.xml"/></Relationships>

</file>

<file path=ppt/slides/_rels/slide128.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19.png" Type="http://schemas.openxmlformats.org/officeDocument/2006/relationships/image"/><Relationship Id="rId3" Type="http://schemas.openxmlformats.org/officeDocument/2006/relationships/tags" Target="../tags/tag114.xml"/></Relationships>

</file>

<file path=ppt/slides/_rels/slide129.xml.rels><?xml version="1.0" encoding="UTF-8" standalone="no"?><Relationships xmlns="http://schemas.openxmlformats.org/package/2006/relationships"><Relationship Id="rId1" Target="../slideLayouts/slideLayout3.xml" Type="http://schemas.openxmlformats.org/officeDocument/2006/relationships/slideLayout"/></Relationships>
</file>

<file path=ppt/slides/_rels/slide130.xml.rels><?xml version="1.0" encoding="UTF-8" standalone="no"?><Relationships xmlns="http://schemas.openxmlformats.org/package/2006/relationships"><Relationship Id="rId1" Target="../slideLayouts/slideLayout3.xml" Type="http://schemas.openxmlformats.org/officeDocument/2006/relationships/slideLayout"/></Relationships>
</file>

<file path=ppt/slides/_rels/slide131.xml.rels><?xml version="1.0" encoding="UTF-8" standalone="no"?><Relationships xmlns="http://schemas.openxmlformats.org/package/2006/relationships"><Relationship Id="rId1" Target="../slideLayouts/slideLayout4.xml" Type="http://schemas.openxmlformats.org/officeDocument/2006/relationships/slideLayout"/><Relationship Id="rId2" Target="../media/image20.png" Type="http://schemas.openxmlformats.org/officeDocument/2006/relationships/image"/><Relationship Id="rId3" Type="http://schemas.openxmlformats.org/officeDocument/2006/relationships/tags" Target="../tags/tag115.xml"/></Relationships>

</file>

<file path=ppt/slides/_rels/slide132.xml.rels><?xml version="1.0" encoding="UTF-8" standalone="no"?><Relationships xmlns="http://schemas.openxmlformats.org/package/2006/relationships"><Relationship Id="rId1" Target="../slideLayouts/slideLayout3.xml" Type="http://schemas.openxmlformats.org/officeDocument/2006/relationships/slideLayout"/></Relationships>
</file>

<file path=ppt/slides/_rels/slide133.xml.rels><?xml version="1.0" encoding="UTF-8" standalone="no"?><Relationships xmlns="http://schemas.openxmlformats.org/package/2006/relationships"><Relationship Id="rId1" Target="../slideLayouts/slideLayout2.xml" Type="http://schemas.openxmlformats.org/officeDocument/2006/relationships/slideLayout"/><Relationship Id="rId2" Target="../media/image21.png" Type="http://schemas.openxmlformats.org/officeDocument/2006/relationships/image"/><Relationship Id="rId3" Type="http://schemas.openxmlformats.org/officeDocument/2006/relationships/tags" Target="../tags/tag116.xml"/></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460022D2-9A77-4266-A194-249938CCFE8D}"/>
              </a:ext>
            </a:extLst>
          </p:cNvPr>
          <p:cNvSpPr>
            <a:spLocks noGrp="1"/>
          </p:cNvSpPr>
          <p:nvPr>
            <p:ph type="ctrTitle"/>
          </p:nvPr>
        </p:nvSpPr>
        <p:spPr>
          <a:xfrm>
            <a:off x="1524000" y="1122363"/>
            <a:ext cx="9144000" cy="2387600"/>
          </a:xfrm>
        </p:spPr>
        <p:txBody>
          <a:bodyPr anchor="b"/>
          <a:lstStyle>
            <a:lvl1pPr algn="ctr">
              <a:defRPr sz="6000"/>
            </a:lvl1pPr>
          </a:lstStyle>
          <a:p>
            <a:r>
              <a:rPr lang="en-US"/>
              <a:t>C5g7 comsol valid</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BB0ABC90-8170-4D79-89A9-C888F72D4A3A}"/>
              </a:ext>
            </a:extLst>
          </p:cNvPr>
          <p:cNvSpPr>
            <a:spLocks noGrp="1"/>
          </p:cNvSpPr>
          <p:nvPr>
            <p:ph type="title"/>
          </p:nvPr>
        </p:nvSpPr>
        <p:spPr>
          <a:xfrm>
            <a:off x="831850" y="1709738"/>
            <a:ext cx="10515600" cy="2852737"/>
          </a:xfrm>
        </p:spPr>
        <p:txBody>
          <a:bodyPr anchor="b"/>
          <a:lstStyle>
            <a:lvl1pPr>
              <a:defRPr sz="6000"/>
            </a:lvl1pPr>
          </a:lstStyle>
          <a:p>
            <a:r>
              <a:rPr lang="en-US"/>
              <a:t>Global Definitions</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72D11ECB-5946-45BA-9D00-67CC6F9343A2}"/>
              </a:ext>
            </a:extLst>
          </p:cNvPr>
          <p:cNvSpPr>
            <a:spLocks noGrp="1"/>
          </p:cNvSpPr>
          <p:nvPr>
            <p:ph type="title"/>
          </p:nvPr>
        </p:nvSpPr>
        <p:spPr/>
        <p:txBody>
          <a:bodyPr/>
          <a:lstStyle/>
          <a:p>
            <a:r>
              <a:rPr lang="en-US"/>
              <a:t>Parameters</a:t>
            </a:r>
            <a:endParaRPr lang="en-US"/>
          </a:p>
        </p:txBody>
      </p:sp>
      <p:graphicFrame>
        <p:nvGraphicFramePr>
          <p:cNvPr name="Table 5" id="5"/>
          <p:cNvGraphicFramePr>
            <a:graphicFrameLocks noGrp="true"/>
          </p:cNvGraphicFramePr>
          <p:nvPr/>
        </p:nvGraphicFramePr>
        <p:xfrm>
          <a:off x="838200" y="1825625"/>
          <a:ext cx="10617199" cy="3761637"/>
        </p:xfrm>
        <a:graphic>
          <a:graphicData uri="http://schemas.openxmlformats.org/drawingml/2006/table">
            <a:tbl>
              <a:tblPr/>
              <a:tblGrid>
                <a:gridCol w="2591344"/>
                <a:gridCol w="2642226"/>
                <a:gridCol w="2639803"/>
                <a:gridCol w="2642226"/>
              </a:tblGrid>
              <a:tr h="254000">
                <a:tc gridSpan="4">
                  <a:txBody>
                    <a:bodyPr anchor="t" rtlCol="false"/>
                    <a:lstStyle/>
                    <a:p>
                      <a:pPr algn="l">
                        <a:defRPr/>
                      </a:pPr>
                      <a:r>
                        <a:rPr lang="en-US" sz="2240" b="false" i="true" u="none">
                          <a:latin typeface="Calibri"/>
                        </a:rPr>
                        <a:t>Parameters 1</a:t>
                      </a:r>
                      <a:endParaRPr lang="en-US" sz="1100"/>
                    </a:p>
                  </a:txBody>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lang="en-US" sz="2240" b="true" i="false" u="none">
                          <a:latin typeface="Calibri"/>
                        </a:rPr>
                        <a:t>Name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Expression</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Value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Description</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Chi_g1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5.87910000E-01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0.58791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Chi_g2</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4.11760000E-01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0.41176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Chi_g3</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3.39060000E-04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3.3906E−4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Chi_g4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1.17610000E-07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1.1761E−7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Chi_g5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Chi_g6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bl>
          </a:graphicData>
        </a:graphic>
      </p:graphicFrame>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72D11ECB-5946-45BA-9D00-67CC6F9343A2}"/>
              </a:ext>
            </a:extLst>
          </p:cNvPr>
          <p:cNvSpPr>
            <a:spLocks noGrp="1"/>
          </p:cNvSpPr>
          <p:nvPr>
            <p:ph type="title"/>
          </p:nvPr>
        </p:nvSpPr>
        <p:spPr/>
        <p:txBody>
          <a:bodyPr/>
          <a:lstStyle/>
          <a:p>
            <a:r>
              <a:rPr lang="en-US"/>
              <a:t>Parameters (continued)</a:t>
            </a:r>
            <a:endParaRPr lang="en-US"/>
          </a:p>
        </p:txBody>
      </p:sp>
      <p:graphicFrame>
        <p:nvGraphicFramePr>
          <p:cNvPr name="Table 5" id="5"/>
          <p:cNvGraphicFramePr>
            <a:graphicFrameLocks noGrp="true"/>
          </p:cNvGraphicFramePr>
          <p:nvPr/>
        </p:nvGraphicFramePr>
        <p:xfrm>
          <a:off x="838200" y="1825625"/>
          <a:ext cx="10617199" cy="3761637"/>
        </p:xfrm>
        <a:graphic>
          <a:graphicData uri="http://schemas.openxmlformats.org/drawingml/2006/table">
            <a:tbl>
              <a:tblPr/>
              <a:tblGrid>
                <a:gridCol w="2591344"/>
                <a:gridCol w="2642226"/>
                <a:gridCol w="2639803"/>
                <a:gridCol w="2642226"/>
              </a:tblGrid>
              <a:tr h="254000">
                <a:tc gridSpan="4">
                  <a:txBody>
                    <a:bodyPr anchor="t" rtlCol="false"/>
                    <a:lstStyle/>
                    <a:p>
                      <a:pPr algn="l">
                        <a:defRPr/>
                      </a:pPr>
                      <a:r>
                        <a:rPr lang="en-US" sz="2240" b="false" i="true" u="none">
                          <a:latin typeface="Calibri"/>
                        </a:rPr>
                        <a:t>Parameters 1</a:t>
                      </a:r>
                      <a:endParaRPr lang="en-US" sz="1100"/>
                    </a:p>
                  </a:txBody>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lang="en-US" sz="2240" b="true" i="false" u="none">
                          <a:latin typeface="Calibri"/>
                        </a:rPr>
                        <a:t>Name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Expression</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Value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Description</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Chi_g7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D_Mod_g1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2.09372344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2.0937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D_Mod_g2</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0.80716113</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0.80716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D_Mod_g3</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0.56467506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0.56468</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D_Mod_g4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0.57043439</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0.57043</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D_Mod_g5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0.46425255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0.46425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bl>
          </a:graphicData>
        </a:graphic>
      </p:graphicFrame>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72D11ECB-5946-45BA-9D00-67CC6F9343A2}"/>
              </a:ext>
            </a:extLst>
          </p:cNvPr>
          <p:cNvSpPr>
            <a:spLocks noGrp="1"/>
          </p:cNvSpPr>
          <p:nvPr>
            <p:ph type="title"/>
          </p:nvPr>
        </p:nvSpPr>
        <p:spPr/>
        <p:txBody>
          <a:bodyPr/>
          <a:lstStyle/>
          <a:p>
            <a:r>
              <a:rPr lang="en-US"/>
              <a:t>Parameters (continued)</a:t>
            </a:r>
            <a:endParaRPr lang="en-US"/>
          </a:p>
        </p:txBody>
      </p:sp>
      <p:graphicFrame>
        <p:nvGraphicFramePr>
          <p:cNvPr name="Table 5" id="5"/>
          <p:cNvGraphicFramePr>
            <a:graphicFrameLocks noGrp="true"/>
          </p:cNvGraphicFramePr>
          <p:nvPr/>
        </p:nvGraphicFramePr>
        <p:xfrm>
          <a:off x="838200" y="1825625"/>
          <a:ext cx="10617199" cy="3761637"/>
        </p:xfrm>
        <a:graphic>
          <a:graphicData uri="http://schemas.openxmlformats.org/drawingml/2006/table">
            <a:tbl>
              <a:tblPr/>
              <a:tblGrid>
                <a:gridCol w="2591344"/>
                <a:gridCol w="2642226"/>
                <a:gridCol w="2639803"/>
                <a:gridCol w="2642226"/>
              </a:tblGrid>
              <a:tr h="254000">
                <a:tc gridSpan="4">
                  <a:txBody>
                    <a:bodyPr anchor="t" rtlCol="false"/>
                    <a:lstStyle/>
                    <a:p>
                      <a:pPr algn="l">
                        <a:defRPr/>
                      </a:pPr>
                      <a:r>
                        <a:rPr lang="en-US" sz="2240" b="false" i="true" u="none">
                          <a:latin typeface="Calibri"/>
                        </a:rPr>
                        <a:t>Parameters 1</a:t>
                      </a:r>
                      <a:endParaRPr lang="en-US" sz="1100"/>
                    </a:p>
                  </a:txBody>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lang="en-US" sz="2240" b="true" i="false" u="none">
                          <a:latin typeface="Calibri"/>
                        </a:rPr>
                        <a:t>Name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Expression</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Value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Description</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D_Mod_g6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0.26572070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0.26572</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D_Mod_g7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0.12576813</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0.12577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Srem_Mod_g1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1.14728300E-01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0.11473</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Srem_Mod_g2</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1.30636000E-01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0.13064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Srem_Mod_g3</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2.45054000E-01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0.24505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Srem_Mod_g4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4.93321600E-01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0.49332</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72D11ECB-5946-45BA-9D00-67CC6F9343A2}"/>
              </a:ext>
            </a:extLst>
          </p:cNvPr>
          <p:cNvSpPr>
            <a:spLocks noGrp="1"/>
          </p:cNvSpPr>
          <p:nvPr>
            <p:ph type="title"/>
          </p:nvPr>
        </p:nvSpPr>
        <p:spPr/>
        <p:txBody>
          <a:bodyPr/>
          <a:lstStyle/>
          <a:p>
            <a:r>
              <a:rPr lang="en-US"/>
              <a:t>Parameters (continued)</a:t>
            </a:r>
            <a:endParaRPr lang="en-US"/>
          </a:p>
        </p:txBody>
      </p:sp>
      <p:graphicFrame>
        <p:nvGraphicFramePr>
          <p:cNvPr name="Table 5" id="5"/>
          <p:cNvGraphicFramePr>
            <a:graphicFrameLocks noGrp="true"/>
          </p:cNvGraphicFramePr>
          <p:nvPr/>
        </p:nvGraphicFramePr>
        <p:xfrm>
          <a:off x="838200" y="1825625"/>
          <a:ext cx="10617199" cy="3761637"/>
        </p:xfrm>
        <a:graphic>
          <a:graphicData uri="http://schemas.openxmlformats.org/drawingml/2006/table">
            <a:tbl>
              <a:tblPr/>
              <a:tblGrid>
                <a:gridCol w="2591344"/>
                <a:gridCol w="2642226"/>
                <a:gridCol w="2639803"/>
                <a:gridCol w="2642226"/>
              </a:tblGrid>
              <a:tr h="254000">
                <a:tc gridSpan="4">
                  <a:txBody>
                    <a:bodyPr anchor="t" rtlCol="false"/>
                    <a:lstStyle/>
                    <a:p>
                      <a:pPr algn="l">
                        <a:defRPr/>
                      </a:pPr>
                      <a:r>
                        <a:rPr lang="en-US" sz="2240" b="false" i="true" u="none">
                          <a:latin typeface="Calibri"/>
                        </a:rPr>
                        <a:t>Parameters 1</a:t>
                      </a:r>
                      <a:endParaRPr lang="en-US" sz="1100"/>
                    </a:p>
                  </a:txBody>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lang="en-US" sz="2240" b="true" i="false" u="none">
                          <a:latin typeface="Calibri"/>
                        </a:rPr>
                        <a:t>Name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Expression</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Value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Description</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Srem_Mod_g5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5.78862000E-01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0.57886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Srem_Mod_g6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5.54537000E-01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0.55454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Srem_Mod_g7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1.69680000E-01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0.16968</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NuSigF_Mod_g1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NuSigF_Mod_g2</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NuSigF_Mod_g3</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72D11ECB-5946-45BA-9D00-67CC6F9343A2}"/>
              </a:ext>
            </a:extLst>
          </p:cNvPr>
          <p:cNvSpPr>
            <a:spLocks noGrp="1"/>
          </p:cNvSpPr>
          <p:nvPr>
            <p:ph type="title"/>
          </p:nvPr>
        </p:nvSpPr>
        <p:spPr/>
        <p:txBody>
          <a:bodyPr/>
          <a:lstStyle/>
          <a:p>
            <a:r>
              <a:rPr lang="en-US"/>
              <a:t>Parameters (continued)</a:t>
            </a:r>
            <a:endParaRPr lang="en-US"/>
          </a:p>
        </p:txBody>
      </p:sp>
      <p:graphicFrame>
        <p:nvGraphicFramePr>
          <p:cNvPr name="Table 5" id="5"/>
          <p:cNvGraphicFramePr>
            <a:graphicFrameLocks noGrp="true"/>
          </p:cNvGraphicFramePr>
          <p:nvPr/>
        </p:nvGraphicFramePr>
        <p:xfrm>
          <a:off x="838200" y="1825625"/>
          <a:ext cx="10617199" cy="3761637"/>
        </p:xfrm>
        <a:graphic>
          <a:graphicData uri="http://schemas.openxmlformats.org/drawingml/2006/table">
            <a:tbl>
              <a:tblPr/>
              <a:tblGrid>
                <a:gridCol w="2591344"/>
                <a:gridCol w="2642226"/>
                <a:gridCol w="2639803"/>
                <a:gridCol w="2642226"/>
              </a:tblGrid>
              <a:tr h="254000">
                <a:tc gridSpan="4">
                  <a:txBody>
                    <a:bodyPr anchor="t" rtlCol="false"/>
                    <a:lstStyle/>
                    <a:p>
                      <a:pPr algn="l">
                        <a:defRPr/>
                      </a:pPr>
                      <a:r>
                        <a:rPr lang="en-US" sz="2240" b="false" i="true" u="none">
                          <a:latin typeface="Calibri"/>
                        </a:rPr>
                        <a:t>Parameters 1</a:t>
                      </a:r>
                      <a:endParaRPr lang="en-US" sz="1100"/>
                    </a:p>
                  </a:txBody>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lang="en-US" sz="2240" b="true" i="false" u="none">
                          <a:latin typeface="Calibri"/>
                        </a:rPr>
                        <a:t>Name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Expression</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Value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Description</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NuSigF_Mod_g4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NuSigF_GT_g5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NuSigF_GT_g6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NuSigF_GT_g7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Ss_GT_g1_to_g2</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8.205011E-02</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0.08205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72D11ECB-5946-45BA-9D00-67CC6F9343A2}"/>
              </a:ext>
            </a:extLst>
          </p:cNvPr>
          <p:cNvSpPr>
            <a:spLocks noGrp="1"/>
          </p:cNvSpPr>
          <p:nvPr>
            <p:ph type="title"/>
          </p:nvPr>
        </p:nvSpPr>
        <p:spPr/>
        <p:txBody>
          <a:bodyPr/>
          <a:lstStyle/>
          <a:p>
            <a:r>
              <a:rPr lang="en-US"/>
              <a:t>Parameters (continued)</a:t>
            </a:r>
            <a:endParaRPr lang="en-US"/>
          </a:p>
        </p:txBody>
      </p:sp>
      <p:graphicFrame>
        <p:nvGraphicFramePr>
          <p:cNvPr name="Table 5" id="5"/>
          <p:cNvGraphicFramePr>
            <a:graphicFrameLocks noGrp="true"/>
          </p:cNvGraphicFramePr>
          <p:nvPr/>
        </p:nvGraphicFramePr>
        <p:xfrm>
          <a:off x="838200" y="1825625"/>
          <a:ext cx="10617199" cy="3761637"/>
        </p:xfrm>
        <a:graphic>
          <a:graphicData uri="http://schemas.openxmlformats.org/drawingml/2006/table">
            <a:tbl>
              <a:tblPr/>
              <a:tblGrid>
                <a:gridCol w="2591344"/>
                <a:gridCol w="2642226"/>
                <a:gridCol w="2639803"/>
                <a:gridCol w="2642226"/>
              </a:tblGrid>
              <a:tr h="254000">
                <a:tc gridSpan="4">
                  <a:txBody>
                    <a:bodyPr anchor="t" rtlCol="false"/>
                    <a:lstStyle/>
                    <a:p>
                      <a:pPr algn="l">
                        <a:defRPr/>
                      </a:pPr>
                      <a:r>
                        <a:rPr lang="en-US" sz="2240" b="false" i="true" u="none">
                          <a:latin typeface="Calibri"/>
                        </a:rPr>
                        <a:t>Parameters 1</a:t>
                      </a:r>
                      <a:endParaRPr lang="en-US" sz="1100"/>
                    </a:p>
                  </a:txBody>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lang="en-US" sz="2240" b="true" i="false" u="none">
                          <a:latin typeface="Calibri"/>
                        </a:rPr>
                        <a:t>Name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Expression</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Value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Description</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Ss_GT_g1_to_g3</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4.695030E-04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4.695E−4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Ss_GT_g2_to_g3</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8.521751E-02</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0.085218</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Ss_GT_g1_to_g4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2.429835E-06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2.4298E−6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Ss_GT_g2_to_g4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4.078803E-04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4.0788E−4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Ss_GT_g3_to_g4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1.483026E-01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0.1483</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Ss_GT_g5_to_g4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5.175806E-05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5.1758E−5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72D11ECB-5946-45BA-9D00-67CC6F9343A2}"/>
              </a:ext>
            </a:extLst>
          </p:cNvPr>
          <p:cNvSpPr>
            <a:spLocks noGrp="1"/>
          </p:cNvSpPr>
          <p:nvPr>
            <p:ph type="title"/>
          </p:nvPr>
        </p:nvSpPr>
        <p:spPr/>
        <p:txBody>
          <a:bodyPr/>
          <a:lstStyle/>
          <a:p>
            <a:r>
              <a:rPr lang="en-US"/>
              <a:t>Parameters (continued)</a:t>
            </a:r>
            <a:endParaRPr lang="en-US"/>
          </a:p>
        </p:txBody>
      </p:sp>
      <p:graphicFrame>
        <p:nvGraphicFramePr>
          <p:cNvPr name="Table 5" id="5"/>
          <p:cNvGraphicFramePr>
            <a:graphicFrameLocks noGrp="true"/>
          </p:cNvGraphicFramePr>
          <p:nvPr/>
        </p:nvGraphicFramePr>
        <p:xfrm>
          <a:off x="838200" y="1825625"/>
          <a:ext cx="10617199" cy="3761637"/>
        </p:xfrm>
        <a:graphic>
          <a:graphicData uri="http://schemas.openxmlformats.org/drawingml/2006/table">
            <a:tbl>
              <a:tblPr/>
              <a:tblGrid>
                <a:gridCol w="2591344"/>
                <a:gridCol w="2642226"/>
                <a:gridCol w="2639803"/>
                <a:gridCol w="2642226"/>
              </a:tblGrid>
              <a:tr h="254000">
                <a:tc gridSpan="4">
                  <a:txBody>
                    <a:bodyPr anchor="t" rtlCol="false"/>
                    <a:lstStyle/>
                    <a:p>
                      <a:pPr algn="l">
                        <a:defRPr/>
                      </a:pPr>
                      <a:r>
                        <a:rPr lang="en-US" sz="2240" b="false" i="true" u="none">
                          <a:latin typeface="Calibri"/>
                        </a:rPr>
                        <a:t>Parameters 1</a:t>
                      </a:r>
                      <a:endParaRPr lang="en-US" sz="1100"/>
                    </a:p>
                  </a:txBody>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lang="en-US" sz="2240" b="true" i="false" u="none">
                          <a:latin typeface="Calibri"/>
                        </a:rPr>
                        <a:t>Name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Expression</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Value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Description</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Ss_GT_g1_to_g5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3.440638E-08</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3.4406E−8</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Ss_GT_g2_to_g5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3.140497E-05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3.1405E−5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Ss_GT_g3_to_g5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1.119734E-02</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0.011197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Ss_GT_g4_to_g5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2.739248E-01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0.27392</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Ss_GT_g6_to_g5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1.466465E-03</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0.0014665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Ss_GT_g2_to_g6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4.874424E-06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4.8744E−6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72D11ECB-5946-45BA-9D00-67CC6F9343A2}"/>
              </a:ext>
            </a:extLst>
          </p:cNvPr>
          <p:cNvSpPr>
            <a:spLocks noGrp="1"/>
          </p:cNvSpPr>
          <p:nvPr>
            <p:ph type="title"/>
          </p:nvPr>
        </p:nvSpPr>
        <p:spPr/>
        <p:txBody>
          <a:bodyPr/>
          <a:lstStyle/>
          <a:p>
            <a:r>
              <a:rPr lang="en-US"/>
              <a:t>Parameters (continued)</a:t>
            </a:r>
            <a:endParaRPr lang="en-US"/>
          </a:p>
        </p:txBody>
      </p:sp>
      <p:graphicFrame>
        <p:nvGraphicFramePr>
          <p:cNvPr name="Table 5" id="5"/>
          <p:cNvGraphicFramePr>
            <a:graphicFrameLocks noGrp="true"/>
          </p:cNvGraphicFramePr>
          <p:nvPr/>
        </p:nvGraphicFramePr>
        <p:xfrm>
          <a:off x="838200" y="1825625"/>
          <a:ext cx="10617199" cy="3761637"/>
        </p:xfrm>
        <a:graphic>
          <a:graphicData uri="http://schemas.openxmlformats.org/drawingml/2006/table">
            <a:tbl>
              <a:tblPr/>
              <a:tblGrid>
                <a:gridCol w="2591344"/>
                <a:gridCol w="2642226"/>
                <a:gridCol w="2639803"/>
                <a:gridCol w="2642226"/>
              </a:tblGrid>
              <a:tr h="254000">
                <a:tc gridSpan="4">
                  <a:txBody>
                    <a:bodyPr anchor="t" rtlCol="false"/>
                    <a:lstStyle/>
                    <a:p>
                      <a:pPr algn="l">
                        <a:defRPr/>
                      </a:pPr>
                      <a:r>
                        <a:rPr lang="en-US" sz="2240" b="false" i="true" u="none">
                          <a:latin typeface="Calibri"/>
                        </a:rPr>
                        <a:t>Parameters 1</a:t>
                      </a:r>
                      <a:endParaRPr lang="en-US" sz="1100"/>
                    </a:p>
                  </a:txBody>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lang="en-US" sz="2240" b="true" i="false" u="none">
                          <a:latin typeface="Calibri"/>
                        </a:rPr>
                        <a:t>Name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Expression</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Value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Description</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Ss_GT_g3_to_g6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1.741829E-03</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0.0017418</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Ss_GT_g4_to_g6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4.189094E-02</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0.041891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Ss_GT_g5_to_g6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3.358094E-01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0.33581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Ss_GT_g7_to_g6</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8.474985E-02</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0.08475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Ss_GT_g2_to_g7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6.853773E-07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6.8538E−7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Ss_GT_g3_to_g7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3.316186E-04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3.3162E−4</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72D11ECB-5946-45BA-9D00-67CC6F9343A2}"/>
              </a:ext>
            </a:extLst>
          </p:cNvPr>
          <p:cNvSpPr>
            <a:spLocks noGrp="1"/>
          </p:cNvSpPr>
          <p:nvPr>
            <p:ph type="title"/>
          </p:nvPr>
        </p:nvSpPr>
        <p:spPr/>
        <p:txBody>
          <a:bodyPr/>
          <a:lstStyle/>
          <a:p>
            <a:r>
              <a:rPr lang="en-US"/>
              <a:t>Parameters (continued)</a:t>
            </a:r>
            <a:endParaRPr lang="en-US"/>
          </a:p>
        </p:txBody>
      </p:sp>
      <p:graphicFrame>
        <p:nvGraphicFramePr>
          <p:cNvPr name="Table 5" id="5"/>
          <p:cNvGraphicFramePr>
            <a:graphicFrameLocks noGrp="true"/>
          </p:cNvGraphicFramePr>
          <p:nvPr/>
        </p:nvGraphicFramePr>
        <p:xfrm>
          <a:off x="838200" y="1825625"/>
          <a:ext cx="10617199" cy="2020519"/>
        </p:xfrm>
        <a:graphic>
          <a:graphicData uri="http://schemas.openxmlformats.org/drawingml/2006/table">
            <a:tbl>
              <a:tblPr/>
              <a:tblGrid>
                <a:gridCol w="2591344"/>
                <a:gridCol w="2642226"/>
                <a:gridCol w="2639803"/>
                <a:gridCol w="2642226"/>
              </a:tblGrid>
              <a:tr h="254000">
                <a:tc gridSpan="4">
                  <a:txBody>
                    <a:bodyPr anchor="t" rtlCol="false"/>
                    <a:lstStyle/>
                    <a:p>
                      <a:pPr algn="l">
                        <a:defRPr/>
                      </a:pPr>
                      <a:r>
                        <a:rPr lang="en-US" sz="2240" b="false" i="true" u="none">
                          <a:latin typeface="Calibri"/>
                        </a:rPr>
                        <a:t>Parameters 1</a:t>
                      </a:r>
                      <a:endParaRPr lang="en-US" sz="1100"/>
                    </a:p>
                  </a:txBody>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lang="en-US" sz="2240" b="true" i="false" u="none">
                          <a:latin typeface="Calibri"/>
                        </a:rPr>
                        <a:t>Name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Expression</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Value</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Description</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Ss_GT_g4_to_g7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7.979038E-03</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0.007979</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Ss_GT_g5_to_g7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4.002267E-02</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0.040023</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Ss_GT_g6_to_g7</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3.650485E-01</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0.36505</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
                      </a:r>
                      <a:endParaRPr lang="en-US" sz="1100"/>
                    </a:p>
                  </a:txBody>
                  <a:tcPr>
                    <a:lnL>
                      <a:noFill/>
                    </a:lnL>
                    <a:lnR>
                      <a:noFill/>
                    </a:lnR>
                    <a:lnT>
                      <a:noFill/>
                    </a:lnT>
                    <a:lnB>
                      <a:noFill/>
                    </a:lnB>
                  </a:tcPr>
                </a:tc>
              </a:tr>
            </a:tbl>
          </a:graphicData>
        </a:graphic>
      </p:graphicFrame>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BB0ABC90-8170-4D79-89A9-C888F72D4A3A}"/>
              </a:ext>
            </a:extLst>
          </p:cNvPr>
          <p:cNvSpPr>
            <a:spLocks noGrp="1"/>
          </p:cNvSpPr>
          <p:nvPr>
            <p:ph type="title"/>
          </p:nvPr>
        </p:nvSpPr>
        <p:spPr>
          <a:xfrm>
            <a:off x="831850" y="1709738"/>
            <a:ext cx="10515600" cy="2852737"/>
          </a:xfrm>
        </p:spPr>
        <p:txBody>
          <a:bodyPr anchor="b"/>
          <a:lstStyle>
            <a:lvl1pPr>
              <a:defRPr sz="6000"/>
            </a:lvl1pPr>
          </a:lstStyle>
          <a:p>
            <a:r>
              <a:rPr lang="en-US"/>
              <a:t>Component 1</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BB0ABC90-8170-4D79-89A9-C888F72D4A3A}"/>
              </a:ext>
            </a:extLst>
          </p:cNvPr>
          <p:cNvSpPr>
            <a:spLocks noGrp="1"/>
          </p:cNvSpPr>
          <p:nvPr>
            <p:ph type="title"/>
          </p:nvPr>
        </p:nvSpPr>
        <p:spPr>
          <a:xfrm>
            <a:off x="831850" y="1709738"/>
            <a:ext cx="10515600" cy="2852737"/>
          </a:xfrm>
        </p:spPr>
        <p:txBody>
          <a:bodyPr anchor="b"/>
          <a:lstStyle>
            <a:lvl1pPr>
              <a:defRPr sz="6000"/>
            </a:lvl1pPr>
          </a:lstStyle>
          <a:p>
            <a:r>
              <a:rPr lang="en-US"/>
              <a:t>Definitions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UO2</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UO2</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07000" cy="788755"/>
        </p:xfrm>
        <a:graphic>
          <a:graphicData uri="http://schemas.openxmlformats.org/drawingml/2006/table">
            <a:tbl>
              <a:tblPr/>
              <a:tblGrid>
                <a:gridCol w="5181600"/>
              </a:tblGrid>
              <a:tr h="254000">
                <a:tc>
                  <a:txBody>
                    <a:bodyPr anchor="t" rtlCol="false"/>
                    <a:lstStyle/>
                    <a:p>
                      <a:pPr algn="l">
                        <a:defRPr/>
                      </a:pPr>
                      <a:r>
                        <a:rPr b="true" i="false" lang="en-US" sz="2016" u="none">
                          <a:latin typeface="Calibri"/>
                        </a:rPr>
                        <a:t>Selection type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Explicit</a:t>
                      </a:r>
                      <a:endParaRPr lang="en-US" sz="1100"/>
                    </a:p>
                  </a:txBody>
                  <a:tcPr>
                    <a:lnL>
                      <a:noFill/>
                    </a:lnL>
                    <a:lnR>
                      <a:noFill/>
                    </a:lnR>
                    <a:lnT>
                      <a:noFill/>
                    </a:lnT>
                    <a:lnB>
                      <a:noFill/>
                    </a:lnB>
                  </a:tcPr>
                </a:tc>
              </a:tr>
            </a:tbl>
          </a:graphicData>
        </a:graphic>
      </p:graphicFrame>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UO2 (continued)</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UO2</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07000" cy="7038373"/>
        </p:xfrm>
        <a:graphic>
          <a:graphicData uri="http://schemas.openxmlformats.org/drawingml/2006/table">
            <a:tbl>
              <a:tblPr/>
              <a:tblGrid>
                <a:gridCol w="5181600"/>
              </a:tblGrid>
              <a:tr h="254000">
                <a:tc>
                  <a:txBody>
                    <a:bodyPr anchor="t" rtlCol="false"/>
                    <a:lstStyle/>
                    <a:p>
                      <a:pPr algn="l">
                        <a:defRPr/>
                      </a:pPr>
                      <a:r>
                        <a:rPr b="true" i="false" lang="en-US" sz="2016" u="none">
                          <a:latin typeface="Calibri"/>
                        </a:rPr>
                        <a:t>Selection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Domains 1–17, 52–68, 103–107, 109–110, 112–113, 115–119, 154–156, 158–166, 168–170, 205–221, 256–257, 259–260, 262–263, 265–266, 268–269, 271–272, 307–323, 358–374, 409–410, 412–413, 415–416, 418–419, 421–422, 424–425, 460–476, 511–527, 562–563, 565–566, 568–569, 571–572, 574–575, 577–578, 613–629, 664–666, 668–676, 678–680, 715–719, 721–722, 724–725, 727–731, 766–782, 817–833, 885–901, 936–952, 987–991, 993–994, 996–997, 999–1003, 1038–1040, 1042–1050, 1052–1054, 1089–1105, 1140–1141, 1143–1144, 1146–1147, 1149–1150, 1152–1153, 1155–1156, 1191–1207, 1242–1258, 1293–1294, 1296–1297, 1299–1300, 1302–1303, 1305–1306, 1308–1309, 1344–1360, 1395–1411, 1446–1447, 1449–1450, 1452–1453, 1455–1456, 1458–1459, 1461–1462, 1497–1513, 1548–1550, 1552–1560, 1562–1564, 1599–1603, 1605–1606, 1608–1609, 1611–1615, 1650–1666, 1701–1717</a:t>
                      </a:r>
                      <a:endParaRPr lang="en-US" sz="1100"/>
                    </a:p>
                  </a:txBody>
                  <a:tcPr>
                    <a:lnL>
                      <a:noFill/>
                    </a:lnL>
                    <a:lnR>
                      <a:noFill/>
                    </a:lnR>
                    <a:lnT>
                      <a:noFill/>
                    </a:lnT>
                    <a:lnB>
                      <a:noFill/>
                    </a:lnB>
                  </a:tcPr>
                </a:tc>
              </a:tr>
            </a:tbl>
          </a:graphicData>
        </a:graphic>
      </p:graphicFrame>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MOX %4.3</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%4.3</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07000" cy="788755"/>
        </p:xfrm>
        <a:graphic>
          <a:graphicData uri="http://schemas.openxmlformats.org/drawingml/2006/table">
            <a:tbl>
              <a:tblPr/>
              <a:tblGrid>
                <a:gridCol w="5181600"/>
              </a:tblGrid>
              <a:tr h="254000">
                <a:tc>
                  <a:txBody>
                    <a:bodyPr anchor="t" rtlCol="false"/>
                    <a:lstStyle/>
                    <a:p>
                      <a:pPr algn="l">
                        <a:defRPr/>
                      </a:pPr>
                      <a:r>
                        <a:rPr b="true" i="false" lang="en-US" sz="2016" u="none">
                          <a:latin typeface="Calibri"/>
                        </a:rPr>
                        <a:t>Selection type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Explicit</a:t>
                      </a:r>
                      <a:endParaRPr lang="en-US" sz="1100"/>
                    </a:p>
                  </a:txBody>
                  <a:tcPr>
                    <a:lnL>
                      <a:noFill/>
                    </a:lnL>
                    <a:lnR>
                      <a:noFill/>
                    </a:lnR>
                    <a:lnT>
                      <a:noFill/>
                    </a:lnT>
                    <a:lnB>
                      <a:noFill/>
                    </a:lnB>
                  </a:tcPr>
                </a:tc>
              </a:tr>
            </a:tbl>
          </a:graphicData>
        </a:graphic>
      </p:graphicFrame>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MOX %4.3 (continued)</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%4.3</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07000" cy="3288602"/>
        </p:xfrm>
        <a:graphic>
          <a:graphicData uri="http://schemas.openxmlformats.org/drawingml/2006/table">
            <a:tbl>
              <a:tblPr/>
              <a:tblGrid>
                <a:gridCol w="5181600"/>
              </a:tblGrid>
              <a:tr h="254000">
                <a:tc>
                  <a:txBody>
                    <a:bodyPr anchor="t" rtlCol="false"/>
                    <a:lstStyle/>
                    <a:p>
                      <a:pPr algn="l">
                        <a:defRPr/>
                      </a:pPr>
                      <a:r>
                        <a:rPr b="true" i="false" lang="en-US" sz="2016" u="none">
                          <a:latin typeface="Calibri"/>
                        </a:rPr>
                        <a:t>Selection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Domains 18–34, 69, 85, 120, 136, 171, 187, 222, 238, 273, 289, 324, 340, 375, 391, 426, 442, 477, 493, 528, 544, 579, 595, 630, 646, 681, 697, 732, 748, 783, 799, 834–850, 868–884, 919, 935, 970, 986, 1021, 1037, 1072, 1088, 1123, 1139, 1174, 1190, 1225, 1241, 1276, 1292, 1327, 1343, 1378, 1394, 1429, 1445, 1480, 1496, 1531, 1547, 1582, 1598, 1633, 1649, 1684–1700</a:t>
                      </a:r>
                      <a:endParaRPr lang="en-US" sz="1100"/>
                    </a:p>
                  </a:txBody>
                  <a:tcPr>
                    <a:lnL>
                      <a:noFill/>
                    </a:lnL>
                    <a:lnR>
                      <a:noFill/>
                    </a:lnR>
                    <a:lnT>
                      <a:noFill/>
                    </a:lnT>
                    <a:lnB>
                      <a:noFill/>
                    </a:lnB>
                  </a:tcPr>
                </a:tc>
              </a:tr>
            </a:tbl>
          </a:graphicData>
        </a:graphic>
      </p:graphicFrame>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MOX %7.0</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%7.0</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07000" cy="788755"/>
        </p:xfrm>
        <a:graphic>
          <a:graphicData uri="http://schemas.openxmlformats.org/drawingml/2006/table">
            <a:tbl>
              <a:tblPr/>
              <a:tblGrid>
                <a:gridCol w="5181600"/>
              </a:tblGrid>
              <a:tr h="254000">
                <a:tc>
                  <a:txBody>
                    <a:bodyPr anchor="t" rtlCol="false"/>
                    <a:lstStyle/>
                    <a:p>
                      <a:pPr algn="l">
                        <a:defRPr/>
                      </a:pPr>
                      <a:r>
                        <a:rPr b="true" i="false" lang="en-US" sz="2016" u="none">
                          <a:latin typeface="Calibri"/>
                        </a:rPr>
                        <a:t>Selection type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Explicit</a:t>
                      </a:r>
                      <a:endParaRPr lang="en-US" sz="1100"/>
                    </a:p>
                  </a:txBody>
                  <a:tcPr>
                    <a:lnL>
                      <a:noFill/>
                    </a:lnL>
                    <a:lnR>
                      <a:noFill/>
                    </a:lnR>
                    <a:lnT>
                      <a:noFill/>
                    </a:lnT>
                    <a:lnB>
                      <a:noFill/>
                    </a:lnB>
                  </a:tcPr>
                </a:tc>
              </a:tr>
            </a:tbl>
          </a:graphicData>
        </a:graphic>
      </p:graphicFrame>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MOX %7.0 (continued)</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%7.0</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07000" cy="5475969"/>
        </p:xfrm>
        <a:graphic>
          <a:graphicData uri="http://schemas.openxmlformats.org/drawingml/2006/table">
            <a:tbl>
              <a:tblPr/>
              <a:tblGrid>
                <a:gridCol w="5181600"/>
              </a:tblGrid>
              <a:tr h="254000">
                <a:tc>
                  <a:txBody>
                    <a:bodyPr anchor="t" rtlCol="false"/>
                    <a:lstStyle/>
                    <a:p>
                      <a:pPr algn="l">
                        <a:defRPr/>
                      </a:pPr>
                      <a:r>
                        <a:rPr b="true" i="false" lang="en-US" sz="2016" u="none">
                          <a:latin typeface="Calibri"/>
                        </a:rPr>
                        <a:t>Selection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Domains 70–84, 121–124, 126–127, 129–130, 132–135, 172–173, 175, 183, 185–186, 223–225, 235–237, 274, 288, 325–326, 338–339, 376–377, 389–390, 427, 441, 478–479, 491–492, 529–530, 542–543, 580, 594, 631–633, 643–645, 682–683, 685, 693, 695–696, 733–736, 738–739, 741–742, 744–747, 784–798, 920–934, 971–974, 976–977, 979–980, 982–985, 1022–1023, 1025, 1033, 1035–1036, 1073–1075, 1085–1087, 1124, 1138, 1175–1176, 1188–1189, 1226–1227, 1239–1240, 1277, 1291, 1328–1329, 1341–1342, 1379–1380, 1392–1393, 1430, 1444, 1481–1483, 1493–1495, 1532–1533, 1535, 1543, 1545–1546, 1583–1586, 1588–1589, 1591–1592, 1594–1597, 1634–1648</a:t>
                      </a:r>
                      <a:endParaRPr lang="en-US" sz="1100"/>
                    </a:p>
                  </a:txBody>
                  <a:tcPr>
                    <a:lnL>
                      <a:noFill/>
                    </a:lnL>
                    <a:lnR>
                      <a:noFill/>
                    </a:lnR>
                    <a:lnT>
                      <a:noFill/>
                    </a:lnT>
                    <a:lnB>
                      <a:noFill/>
                    </a:lnB>
                  </a:tcPr>
                </a:tc>
              </a:tr>
            </a:tbl>
          </a:graphicData>
        </a:graphic>
      </p:graphicFrame>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MOX %8.7 </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%8.7 </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07000" cy="788755"/>
        </p:xfrm>
        <a:graphic>
          <a:graphicData uri="http://schemas.openxmlformats.org/drawingml/2006/table">
            <a:tbl>
              <a:tblPr/>
              <a:tblGrid>
                <a:gridCol w="5181600"/>
              </a:tblGrid>
              <a:tr h="254000">
                <a:tc>
                  <a:txBody>
                    <a:bodyPr anchor="t" rtlCol="false"/>
                    <a:lstStyle/>
                    <a:p>
                      <a:pPr algn="l">
                        <a:defRPr/>
                      </a:pPr>
                      <a:r>
                        <a:rPr b="true" i="false" lang="en-US" sz="2016" u="none">
                          <a:latin typeface="Calibri"/>
                        </a:rPr>
                        <a:t>Selection type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Explicit</a:t>
                      </a:r>
                      <a:endParaRPr lang="en-US" sz="1100"/>
                    </a:p>
                  </a:txBody>
                  <a:tcPr>
                    <a:lnL>
                      <a:noFill/>
                    </a:lnL>
                    <a:lnR>
                      <a:noFill/>
                    </a:lnR>
                    <a:lnT>
                      <a:noFill/>
                    </a:lnT>
                    <a:lnB>
                      <a:noFill/>
                    </a:lnB>
                  </a:tcPr>
                </a:tc>
              </a:tr>
            </a:tbl>
          </a:graphicData>
        </a:graphic>
      </p:graphicFrame>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MOX %8.7  (continued)</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%8.7 </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07000" cy="3913564"/>
        </p:xfrm>
        <a:graphic>
          <a:graphicData uri="http://schemas.openxmlformats.org/drawingml/2006/table">
            <a:tbl>
              <a:tblPr/>
              <a:tblGrid>
                <a:gridCol w="5181600"/>
              </a:tblGrid>
              <a:tr h="254000">
                <a:tc>
                  <a:txBody>
                    <a:bodyPr anchor="t" rtlCol="false"/>
                    <a:lstStyle/>
                    <a:p>
                      <a:pPr algn="l">
                        <a:defRPr/>
                      </a:pPr>
                      <a:r>
                        <a:rPr b="true" i="false" lang="en-US" sz="2016" u="none">
                          <a:latin typeface="Calibri"/>
                        </a:rPr>
                        <a:t>Selection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Domains 176–182, 226–234, 276–277, 279–280, 282–283, 285–286, 327–337, 378–388, 429–430, 432–433, 435–436, 438–439, 480–490, 531–541, 582–583, 585–586, 588–589, 591–592, 634–642, 686–692, 1026–1032, 1076–1084, 1126–1127, 1129–1130, 1132–1133, 1135–1136, 1177–1187, 1228–1238, 1279–1280, 1282–1283, 1285–1286, 1288–1289, 1330–1340, 1381–1391, 1432–1433, 1435–1436, 1438–1439, 1441–1442, 1484–1492, 1536–1542</a:t>
                      </a:r>
                      <a:endParaRPr lang="en-US" sz="1100"/>
                    </a:p>
                  </a:txBody>
                  <a:tcPr>
                    <a:lnL>
                      <a:noFill/>
                    </a:lnL>
                    <a:lnR>
                      <a:noFill/>
                    </a:lnR>
                    <a:lnT>
                      <a:noFill/>
                    </a:lnT>
                    <a:lnB>
                      <a:noFill/>
                    </a:lnB>
                  </a:tcPr>
                </a:tc>
              </a:tr>
            </a:tbl>
          </a:graphicData>
        </a:graphic>
      </p:graphicFrame>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Fission Chamber</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Fission Chamber</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07000" cy="788755"/>
        </p:xfrm>
        <a:graphic>
          <a:graphicData uri="http://schemas.openxmlformats.org/drawingml/2006/table">
            <a:tbl>
              <a:tblPr/>
              <a:tblGrid>
                <a:gridCol w="5181600"/>
              </a:tblGrid>
              <a:tr h="254000">
                <a:tc>
                  <a:txBody>
                    <a:bodyPr anchor="t" rtlCol="false"/>
                    <a:lstStyle/>
                    <a:p>
                      <a:pPr algn="l">
                        <a:defRPr/>
                      </a:pPr>
                      <a:r>
                        <a:rPr b="true" i="false" lang="en-US" sz="2016" u="none">
                          <a:latin typeface="Calibri"/>
                        </a:rPr>
                        <a:t>Selection type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Explicit</a:t>
                      </a:r>
                      <a:endParaRPr lang="en-US" sz="1100"/>
                    </a:p>
                  </a:txBody>
                  <a:tcPr>
                    <a:lnL>
                      <a:noFill/>
                    </a:lnL>
                    <a:lnR>
                      <a:noFill/>
                    </a:lnR>
                    <a:lnT>
                      <a:noFill/>
                    </a:lnT>
                    <a:lnB>
                      <a:noFill/>
                    </a:lnB>
                  </a:tcPr>
                </a:tc>
              </a:tr>
            </a:tbl>
          </a:graphicData>
        </a:graphic>
      </p:graphicFrame>
      <p:graphicFrame>
        <p:nvGraphicFramePr>
          <p:cNvPr id="11" name="Table 11"/>
          <p:cNvGraphicFramePr>
            <a:graphicFrameLocks noGrp="true"/>
          </p:cNvGraphicFramePr>
          <p:nvPr/>
        </p:nvGraphicFramePr>
        <p:xfrm>
          <a:off x="838200" y="2804880"/>
          <a:ext cx="5207000" cy="788755"/>
        </p:xfrm>
        <a:graphic>
          <a:graphicData uri="http://schemas.openxmlformats.org/drawingml/2006/table">
            <a:tbl>
              <a:tblPr/>
              <a:tblGrid>
                <a:gridCol w="5181600"/>
              </a:tblGrid>
              <a:tr h="254000">
                <a:tc>
                  <a:txBody>
                    <a:bodyPr anchor="t" rtlCol="false"/>
                    <a:lstStyle/>
                    <a:p>
                      <a:pPr algn="l">
                        <a:defRPr/>
                      </a:pPr>
                      <a:r>
                        <a:rPr b="true" i="false" lang="en-US" sz="2016" u="none">
                          <a:latin typeface="Calibri"/>
                        </a:rPr>
                        <a:t>Selection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Domains 417, 434, 1284, 1301</a:t>
                      </a:r>
                      <a:endParaRPr lang="en-US" sz="1100"/>
                    </a:p>
                  </a:txBody>
                  <a:tcPr>
                    <a:lnL>
                      <a:noFill/>
                    </a:lnL>
                    <a:lnR>
                      <a:noFill/>
                    </a:lnR>
                    <a:lnT>
                      <a:noFill/>
                    </a:lnT>
                    <a:lnB>
                      <a:noFill/>
                    </a:lnB>
                  </a:tcPr>
                </a:tc>
              </a:tr>
            </a:tbl>
          </a:graphicData>
        </a:graphic>
      </p:graphicFrame>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Guide Tube</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Guide Tube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07000" cy="788755"/>
        </p:xfrm>
        <a:graphic>
          <a:graphicData uri="http://schemas.openxmlformats.org/drawingml/2006/table">
            <a:tbl>
              <a:tblPr/>
              <a:tblGrid>
                <a:gridCol w="5181600"/>
              </a:tblGrid>
              <a:tr h="254000">
                <a:tc>
                  <a:txBody>
                    <a:bodyPr anchor="t" rtlCol="false"/>
                    <a:lstStyle/>
                    <a:p>
                      <a:pPr algn="l">
                        <a:defRPr/>
                      </a:pPr>
                      <a:r>
                        <a:rPr b="true" i="false" lang="en-US" sz="2016" u="none">
                          <a:latin typeface="Calibri"/>
                        </a:rPr>
                        <a:t>Selection type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Explicit</a:t>
                      </a:r>
                      <a:endParaRPr lang="en-US" sz="1100"/>
                    </a:p>
                  </a:txBody>
                  <a:tcPr>
                    <a:lnL>
                      <a:noFill/>
                    </a:lnL>
                    <a:lnR>
                      <a:noFill/>
                    </a:lnR>
                    <a:lnT>
                      <a:noFill/>
                    </a:lnT>
                    <a:lnB>
                      <a:noFill/>
                    </a:lnB>
                  </a:tcPr>
                </a:tc>
              </a:tr>
            </a:tbl>
          </a:graphicData>
        </a:graphic>
      </p:graphicFrame>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Guide Tube (continued)</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Guide Tube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07000" cy="4226045"/>
        </p:xfrm>
        <a:graphic>
          <a:graphicData uri="http://schemas.openxmlformats.org/drawingml/2006/table">
            <a:tbl>
              <a:tblPr/>
              <a:tblGrid>
                <a:gridCol w="5181600"/>
              </a:tblGrid>
              <a:tr h="254000">
                <a:tc>
                  <a:txBody>
                    <a:bodyPr anchor="t" rtlCol="false"/>
                    <a:lstStyle/>
                    <a:p>
                      <a:pPr algn="l">
                        <a:defRPr/>
                      </a:pPr>
                      <a:r>
                        <a:rPr b="true" i="false" lang="en-US" sz="2016" u="none">
                          <a:latin typeface="Calibri"/>
                        </a:rPr>
                        <a:t>Selection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Domains 108, 111, 114, 125, 128, 131, 157, 167, 174, 184, 258, 261, 264, 267, 270, 275, 278, 281, 284, 287, 411, 414, 420, 423, 428, 431, 437, 440, 564, 567, 570, 573, 576, 581, 584, 587, 590, 593, 667, 677, 684, 694, 720, 723, 726, 737, 740, 743, 975, 978, 981, 992, 995, 998, 1024, 1034, 1041, 1051, 1125, 1128, 1131, 1134, 1137, 1142, 1145, 1148, 1151, 1154, 1278, 1281, 1287, 1290, 1295, 1298, 1304, 1307, 1431, 1434, 1437, 1440, 1443, 1448, 1451, 1454, 1457, 1460, 1534, 1544, 1551, 1561, 1587, 1590, 1593, 1604, 1607, 1610</a:t>
                      </a:r>
                      <a:endParaRPr lang="en-US" sz="1100"/>
                    </a:p>
                  </a:txBody>
                  <a:tcPr>
                    <a:lnL>
                      <a:noFill/>
                    </a:lnL>
                    <a:lnR>
                      <a:noFill/>
                    </a:lnR>
                    <a:lnT>
                      <a:noFill/>
                    </a:lnT>
                    <a:lnB>
                      <a:noFill/>
                    </a:lnB>
                  </a:tcPr>
                </a:tc>
              </a:tr>
            </a:tbl>
          </a:graphicData>
        </a:graphic>
      </p:graphicFrame>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Moderator</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Moderator</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07000" cy="788755"/>
        </p:xfrm>
        <a:graphic>
          <a:graphicData uri="http://schemas.openxmlformats.org/drawingml/2006/table">
            <a:tbl>
              <a:tblPr/>
              <a:tblGrid>
                <a:gridCol w="5181600"/>
              </a:tblGrid>
              <a:tr h="254000">
                <a:tc>
                  <a:txBody>
                    <a:bodyPr anchor="t" rtlCol="false"/>
                    <a:lstStyle/>
                    <a:p>
                      <a:pPr algn="l">
                        <a:defRPr/>
                      </a:pPr>
                      <a:r>
                        <a:rPr b="true" i="false" lang="en-US" sz="2016" u="none">
                          <a:latin typeface="Calibri"/>
                        </a:rPr>
                        <a:t>Selection type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Explicit</a:t>
                      </a:r>
                      <a:endParaRPr lang="en-US" sz="1100"/>
                    </a:p>
                  </a:txBody>
                  <a:tcPr>
                    <a:lnL>
                      <a:noFill/>
                    </a:lnL>
                    <a:lnR>
                      <a:noFill/>
                    </a:lnR>
                    <a:lnT>
                      <a:noFill/>
                    </a:lnT>
                    <a:lnB>
                      <a:noFill/>
                    </a:lnB>
                  </a:tcPr>
                </a:tc>
              </a:tr>
            </a:tbl>
          </a:graphicData>
        </a:graphic>
      </p:graphicFrame>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Moderator (continued)</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Moderator</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07000" cy="3288602"/>
        </p:xfrm>
        <a:graphic>
          <a:graphicData uri="http://schemas.openxmlformats.org/drawingml/2006/table">
            <a:tbl>
              <a:tblPr/>
              <a:tblGrid>
                <a:gridCol w="5181600"/>
              </a:tblGrid>
              <a:tr h="254000">
                <a:tc>
                  <a:txBody>
                    <a:bodyPr anchor="t" rtlCol="false"/>
                    <a:lstStyle/>
                    <a:p>
                      <a:pPr algn="l">
                        <a:defRPr/>
                      </a:pPr>
                      <a:r>
                        <a:rPr b="true" i="false" lang="en-US" sz="2016" u="none">
                          <a:latin typeface="Calibri"/>
                        </a:rPr>
                        <a:t>Selection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Domains 35–51, 86–102, 137–153, 188–204, 239–255, 290–306, 341–357, 392–408, 443–459, 494–510, 545–561, 596–612, 647–663, 698–714, 749–765, 800–816, 851–867, 902–918, 953–969, 1004–1020, 1055–1071, 1106–1122, 1157–1173, 1208–1224, 1259–1275, 1310–1326, 1361–1377, 1412–1428, 1463–1479, 1514–1530, 1565–1581, 1616–1632, 1667–1683, 1718–2601</a:t>
                      </a:r>
                      <a:endParaRPr lang="en-US" sz="1100"/>
                    </a:p>
                  </a:txBody>
                  <a:tcPr>
                    <a:lnL>
                      <a:noFill/>
                    </a:lnL>
                    <a:lnR>
                      <a:noFill/>
                    </a:lnR>
                    <a:lnT>
                      <a:noFill/>
                    </a:lnT>
                    <a:lnB>
                      <a:noFill/>
                    </a:lnB>
                  </a:tcPr>
                </a:tc>
              </a:tr>
            </a:tbl>
          </a:graphicData>
        </a:graphic>
      </p:graphicFrame>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Geometry 1</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Geometry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068155"/>
        </p:xfrm>
        <a:graphic>
          <a:graphicData uri="http://schemas.openxmlformats.org/drawingml/2006/table">
            <a:tbl>
              <a:tblPr/>
              <a:tblGrid>
                <a:gridCol w="3972560"/>
                <a:gridCol w="1209040"/>
              </a:tblGrid>
              <a:tr h="254000">
                <a:tc gridSpan="2">
                  <a:txBody>
                    <a:bodyPr anchor="t" rtlCol="false"/>
                    <a:lstStyle/>
                    <a:p>
                      <a:pPr algn="l">
                        <a:defRPr/>
                      </a:pPr>
                      <a:r>
                        <a:rPr b="false" i="true" lang="en-US" sz="2240" u="none">
                          <a:latin typeface="Calibri"/>
                        </a:rPr>
                        <a:t>Units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Length unit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m</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Angular unit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deg</a:t>
                      </a:r>
                      <a:endParaRPr lang="en-US" sz="1100"/>
                    </a:p>
                  </a:txBody>
                  <a:tcPr>
                    <a:lnL>
                      <a:noFill/>
                    </a:lnL>
                    <a:lnR>
                      <a:noFill/>
                    </a:lnR>
                    <a:lnT>
                      <a:noFill/>
                    </a:lnT>
                    <a:lnB>
                      <a:noFill/>
                    </a:lnB>
                  </a:tcPr>
                </a:tc>
              </a:tr>
            </a:tbl>
          </a:graphicData>
        </a:graphic>
      </p:graphicFrame>
      <p:graphicFrame>
        <p:nvGraphicFramePr>
          <p:cNvPr id="11" name="Table 11"/>
          <p:cNvGraphicFramePr>
            <a:graphicFrameLocks noGrp="true"/>
          </p:cNvGraphicFramePr>
          <p:nvPr/>
        </p:nvGraphicFramePr>
        <p:xfrm>
          <a:off x="838200" y="3084280"/>
          <a:ext cx="5232400" cy="2251287"/>
        </p:xfrm>
        <a:graphic>
          <a:graphicData uri="http://schemas.openxmlformats.org/drawingml/2006/table">
            <a:tbl>
              <a:tblPr/>
              <a:tblGrid>
                <a:gridCol w="3972560"/>
                <a:gridCol w="1209040"/>
              </a:tblGrid>
              <a:tr h="254000">
                <a:tc gridSpan="2">
                  <a:txBody>
                    <a:bodyPr anchor="t" rtlCol="false"/>
                    <a:lstStyle/>
                    <a:p>
                      <a:pPr algn="l">
                        <a:defRPr/>
                      </a:pPr>
                      <a:r>
                        <a:rPr b="false" i="true" lang="en-US" sz="2240" u="none">
                          <a:latin typeface="Calibri"/>
                        </a:rPr>
                        <a:t>Geometry statistics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Space dimension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2</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Number of domains</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2601</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Number of boundaries</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5304</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Number of vertices</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2704</a:t>
                      </a:r>
                      <a:endParaRPr lang="en-US" sz="1100"/>
                    </a:p>
                  </a:txBody>
                  <a:tcPr>
                    <a:lnL>
                      <a:noFill/>
                    </a:lnL>
                    <a:lnR>
                      <a:noFill/>
                    </a:lnR>
                    <a:lnT>
                      <a:noFill/>
                    </a:lnT>
                    <a:lnB>
                      <a:noFill/>
                    </a:lnB>
                  </a:tcPr>
                </a:tc>
              </a:tr>
            </a:tbl>
          </a:graphicData>
        </a:graphic>
      </p:graphicFrame>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Coefficient Form 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693117"/>
        </p:xfrm>
        <a:graphic>
          <a:graphicData uri="http://schemas.openxmlformats.org/drawingml/2006/table">
            <a:tbl>
              <a:tblPr/>
              <a:tblGrid>
                <a:gridCol w="2590800"/>
                <a:gridCol w="2590800"/>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Geometric entity level</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Domain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Selection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Geometry geom1: Dimension 2: All domains</a:t>
                      </a:r>
                      <a:endParaRPr lang="en-US" sz="1100"/>
                    </a:p>
                  </a:txBody>
                  <a:tcPr>
                    <a:lnL>
                      <a:noFill/>
                    </a:lnL>
                    <a:lnR>
                      <a:noFill/>
                    </a:lnR>
                    <a:lnT>
                      <a:noFill/>
                    </a:lnT>
                    <a:lnB>
                      <a:noFill/>
                    </a:lnB>
                  </a:tcPr>
                </a:tc>
              </a:tr>
            </a:tbl>
          </a:graphicData>
        </a:graphic>
      </p:graphicFrame>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Coefficient Form 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sp>
        <p:nvSpPr>
          <p:cNvPr id="5" name="AutoShape 5"/>
          <p:cNvSpPr/>
          <p:nvPr/>
        </p:nvSpPr>
        <p:spPr>
          <a:xfrm flipH="false" flipV="false" rot="0">
            <a:off x="838200" y="1825625"/>
            <a:ext cx="5181600" cy="1421209"/>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true" i="false" lang="en-US" sz="3200" u="none">
                <a:latin typeface="Calibri Light"/>
              </a:rPr>
              <a:t>Interface Settings</a:t>
            </a:r>
          </a:p>
          <a:p>
            <a:pPr algn="l">
              <a:spcAft>
                <a:spcPct val="30000"/>
              </a:spcAft>
            </a:pPr>
            <a:r>
              <a:rPr b="false" i="true" lang="en-US" sz="3200" u="none">
                <a:latin typeface="Calibri Light"/>
              </a:rPr>
              <a:t>Discretization</a:t>
            </a:r>
          </a:p>
        </p:txBody>
      </p:sp>
      <p:graphicFrame>
        <p:nvGraphicFramePr>
          <p:cNvPr id="9" name="Table 9"/>
          <p:cNvGraphicFramePr>
            <a:graphicFrameLocks noGrp="true"/>
          </p:cNvGraphicFramePr>
          <p:nvPr/>
        </p:nvGraphicFramePr>
        <p:xfrm>
          <a:off x="838200" y="3373834"/>
          <a:ext cx="5232400" cy="1856910"/>
        </p:xfrm>
        <a:graphic>
          <a:graphicData uri="http://schemas.openxmlformats.org/drawingml/2006/table">
            <a:tbl>
              <a:tblPr/>
              <a:tblGrid>
                <a:gridCol w="3627120"/>
                <a:gridCol w="1554480"/>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Shape function type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Lagrange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Element order</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Quadratic</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Frame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Spatial</a:t>
                      </a:r>
                      <a:endParaRPr lang="en-US" sz="1100"/>
                    </a:p>
                  </a:txBody>
                  <a:tcPr>
                    <a:lnL>
                      <a:noFill/>
                    </a:lnL>
                    <a:lnR>
                      <a:noFill/>
                    </a:lnR>
                    <a:lnT>
                      <a:noFill/>
                    </a:lnT>
                    <a:lnB>
                      <a:noFill/>
                    </a:lnB>
                  </a:tcPr>
                </a:tc>
              </a:tr>
            </a:tbl>
          </a:graphicData>
        </a:graphic>
      </p:graphicFrame>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Coefficient Form 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3745774" cy="1068155"/>
        </p:xfrm>
        <a:graphic>
          <a:graphicData uri="http://schemas.openxmlformats.org/drawingml/2006/table">
            <a:tbl>
              <a:tblPr/>
              <a:tblGrid>
                <a:gridCol w="1770380"/>
                <a:gridCol w="192459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Frequency</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From solver</a:t>
                      </a:r>
                      <a:endParaRPr lang="en-US" sz="1100"/>
                    </a:p>
                  </a:txBody>
                  <a:tcPr>
                    <a:lnL>
                      <a:noFill/>
                    </a:lnL>
                    <a:lnR>
                      <a:noFill/>
                    </a:lnR>
                    <a:lnT>
                      <a:noFill/>
                    </a:lnT>
                    <a:lnB>
                      <a:noFill/>
                    </a:lnB>
                  </a:tcPr>
                </a:tc>
              </a:tr>
            </a:tbl>
          </a:graphicData>
        </a:graphic>
      </p:graphicFrame>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Coefficient Form 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sp>
        <p:nvSpPr>
          <p:cNvPr id="5" name="AutoShape 5"/>
          <p:cNvSpPr/>
          <p:nvPr/>
        </p:nvSpPr>
        <p:spPr>
          <a:xfrm flipH="false" flipV="false" rot="0">
            <a:off x="838200" y="1825625"/>
            <a:ext cx="5181600" cy="649288"/>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false" i="true" lang="en-US" sz="3200" u="none">
                <a:latin typeface="Calibri Light"/>
              </a:rPr>
              <a:t>Units</a:t>
            </a:r>
          </a:p>
        </p:txBody>
      </p:sp>
      <p:graphicFrame>
        <p:nvGraphicFramePr>
          <p:cNvPr id="9" name="Table 9"/>
          <p:cNvGraphicFramePr>
            <a:graphicFrameLocks noGrp="true"/>
          </p:cNvGraphicFramePr>
          <p:nvPr/>
        </p:nvGraphicFramePr>
        <p:xfrm>
          <a:off x="838200" y="2601912"/>
          <a:ext cx="5232400" cy="788755"/>
        </p:xfrm>
        <a:graphic>
          <a:graphicData uri="http://schemas.openxmlformats.org/drawingml/2006/table">
            <a:tbl>
              <a:tblPr/>
              <a:tblGrid>
                <a:gridCol w="4015740"/>
                <a:gridCol w="1165860"/>
              </a:tblGrid>
              <a:tr h="254000">
                <a:tc>
                  <a:txBody>
                    <a:bodyPr anchor="t" rtlCol="false"/>
                    <a:lstStyle/>
                    <a:p>
                      <a:pPr algn="l">
                        <a:defRPr/>
                      </a:pPr>
                      <a:r>
                        <a:rPr b="true" i="false" lang="en-US" sz="2016" u="none">
                          <a:latin typeface="Calibri"/>
                        </a:rPr>
                        <a:t>Dependent variable quantity</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Unit</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Dimensionless</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1</a:t>
                      </a:r>
                      <a:endParaRPr lang="en-US" sz="1100"/>
                    </a:p>
                  </a:txBody>
                  <a:tcPr>
                    <a:lnL>
                      <a:noFill/>
                    </a:lnL>
                    <a:lnR>
                      <a:noFill/>
                    </a:lnR>
                    <a:lnT>
                      <a:noFill/>
                    </a:lnT>
                    <a:lnB>
                      <a:noFill/>
                    </a:lnB>
                  </a:tcPr>
                </a:tc>
              </a:tr>
            </a:tbl>
          </a:graphicData>
        </a:graphic>
      </p:graphicFrame>
      <p:graphicFrame>
        <p:nvGraphicFramePr>
          <p:cNvPr id="12" name="Table 12"/>
          <p:cNvGraphicFramePr>
            <a:graphicFrameLocks noGrp="true"/>
          </p:cNvGraphicFramePr>
          <p:nvPr/>
        </p:nvGraphicFramePr>
        <p:xfrm>
          <a:off x="838200" y="3644668"/>
          <a:ext cx="5232400" cy="788755"/>
        </p:xfrm>
        <a:graphic>
          <a:graphicData uri="http://schemas.openxmlformats.org/drawingml/2006/table">
            <a:tbl>
              <a:tblPr/>
              <a:tblGrid>
                <a:gridCol w="4015740"/>
                <a:gridCol w="1165860"/>
              </a:tblGrid>
              <a:tr h="254000">
                <a:tc>
                  <a:txBody>
                    <a:bodyPr anchor="t" rtlCol="false"/>
                    <a:lstStyle/>
                    <a:p>
                      <a:pPr algn="l">
                        <a:defRPr/>
                      </a:pPr>
                      <a:r>
                        <a:rPr b="true" i="false" lang="en-US" sz="2016" u="none">
                          <a:latin typeface="Calibri"/>
                        </a:rPr>
                        <a:t>Source term quantity</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Unit</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Custom unit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m^-2</a:t>
                      </a:r>
                      <a:endParaRPr lang="en-US" sz="1100"/>
                    </a:p>
                  </a:txBody>
                  <a:tcPr>
                    <a:lnL>
                      <a:noFill/>
                    </a:lnL>
                    <a:lnR>
                      <a:noFill/>
                    </a:lnR>
                    <a:lnT>
                      <a:noFill/>
                    </a:lnT>
                    <a:lnB>
                      <a:noFill/>
                    </a:lnB>
                  </a:tcPr>
                </a:tc>
              </a:tr>
            </a:tbl>
          </a:graphicData>
        </a:graphic>
      </p:graphicFrame>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5" name="AutoShape 5"/>
          <p:cNvSpPr/>
          <p:nvPr/>
        </p:nvSpPr>
        <p:spPr>
          <a:xfrm flipH="false" flipV="false" rot="0">
            <a:off x="838200" y="1825625"/>
            <a:ext cx="5181600" cy="649288"/>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true" i="false" lang="en-US" sz="3200" u="none">
                <a:latin typeface="Calibri Light"/>
              </a:rPr>
              <a:t>Coefficient Form PDE 1</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Coefficient Form PDE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9" name="Table 9"/>
          <p:cNvGraphicFramePr>
            <a:graphicFrameLocks noGrp="true"/>
          </p:cNvGraphicFramePr>
          <p:nvPr/>
        </p:nvGraphicFramePr>
        <p:xfrm>
          <a:off x="838200" y="2601912"/>
          <a:ext cx="5232400" cy="1693117"/>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Geometric entity level</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Domain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Selection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Geometry geom1: Dimension 2: All domains</a:t>
                      </a:r>
                      <a:endParaRPr lang="en-US" sz="1100"/>
                    </a:p>
                  </a:txBody>
                  <a:tcPr>
                    <a:lnL>
                      <a:noFill/>
                    </a:lnL>
                    <a:lnR>
                      <a:noFill/>
                    </a:lnR>
                    <a:lnT>
                      <a:noFill/>
                    </a:lnT>
                    <a:lnB>
                      <a:noFill/>
                    </a:lnB>
                  </a:tcPr>
                </a:tc>
              </a:tr>
            </a:tbl>
          </a:graphicData>
        </a:graphic>
      </p:graphicFrame>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Coefficient Form PDE 1</a:t>
            </a:r>
          </a:p>
        </p:txBody>
      </p:sp>
      <p:pic>
        <p:nvPicPr>
          <p:cNvPr id="6" name="Picture 6"/>
          <p:cNvPicPr>
            <a:picLocks noChangeAspect="true"/>
          </p:cNvPicPr>
          <p:nvPr>
            <p:custDataLst>
              <p:tags r:id="rId6"/>
            </p:custDataLst>
          </p:nvPr>
        </p:nvPicPr>
        <p:blipFill>
          <a:blip r:embed="rId2"/>
          <a:stretch>
            <a:fillRect/>
          </a:stretch>
        </p:blipFill>
        <p:spPr>
          <a:xfrm>
            <a:off x="6172200" y="1896289"/>
            <a:ext cx="5181600" cy="3886200"/>
          </a:xfrm>
          <a:prstGeom prst="rect">
            <a:avLst/>
          </a:prstGeom>
        </p:spPr>
      </p:pic>
      <p:sp>
        <p:nvSpPr>
          <p:cNvPr id="5" name="AutoShape 5"/>
          <p:cNvSpPr/>
          <p:nvPr/>
        </p:nvSpPr>
        <p:spPr>
          <a:xfrm flipH="false" flipV="false" rot="0">
            <a:off x="838200" y="1825625"/>
            <a:ext cx="5181600" cy="636796"/>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false" i="true" lang="en-US" sz="2240" u="none">
                <a:latin typeface="Calibri"/>
              </a:rPr>
              <a:t>Equations</a:t>
            </a:r>
          </a:p>
        </p:txBody>
      </p:sp>
      <p:pic>
        <p:nvPicPr>
          <p:cNvPr id="9" name="Picture 9"/>
          <p:cNvPicPr>
            <a:picLocks noChangeAspect="true"/>
          </p:cNvPicPr>
          <p:nvPr/>
        </p:nvPicPr>
        <p:blipFill>
          <a:blip r:embed="rId3"/>
          <a:stretch>
            <a:fillRect/>
          </a:stretch>
        </p:blipFill>
        <p:spPr>
          <a:xfrm>
            <a:off x="965200" y="2652921"/>
            <a:ext cx="4851400" cy="279400"/>
          </a:xfrm>
          <a:prstGeom prst="rect">
            <a:avLst/>
          </a:prstGeom>
        </p:spPr>
      </p:pic>
      <p:pic>
        <p:nvPicPr>
          <p:cNvPr id="11" name="Picture 11"/>
          <p:cNvPicPr>
            <a:picLocks noChangeAspect="true"/>
          </p:cNvPicPr>
          <p:nvPr/>
        </p:nvPicPr>
        <p:blipFill>
          <a:blip r:embed="rId4"/>
          <a:stretch>
            <a:fillRect/>
          </a:stretch>
        </p:blipFill>
        <p:spPr>
          <a:xfrm>
            <a:off x="965200" y="3313321"/>
            <a:ext cx="2603500" cy="266700"/>
          </a:xfrm>
          <a:prstGeom prst="rect">
            <a:avLst/>
          </a:prstGeom>
        </p:spPr>
      </p:pic>
      <p:pic>
        <p:nvPicPr>
          <p:cNvPr id="13" name="Picture 13"/>
          <p:cNvPicPr>
            <a:picLocks noChangeAspect="true"/>
          </p:cNvPicPr>
          <p:nvPr/>
        </p:nvPicPr>
        <p:blipFill>
          <a:blip r:embed="rId5"/>
          <a:stretch>
            <a:fillRect/>
          </a:stretch>
        </p:blipFill>
        <p:spPr>
          <a:xfrm>
            <a:off x="965200" y="3961021"/>
            <a:ext cx="1104900" cy="508000"/>
          </a:xfrm>
          <a:prstGeom prst="rect">
            <a:avLst/>
          </a:prstGeom>
        </p:spPr>
      </p:pic>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Coefficient Form PDE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3649289"/>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Absorption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Coefficient Form PDE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6461617"/>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Diffusion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{{{{1, 0}, {0, 1}}, {{0, 0}, {0, 0}}, {{0, 0}, {0, 0}}, {{0, 0}, {0, 0}}, {{0, 0}, {0, 0}}, {{0, 0}, {0, 0}}, {{0, 0}, {0, 0}}}, {{{0, 0}, {0, 0}}, {{1, 0}, {0, 1}}, {{0, 0}, {0, 0}}, {{0, 0}, {0, 0}}, {{0, 0}, {0, 0}}, {{0, 0}, {0, 0}}, {{0, 0}, {0, 0}}}, {{{0, 0}, {0, 0}}, {{0, 0}, {0, 0}}, {{1, 0}, {0, 1}}, {{0, 0}, {0, 0}}, {{0, 0}, {0, 0}}, {{0, 0}, {0, 0}}, {{0, 0}, {0, 0}}}, {{{0, 0}, {0, 0}}, {{0, 0}, {0, 0}}, {{0, 0}, {0, 0}}, {{1, 0}, {0, 1}}, {{0, 0}, {0, 0}}, {{0, 0}, {0, 0}}, {{0, 0}, {0, 0}}}, {{{0, 0}, {0, 0}}, {{0, 0}, {0, 0}}, {{0, 0}, {0, 0}}, {{0, 0}, {0, 0}}, {{1, 0}, {0, 1}}, {{0, 0}, {0, 0}}, {{0, 0}, {0, 0}}}, {{{0, 0}, {0, 0}}, {{0, 0}, {0, 0}}, {{0, 0}, {0, 0}}, {{0, 0}, {0, 0}}, {{0, 0}, {0, 0}}, {{1, 0}, {0, 1}}, {{0, 0}, {0, 0}}}, {{{0, 0}, {0, 0}}, {{0, 0}, {0, 0}}, {{0, 0}, {0, 0}}, {{0, 0}, {0, 0}}, {{0, 0}, {0, 0}}, {{0, 0}, {0, 0}}, {{1, 0}, {0, 1}}}}</a:t>
                      </a:r>
                      <a:endParaRPr lang="en-US" sz="1100"/>
                    </a:p>
                  </a:txBody>
                  <a:tcPr>
                    <a:lnL>
                      <a:noFill/>
                    </a:lnL>
                    <a:lnR>
                      <a:noFill/>
                    </a:lnR>
                    <a:lnT>
                      <a:noFill/>
                    </a:lnT>
                    <a:lnB>
                      <a:noFill/>
                    </a:lnB>
                  </a:tcPr>
                </a:tc>
              </a:tr>
            </a:tbl>
          </a:graphicData>
        </a:graphic>
      </p:graphicFrame>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Coefficient Form PDE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614974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Coefficient Form PDE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716908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Source term</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{1, 1, 1, 1, 1, 1, 1}</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source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Coefficient Form PDE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8024632"/>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Coefficient Form PDE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5212304"/>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Coefficient Form PDE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943041"/>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Damping or 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{{1, 0, 0, 0, 0, 0, 0}, {0, 1, 0, 0, 0, 0, 0}, {0, 0, 1, 0, 0, 0, 0}, {0, 0, 0, 1, 0, 0, 0}, {0, 0, 0, 0, 1, 0, 0}, {0, 0, 0, 0, 0, 1, 0}, {0, 0, 0, 0, 0, 0, 1}}</a:t>
                      </a:r>
                      <a:endParaRPr lang="en-US" sz="1100"/>
                    </a:p>
                  </a:txBody>
                  <a:tcPr>
                    <a:lnL>
                      <a:noFill/>
                    </a:lnL>
                    <a:lnR>
                      <a:noFill/>
                    </a:lnR>
                    <a:lnT>
                      <a:noFill/>
                    </a:lnT>
                    <a:lnB>
                      <a:noFill/>
                    </a:lnB>
                  </a:tcPr>
                </a:tc>
              </a:tr>
            </a:tbl>
          </a:graphicData>
        </a:graphic>
      </p:graphicFrame>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5" name="AutoShape 5"/>
          <p:cNvSpPr/>
          <p:nvPr/>
        </p:nvSpPr>
        <p:spPr>
          <a:xfrm flipH="false" flipV="false" rot="0">
            <a:off x="838200" y="1825625"/>
            <a:ext cx="5181600" cy="649288"/>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true" i="false" lang="en-US" sz="3200" u="none">
                <a:latin typeface="Calibri Light"/>
              </a:rPr>
              <a:t>Zero Flux 1</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Zero Flux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9" name="Table 9"/>
          <p:cNvGraphicFramePr>
            <a:graphicFrameLocks noGrp="true"/>
          </p:cNvGraphicFramePr>
          <p:nvPr/>
        </p:nvGraphicFramePr>
        <p:xfrm>
          <a:off x="838200" y="2601912"/>
          <a:ext cx="5232400" cy="1693117"/>
        </p:xfrm>
        <a:graphic>
          <a:graphicData uri="http://schemas.openxmlformats.org/drawingml/2006/table">
            <a:tbl>
              <a:tblPr/>
              <a:tblGrid>
                <a:gridCol w="2537806"/>
                <a:gridCol w="264379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Geometric entity level</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Boundary</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Selection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Geometry geom1: Dimension 1: All boundaries</a:t>
                      </a:r>
                      <a:endParaRPr lang="en-US" sz="1100"/>
                    </a:p>
                  </a:txBody>
                  <a:tcPr>
                    <a:lnL>
                      <a:noFill/>
                    </a:lnL>
                    <a:lnR>
                      <a:noFill/>
                    </a:lnR>
                    <a:lnT>
                      <a:noFill/>
                    </a:lnT>
                    <a:lnB>
                      <a:noFill/>
                    </a:lnB>
                  </a:tcPr>
                </a:tc>
              </a:tr>
            </a:tbl>
          </a:graphicData>
        </a:graphic>
      </p:graphicFrame>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Zero Flux 1</a:t>
            </a:r>
          </a:p>
        </p:txBody>
      </p:sp>
      <p:pic>
        <p:nvPicPr>
          <p:cNvPr id="6" name="Picture 6"/>
          <p:cNvPicPr>
            <a:picLocks noChangeAspect="true"/>
          </p:cNvPicPr>
          <p:nvPr>
            <p:custDataLst>
              <p:tags r:id="rId6"/>
            </p:custDataLst>
          </p:nvPr>
        </p:nvPicPr>
        <p:blipFill>
          <a:blip r:embed="rId2"/>
          <a:stretch>
            <a:fillRect/>
          </a:stretch>
        </p:blipFill>
        <p:spPr>
          <a:xfrm>
            <a:off x="6172200" y="1896289"/>
            <a:ext cx="5181600" cy="3886200"/>
          </a:xfrm>
          <a:prstGeom prst="rect">
            <a:avLst/>
          </a:prstGeom>
        </p:spPr>
      </p:pic>
      <p:sp>
        <p:nvSpPr>
          <p:cNvPr id="5" name="AutoShape 5"/>
          <p:cNvSpPr/>
          <p:nvPr/>
        </p:nvSpPr>
        <p:spPr>
          <a:xfrm flipH="false" flipV="false" rot="0">
            <a:off x="838200" y="1825625"/>
            <a:ext cx="5181600" cy="636796"/>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false" i="true" lang="en-US" sz="2240" u="none">
                <a:latin typeface="Calibri"/>
              </a:rPr>
              <a:t>Equations</a:t>
            </a:r>
          </a:p>
        </p:txBody>
      </p:sp>
      <p:pic>
        <p:nvPicPr>
          <p:cNvPr id="9" name="Picture 9"/>
          <p:cNvPicPr>
            <a:picLocks noChangeAspect="true"/>
          </p:cNvPicPr>
          <p:nvPr/>
        </p:nvPicPr>
        <p:blipFill>
          <a:blip r:embed="rId3"/>
          <a:stretch>
            <a:fillRect/>
          </a:stretch>
        </p:blipFill>
        <p:spPr>
          <a:xfrm>
            <a:off x="965200" y="2652921"/>
            <a:ext cx="2171700" cy="254000"/>
          </a:xfrm>
          <a:prstGeom prst="rect">
            <a:avLst/>
          </a:prstGeom>
        </p:spPr>
      </p:pic>
      <p:pic>
        <p:nvPicPr>
          <p:cNvPr id="11" name="Picture 11"/>
          <p:cNvPicPr>
            <a:picLocks noChangeAspect="true"/>
          </p:cNvPicPr>
          <p:nvPr/>
        </p:nvPicPr>
        <p:blipFill>
          <a:blip r:embed="rId4"/>
          <a:stretch>
            <a:fillRect/>
          </a:stretch>
        </p:blipFill>
        <p:spPr>
          <a:xfrm>
            <a:off x="965200" y="3287921"/>
            <a:ext cx="2603500" cy="266700"/>
          </a:xfrm>
          <a:prstGeom prst="rect">
            <a:avLst/>
          </a:prstGeom>
        </p:spPr>
      </p:pic>
      <p:pic>
        <p:nvPicPr>
          <p:cNvPr id="13" name="Picture 13"/>
          <p:cNvPicPr>
            <a:picLocks noChangeAspect="true"/>
          </p:cNvPicPr>
          <p:nvPr/>
        </p:nvPicPr>
        <p:blipFill>
          <a:blip r:embed="rId5"/>
          <a:stretch>
            <a:fillRect/>
          </a:stretch>
        </p:blipFill>
        <p:spPr>
          <a:xfrm>
            <a:off x="965200" y="3935621"/>
            <a:ext cx="1104900" cy="508000"/>
          </a:xfrm>
          <a:prstGeom prst="rect">
            <a:avLst/>
          </a:prstGeom>
        </p:spPr>
      </p:pic>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5" name="AutoShape 5"/>
          <p:cNvSpPr/>
          <p:nvPr/>
        </p:nvSpPr>
        <p:spPr>
          <a:xfrm flipH="false" flipV="false" rot="0">
            <a:off x="838200" y="1825625"/>
            <a:ext cx="5181600" cy="649288"/>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true" i="false" lang="en-US" sz="3200" u="none">
                <a:latin typeface="Calibri Light"/>
              </a:rPr>
              <a:t>Initial Values 1</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Initial Values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9" name="Table 9"/>
          <p:cNvGraphicFramePr>
            <a:graphicFrameLocks noGrp="true"/>
          </p:cNvGraphicFramePr>
          <p:nvPr/>
        </p:nvGraphicFramePr>
        <p:xfrm>
          <a:off x="838200" y="2601912"/>
          <a:ext cx="5232400" cy="1693117"/>
        </p:xfrm>
        <a:graphic>
          <a:graphicData uri="http://schemas.openxmlformats.org/drawingml/2006/table">
            <a:tbl>
              <a:tblPr/>
              <a:tblGrid>
                <a:gridCol w="2698750"/>
                <a:gridCol w="2482850"/>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Geometric entity level</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Domain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Selection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Geometry geom1: Dimension 2: All domains</a:t>
                      </a:r>
                      <a:endParaRPr lang="en-US" sz="1100"/>
                    </a:p>
                  </a:txBody>
                  <a:tcPr>
                    <a:lnL>
                      <a:noFill/>
                    </a:lnL>
                    <a:lnR>
                      <a:noFill/>
                    </a:lnR>
                    <a:lnT>
                      <a:noFill/>
                    </a:lnT>
                    <a:lnB>
                      <a:noFill/>
                    </a:lnB>
                  </a:tcPr>
                </a:tc>
              </a:tr>
            </a:tbl>
          </a:graphicData>
        </a:graphic>
      </p:graphicFrame>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Initial Values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4208070"/>
        </p:xfrm>
        <a:graphic>
          <a:graphicData uri="http://schemas.openxmlformats.org/drawingml/2006/table">
            <a:tbl>
              <a:tblPr/>
              <a:tblGrid>
                <a:gridCol w="2698750"/>
                <a:gridCol w="2482850"/>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Initial time derivative of phi2</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Initial time derivative of phi3</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Initial time derivative of phi4</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Initial time derivative of phi5</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a:t>
                      </a:r>
                      <a:endParaRPr lang="en-US" sz="1100"/>
                    </a:p>
                  </a:txBody>
                  <a:tcPr>
                    <a:lnL>
                      <a:noFill/>
                    </a:lnL>
                    <a:lnR>
                      <a:noFill/>
                    </a:lnR>
                    <a:lnT>
                      <a:noFill/>
                    </a:lnT>
                    <a:lnB>
                      <a:noFill/>
                    </a:lnB>
                  </a:tcPr>
                </a:tc>
              </a:tr>
            </a:tbl>
          </a:graphicData>
        </a:graphic>
      </p:graphicFrame>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Initial Values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4059382"/>
        </p:xfrm>
        <a:graphic>
          <a:graphicData uri="http://schemas.openxmlformats.org/drawingml/2006/table">
            <a:tbl>
              <a:tblPr/>
              <a:tblGrid>
                <a:gridCol w="2698750"/>
                <a:gridCol w="2482850"/>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Initial time derivative of phi1</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Initial value for phi5</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Initial value for phi6</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Initial value for phi7</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Initial value for phi1</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Initial time derivative of phi6</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a:t>
                      </a:r>
                      <a:endParaRPr lang="en-US" sz="1100"/>
                    </a:p>
                  </a:txBody>
                  <a:tcPr>
                    <a:lnL>
                      <a:noFill/>
                    </a:lnL>
                    <a:lnR>
                      <a:noFill/>
                    </a:lnR>
                    <a:lnT>
                      <a:noFill/>
                    </a:lnT>
                    <a:lnB>
                      <a:noFill/>
                    </a:lnB>
                  </a:tcPr>
                </a:tc>
              </a:tr>
            </a:tbl>
          </a:graphicData>
        </a:graphic>
      </p:graphicFrame>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Initial Values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563768"/>
        </p:xfrm>
        <a:graphic>
          <a:graphicData uri="http://schemas.openxmlformats.org/drawingml/2006/table">
            <a:tbl>
              <a:tblPr/>
              <a:tblGrid>
                <a:gridCol w="2698750"/>
                <a:gridCol w="2482850"/>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Initial value for phi2</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Initial time derivative of phi7</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Initial value for phi3</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Initial value for phi4</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a:t>
                      </a:r>
                      <a:endParaRPr lang="en-US" sz="1100"/>
                    </a:p>
                  </a:txBody>
                  <a:tcPr>
                    <a:lnL>
                      <a:noFill/>
                    </a:lnL>
                    <a:lnR>
                      <a:noFill/>
                    </a:lnR>
                    <a:lnT>
                      <a:noFill/>
                    </a:lnT>
                    <a:lnB>
                      <a:noFill/>
                    </a:lnB>
                  </a:tcPr>
                </a:tc>
              </a:tr>
            </a:tbl>
          </a:graphicData>
        </a:graphic>
      </p:graphicFrame>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5" name="AutoShape 5"/>
          <p:cNvSpPr/>
          <p:nvPr/>
        </p:nvSpPr>
        <p:spPr>
          <a:xfrm flipH="false" flipV="false" rot="0">
            <a:off x="838200" y="1825625"/>
            <a:ext cx="5181600" cy="649288"/>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true" i="false" lang="en-US" sz="3200" u="none">
                <a:latin typeface="Calibri Light"/>
              </a:rPr>
              <a:t>UO2_PDE</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UO2_PDE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9" name="Table 9"/>
          <p:cNvGraphicFramePr>
            <a:graphicFrameLocks noGrp="true"/>
          </p:cNvGraphicFramePr>
          <p:nvPr/>
        </p:nvGraphicFramePr>
        <p:xfrm>
          <a:off x="838200" y="2601912"/>
          <a:ext cx="5232400" cy="17399060"/>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Geometric entity level</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Domain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Name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UO2</a:t>
                      </a:r>
                      <a:endParaRPr lang="en-US" sz="1100"/>
                    </a:p>
                  </a:txBody>
                  <a:tcPr>
                    <a:lnL>
                      <a:noFill/>
                    </a:lnL>
                    <a:lnR>
                      <a:noFill/>
                    </a:lnR>
                    <a:lnT>
                      <a:noFill/>
                    </a:lnT>
                    <a:lnB>
                      <a:noFill/>
                    </a:lnB>
                  </a:tcPr>
                </a:tc>
              </a:tr>
            </a:tbl>
          </a:graphicData>
        </a:graphic>
      </p:graphicFrame>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UO2_PDE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6610305"/>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Selection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Named sel1: Geometry geom1: Dimension 2: Domains 1–17, 52–68, 103–107, 109–110, 112–113, 115–119, 154–156, 158–166, 168–170, 205–221, 256–257, 259–260, 262–263, 265–266, 268–269, 271–272, 307–323, 358–374, 409–410, 412–413, 415–416, 418–419, 421–422, 424–425, 460–476, 511–527, 562–563, 565–566, 568–569, 571–572, 574–575, 577–578, 613–629, 664–666, 668–676, 678–680, 715–719, 721–722, 724–725, 727–731, 766–782, 817–833, 885–901, 936–952, 987–991, 993–994, 996–997, 999–1003, 1038–1040, 1042–1050, 1052–1054, 1089–1105, 1140–1141, 1143–1144, 1146–1147, 1149–1150, 1152–1153, 1155–1156, 1191–1207, 1242–1258, 1293–1294, 1296–1297, 1299–1300, 1302–1303, 1305–1306, 1308–1309, 1344–1360, 1395–1411, 1446–1447, 1449–1450, 1452–1453, 1455–1456, 1458–1459, 1461–1462, 1497–1513, 1548–1550, 1552–1560, 1562–1564, 1599–1603, 1605–1606, 1608–1609, 1611–1615, 1650–1666, 1701–1717</a:t>
                      </a:r>
                      <a:endParaRPr lang="en-US" sz="1100"/>
                    </a:p>
                  </a:txBody>
                  <a:tcPr>
                    <a:lnL>
                      <a:noFill/>
                    </a:lnL>
                    <a:lnR>
                      <a:noFill/>
                    </a:lnR>
                    <a:lnT>
                      <a:noFill/>
                    </a:lnT>
                    <a:lnB>
                      <a:noFill/>
                    </a:lnB>
                  </a:tcPr>
                </a:tc>
              </a:tr>
            </a:tbl>
          </a:graphicData>
        </a:graphic>
      </p:graphicFrame>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UO2_PDE</a:t>
            </a:r>
          </a:p>
        </p:txBody>
      </p:sp>
      <p:pic>
        <p:nvPicPr>
          <p:cNvPr id="6" name="Picture 6"/>
          <p:cNvPicPr>
            <a:picLocks noChangeAspect="true"/>
          </p:cNvPicPr>
          <p:nvPr>
            <p:custDataLst>
              <p:tags r:id="rId6"/>
            </p:custDataLst>
          </p:nvPr>
        </p:nvPicPr>
        <p:blipFill>
          <a:blip r:embed="rId2"/>
          <a:stretch>
            <a:fillRect/>
          </a:stretch>
        </p:blipFill>
        <p:spPr>
          <a:xfrm>
            <a:off x="6172200" y="1896289"/>
            <a:ext cx="5181600" cy="3886200"/>
          </a:xfrm>
          <a:prstGeom prst="rect">
            <a:avLst/>
          </a:prstGeom>
        </p:spPr>
      </p:pic>
      <p:sp>
        <p:nvSpPr>
          <p:cNvPr id="5" name="AutoShape 5"/>
          <p:cNvSpPr/>
          <p:nvPr/>
        </p:nvSpPr>
        <p:spPr>
          <a:xfrm flipH="false" flipV="false" rot="0">
            <a:off x="838200" y="1825625"/>
            <a:ext cx="5181600" cy="636796"/>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false" i="true" lang="en-US" sz="2240" u="none">
                <a:latin typeface="Calibri"/>
              </a:rPr>
              <a:t>Equations</a:t>
            </a:r>
          </a:p>
        </p:txBody>
      </p:sp>
      <p:pic>
        <p:nvPicPr>
          <p:cNvPr id="9" name="Picture 9"/>
          <p:cNvPicPr>
            <a:picLocks noChangeAspect="true"/>
          </p:cNvPicPr>
          <p:nvPr/>
        </p:nvPicPr>
        <p:blipFill>
          <a:blip r:embed="rId3"/>
          <a:stretch>
            <a:fillRect/>
          </a:stretch>
        </p:blipFill>
        <p:spPr>
          <a:xfrm>
            <a:off x="965200" y="2652921"/>
            <a:ext cx="4851400" cy="279400"/>
          </a:xfrm>
          <a:prstGeom prst="rect">
            <a:avLst/>
          </a:prstGeom>
        </p:spPr>
      </p:pic>
      <p:pic>
        <p:nvPicPr>
          <p:cNvPr id="11" name="Picture 11"/>
          <p:cNvPicPr>
            <a:picLocks noChangeAspect="true"/>
          </p:cNvPicPr>
          <p:nvPr/>
        </p:nvPicPr>
        <p:blipFill>
          <a:blip r:embed="rId4"/>
          <a:stretch>
            <a:fillRect/>
          </a:stretch>
        </p:blipFill>
        <p:spPr>
          <a:xfrm>
            <a:off x="965200" y="3313321"/>
            <a:ext cx="2603500" cy="266700"/>
          </a:xfrm>
          <a:prstGeom prst="rect">
            <a:avLst/>
          </a:prstGeom>
        </p:spPr>
      </p:pic>
      <p:pic>
        <p:nvPicPr>
          <p:cNvPr id="13" name="Picture 13"/>
          <p:cNvPicPr>
            <a:picLocks noChangeAspect="true"/>
          </p:cNvPicPr>
          <p:nvPr/>
        </p:nvPicPr>
        <p:blipFill>
          <a:blip r:embed="rId5"/>
          <a:stretch>
            <a:fillRect/>
          </a:stretch>
        </p:blipFill>
        <p:spPr>
          <a:xfrm>
            <a:off x="965200" y="3961021"/>
            <a:ext cx="1104900" cy="508000"/>
          </a:xfrm>
          <a:prstGeom prst="rect">
            <a:avLst/>
          </a:prstGeom>
        </p:spPr>
      </p:pic>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UO2_PDE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4273640"/>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Absorption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{{Srem_UO2_g1, -Ss_UO2_g1_to_g2, -Ss_UO2_g1_to_g3, -Ss_UO2_g1_to_g4, -Ss_UO2_g1_to_g5, 0, 0}, {0, Srem_UO2_g2, -Ss_UO2_g2_to_g3, -Ss_UO2_g2_to_g4, -Ss_UO2_g2_to_g5, -Ss_UO2_g2_to_g6, -Ss_UO2_g2_to_g7}, {0, 0, Srem_UO2_g3, -Ss_UO2_g3_to_g4, -Ss_UO2_g3_to_g5, -Ss_UO2_g3_to_g6, -Ss_UO2_g3_to_g7}, {0, 0, 0, Srem_UO2_g4, -Ss_UO2_g4_to_g5, -Ss_UO2_g4_to_g6, -Ss_UO2_g4_to_g7}, {0, 0, 0, -Ss_UO2_g5_to_g4, Srem_UO2_g5, -Ss_UO2_g5_to_g6, -Ss_UO2_g5_to_g7}, {0, 0, 0, 0, -Ss_UO2_g6_to_g5, Srem_UO2_g6, -Ss_UO2_g6_to_g7}, {0, 0, 0, 0, 0, -Ss_UO2_g7_to_g6, Srem_UO2_g7}}</a:t>
                      </a:r>
                      <a:endParaRPr lang="en-US" sz="1100"/>
                    </a:p>
                  </a:txBody>
                  <a:tcPr>
                    <a:lnL>
                      <a:noFill/>
                    </a:lnL>
                    <a:lnR>
                      <a:noFill/>
                    </a:lnR>
                    <a:lnT>
                      <a:noFill/>
                    </a:lnT>
                    <a:lnB>
                      <a:noFill/>
                    </a:lnB>
                  </a:tcPr>
                </a:tc>
              </a:tr>
            </a:tbl>
          </a:graphicData>
        </a:graphic>
      </p:graphicFrame>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UO2_PDE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8961464"/>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Diffusion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{{{{D_UO2_g1, 0}, {0, D_UO2_g1}}, {{0, 0}, {0, 0}}, {{0, 0}, {0, 0}}, {{0, 0}, {0, 0}}, {{0, 0}, {0, 0}}, {{0, 0}, {0, 0}}, {{0, 0}, {0, 0}}}, {{{0, 0}, {0, 0}}, {{D_UO2_g2, 0}, {0, D_UO2_g2}}, {{0, 0}, {0, 0}}, {{0, 0}, {0, 0}}, {{0, 0}, {0, 0}}, {{0, 0}, {0, 0}}, {{0, 0}, {0, 0}}}, {{{0, 0}, {0, 0}}, {{0, 0}, {0, 0}}, {{D_UO2_g3, 0}, {0, D_UO2_g3}}, {{0, 0}, {0, 0}}, {{0, 0}, {0, 0}}, {{0, 0}, {0, 0}}, {{0, 0}, {0, 0}}}, {{{0, 0}, {0, 0}}, {{0, 0}, {0, 0}}, {{0, 0}, {0, 0}}, {{D_UO2_g4, 0}, {0, D_UO2_g4}}, {{0, 0}, {0, 0}}, {{0, 0}, {0, 0}}, {{0, 0}, {0, 0}}}, {{{0, 0}, {0, 0}}, {{0, 0}, {0, 0}}, {{0, 0}, {0, 0}}, {{0, 0}, {0, 0}}, {{D_UO2_g5, 0}, {0, D_UO2_g5}}, {{0, 0}, {0, 0}}, {{0, 0}, {0, 0}}}, {{{0, 0}, {0, 0}}, {{0, 0}, {0, 0}}, {{0, 0}, {0, 0}}, {{0, 0}, {0, 0}}, {{0, 0}, {0, 0}}, {{D_UO2_g6, 0}, {0, D_UO2_g6}}, {{0, 0}, {0, 0}}}, {{{0, 0}, {0, 0}}, {{0, 0}, {0, 0}}, {{0, 0}, {0, 0}}, {{0, 0}, {0, 0}}, {{0, 0}, {0, 0}}, {{0, 0}, {0, 0}}, {{D_UO2_g7, 0}, {0, D_UO2_g7}}}}</a:t>
                      </a:r>
                      <a:endParaRPr lang="en-US" sz="1100"/>
                    </a:p>
                  </a:txBody>
                  <a:tcPr>
                    <a:lnL>
                      <a:noFill/>
                    </a:lnL>
                    <a:lnR>
                      <a:noFill/>
                    </a:lnR>
                    <a:lnT>
                      <a:noFill/>
                    </a:lnT>
                    <a:lnB>
                      <a:noFill/>
                    </a:lnB>
                  </a:tcPr>
                </a:tc>
              </a:tr>
            </a:tbl>
          </a:graphicData>
        </a:graphic>
      </p:graphicFrame>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UO2_PDE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614974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UO2_PDE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716908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Source term</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source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UO2_PDE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8024632"/>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UO2_PDE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0523869"/>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UO2_PDE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825460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Damping or 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{{Chi_g1*NuSigF_UO2_g1, Chi_g2*NuSigF_UO2_g1, Chi_g3*NuSigF_UO2_g1, Chi_g4*NuSigF_UO2_g1, 0, 0, 0}, {Chi_g1*NuSigF_UO2_g2, Chi_g2*NuSigF_UO2_g2, Chi_g3*NuSigF_UO2_g2, Chi_g4*NuSigF_UO2_g2, 0, 0, 0}, {Chi_g1*NuSigF_UO2_g3, Chi_g2*NuSigF_UO2_g3, Chi_g3*NuSigF_UO2_g3, Chi_g4*NuSigF_UO2_g3, 0, 0, 0}, {Chi_g1*NuSigF_UO2_g4, Chi_g2*NuSigF_UO2_g4, Chi_g3*NuSigF_UO2_g4, Chi_g4*NuSigF_UO2_g4, 0, 0, 0}, {Chi_g1*NuSigF_UO2_g5, Chi_g2*NuSigF_UO2_g5, Chi_g3*NuSigF_UO2_g5, Chi_g4*NuSigF_UO2_g5, 0, 0, 0}, {Chi_g1*NuSigF_UO2_g6, Chi_g2*NuSigF_UO2_g6, Chi_g3*NuSigF_UO2_g6, Chi_g4*NuSigF_UO2_g6, 0, 0, 0}, {Chi_g1*NuSigF_UO2_g7, Chi_g2*NuSigF_UO2_g7, Chi_g3*NuSigF_UO2_g7, Chi_g4*NuSigF_UO2_g7, 0, 0, 0}}</a:t>
                      </a:r>
                      <a:endParaRPr lang="en-US" sz="1100"/>
                    </a:p>
                  </a:txBody>
                  <a:tcPr>
                    <a:lnL>
                      <a:noFill/>
                    </a:lnL>
                    <a:lnR>
                      <a:noFill/>
                    </a:lnR>
                    <a:lnT>
                      <a:noFill/>
                    </a:lnT>
                    <a:lnB>
                      <a:noFill/>
                    </a:lnB>
                  </a:tcPr>
                </a:tc>
              </a:tr>
            </a:tbl>
          </a:graphicData>
        </a:graphic>
      </p:graphicFrame>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5" name="AutoShape 5"/>
          <p:cNvSpPr/>
          <p:nvPr/>
        </p:nvSpPr>
        <p:spPr>
          <a:xfrm flipH="false" flipV="false" rot="0">
            <a:off x="838200" y="1825625"/>
            <a:ext cx="5181600" cy="649288"/>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true" i="false" lang="en-US" sz="3200" u="none">
                <a:latin typeface="Calibri Light"/>
              </a:rPr>
              <a:t>MOX %4.3_PDE</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%4.3_PDE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9" name="Table 9"/>
          <p:cNvGraphicFramePr>
            <a:graphicFrameLocks noGrp="true"/>
          </p:cNvGraphicFramePr>
          <p:nvPr/>
        </p:nvGraphicFramePr>
        <p:xfrm>
          <a:off x="838200" y="2601912"/>
          <a:ext cx="5232400" cy="8337113"/>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Geometric entity level</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Domain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Name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MOX %4.3</a:t>
                      </a:r>
                      <a:endParaRPr lang="en-US" sz="1100"/>
                    </a:p>
                  </a:txBody>
                  <a:tcPr>
                    <a:lnL>
                      <a:noFill/>
                    </a:lnL>
                    <a:lnR>
                      <a:noFill/>
                    </a:lnR>
                    <a:lnT>
                      <a:noFill/>
                    </a:lnT>
                    <a:lnB>
                      <a:noFill/>
                    </a:lnB>
                  </a:tcPr>
                </a:tc>
              </a:tr>
            </a:tbl>
          </a:graphicData>
        </a:graphic>
      </p:graphicFrame>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%4.3_PDE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7548358"/>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Selection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Named sel2: Geometry geom1: Dimension 2: Domains 18–34, 69, 85, 120, 136, 171, 187, 222, 238, 273, 289, 324, 340, 375, 391, 426, 442, 477, 493, 528, 544, 579, 595, 630, 646, 681, 697, 732, 748, 783, 799, 834–850, 868–884, 919, 935, 970, 986, 1021, 1037, 1072, 1088, 1123, 1139, 1174, 1190, 1225, 1241, 1276, 1292, 1327, 1343, 1378, 1394, 1429, 1445, 1480, 1496, 1531, 1547, 1582, 1598, 1633, 1649, 1684–1700</a:t>
                      </a:r>
                      <a:endParaRPr lang="en-US" sz="1100"/>
                    </a:p>
                  </a:txBody>
                  <a:tcPr>
                    <a:lnL>
                      <a:noFill/>
                    </a:lnL>
                    <a:lnR>
                      <a:noFill/>
                    </a:lnR>
                    <a:lnT>
                      <a:noFill/>
                    </a:lnT>
                    <a:lnB>
                      <a:noFill/>
                    </a:lnB>
                  </a:tcPr>
                </a:tc>
              </a:tr>
            </a:tbl>
          </a:graphicData>
        </a:graphic>
      </p:graphicFrame>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%4.3_PDE</a:t>
            </a:r>
          </a:p>
        </p:txBody>
      </p:sp>
      <p:pic>
        <p:nvPicPr>
          <p:cNvPr id="6" name="Picture 6"/>
          <p:cNvPicPr>
            <a:picLocks noChangeAspect="true"/>
          </p:cNvPicPr>
          <p:nvPr>
            <p:custDataLst>
              <p:tags r:id="rId6"/>
            </p:custDataLst>
          </p:nvPr>
        </p:nvPicPr>
        <p:blipFill>
          <a:blip r:embed="rId2"/>
          <a:stretch>
            <a:fillRect/>
          </a:stretch>
        </p:blipFill>
        <p:spPr>
          <a:xfrm>
            <a:off x="6172200" y="1896289"/>
            <a:ext cx="5181600" cy="3886200"/>
          </a:xfrm>
          <a:prstGeom prst="rect">
            <a:avLst/>
          </a:prstGeom>
        </p:spPr>
      </p:pic>
      <p:sp>
        <p:nvSpPr>
          <p:cNvPr id="5" name="AutoShape 5"/>
          <p:cNvSpPr/>
          <p:nvPr/>
        </p:nvSpPr>
        <p:spPr>
          <a:xfrm flipH="false" flipV="false" rot="0">
            <a:off x="838200" y="1825625"/>
            <a:ext cx="5181600" cy="636796"/>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false" i="true" lang="en-US" sz="2240" u="none">
                <a:latin typeface="Calibri"/>
              </a:rPr>
              <a:t>Equations</a:t>
            </a:r>
          </a:p>
        </p:txBody>
      </p:sp>
      <p:pic>
        <p:nvPicPr>
          <p:cNvPr id="9" name="Picture 9"/>
          <p:cNvPicPr>
            <a:picLocks noChangeAspect="true"/>
          </p:cNvPicPr>
          <p:nvPr/>
        </p:nvPicPr>
        <p:blipFill>
          <a:blip r:embed="rId3"/>
          <a:stretch>
            <a:fillRect/>
          </a:stretch>
        </p:blipFill>
        <p:spPr>
          <a:xfrm>
            <a:off x="965200" y="2652921"/>
            <a:ext cx="4851400" cy="279400"/>
          </a:xfrm>
          <a:prstGeom prst="rect">
            <a:avLst/>
          </a:prstGeom>
        </p:spPr>
      </p:pic>
      <p:pic>
        <p:nvPicPr>
          <p:cNvPr id="11" name="Picture 11"/>
          <p:cNvPicPr>
            <a:picLocks noChangeAspect="true"/>
          </p:cNvPicPr>
          <p:nvPr/>
        </p:nvPicPr>
        <p:blipFill>
          <a:blip r:embed="rId4"/>
          <a:stretch>
            <a:fillRect/>
          </a:stretch>
        </p:blipFill>
        <p:spPr>
          <a:xfrm>
            <a:off x="965200" y="3313321"/>
            <a:ext cx="2603500" cy="266700"/>
          </a:xfrm>
          <a:prstGeom prst="rect">
            <a:avLst/>
          </a:prstGeom>
        </p:spPr>
      </p:pic>
      <p:pic>
        <p:nvPicPr>
          <p:cNvPr id="13" name="Picture 13"/>
          <p:cNvPicPr>
            <a:picLocks noChangeAspect="true"/>
          </p:cNvPicPr>
          <p:nvPr/>
        </p:nvPicPr>
        <p:blipFill>
          <a:blip r:embed="rId5"/>
          <a:stretch>
            <a:fillRect/>
          </a:stretch>
        </p:blipFill>
        <p:spPr>
          <a:xfrm>
            <a:off x="965200" y="3961021"/>
            <a:ext cx="1104900" cy="508000"/>
          </a:xfrm>
          <a:prstGeom prst="rect">
            <a:avLst/>
          </a:prstGeom>
        </p:spPr>
      </p:pic>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%4.3_PDE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958581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Absorption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{{Srem_MOX43_g1, -Ss_MOX43_g1_to_g2, -Ss_MOX43_g1_to_g3, -Ss_MOX43_g1_to_g4, -Ss_MOX43_g1_to_g5, 0, 0}, {0, Srem_MOX43_g2, -Ss_MOX43_g2_to_g3, -Ss_MOX43_g2_to_g4, -Ss_MOX43_g2_to_g5, -Ss_MOX43_g2_to_g6, -Ss_MOX43_g2_to_g7}, {0, 0, Srem_MOX43_g3, -Ss_MOX43_g3_to_g4, -Ss_MOX43_g3_to_g5, -Ss_MOX43_g3_to_g6, -Ss_MOX43_g3_to_g7}, {0, 0, 0, Srem_MOX43_g4, -Ss_MOX43_g4_to_g5, -Ss_MOX43_g4_to_g6, -Ss_MOX43_g4_to_g7}, {0, 0, 0, -Ss_MOX43_g5_to_g4, Srem_MOX43_g5, -Ss_MOX43_g5_to_g6, -Ss_MOX43_g5_to_g7}, {0, 0, 0, 0, -Ss_MOX43_g6_to_g5, Srem_MOX43_g6, -Ss_MOX43_g6_to_g7}, {0, 0, 0, 0, 0, -Ss_MOX43_g7_to_g6, Srem_MOX43_g7}}</a:t>
                      </a:r>
                      <a:endParaRPr lang="en-US" sz="1100"/>
                    </a:p>
                  </a:txBody>
                  <a:tcPr>
                    <a:lnL>
                      <a:noFill/>
                    </a:lnL>
                    <a:lnR>
                      <a:noFill/>
                    </a:lnR>
                    <a:lnT>
                      <a:noFill/>
                    </a:lnT>
                    <a:lnB>
                      <a:noFill/>
                    </a:lnB>
                  </a:tcPr>
                </a:tc>
              </a:tr>
            </a:tbl>
          </a:graphicData>
        </a:graphic>
      </p:graphicFrame>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%4.3_PDE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958642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Diffusion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{{{{D_MOX43_g1, 0}, {0, D_MOX43_g1}}, {{0, 0}, {0, 0}}, {{0, 0}, {0, 0}}, {{0, 0}, {0, 0}}, {{0, 0}, {0, 0}}, {{0, 0}, {0, 0}}, {{0, 0}, {0, 0}}}, {{{0, 0}, {0, 0}}, {{D_MOX43_g2, 0}, {0, D_MOX43_g2}}, {{0, 0}, {0, 0}}, {{0, 0}, {0, 0}}, {{0, 0}, {0, 0}}, {{0, 0}, {0, 0}}, {{0, 0}, {0, 0}}}, {{{0, 0}, {0, 0}}, {{0, 0}, {0, 0}}, {{D_MOX43_g3, 0}, {0, D_MOX43_g3}}, {{0, 0}, {0, 0}}, {{0, 0}, {0, 0}}, {{0, 0}, {0, 0}}, {{0, 0}, {0, 0}}}, {{{0, 0}, {0, 0}}, {{0, 0}, {0, 0}}, {{0, 0}, {0, 0}}, {{D_MOX43_g4, 0}, {0, D_MOX43_g4}}, {{0, 0}, {0, 0}}, {{0, 0}, {0, 0}}, {{0, 0}, {0, 0}}}, {{{0, 0}, {0, 0}}, {{0, 0}, {0, 0}}, {{0, 0}, {0, 0}}, {{0, 0}, {0, 0}}, {{D_MOX43_g5, 0}, {0, D_MOX43_g5}}, {{0, 0}, {0, 0}}, {{0, 0}, {0, 0}}}, {{{0, 0}, {0, 0}}, {{0, 0}, {0, 0}}, {{0, 0}, {0, 0}}, {{0, 0}, {0, 0}}, {{0, 0}, {0, 0}}, {{D_MOX43_g6, 0}, {0, D_MOX43_g6}}, {{0, 0}, {0, 0}}}, {{{0, 0}, {0, 0}}, {{0, 0}, {0, 0}}, {{0, 0}, {0, 0}}, {{0, 0}, {0, 0}}, {{0, 0}, {0, 0}}, {{0, 0}, {0, 0}}, {{D_MOX43_g7, 0}, {0, D_MOX43_g7}}}}</a:t>
                      </a:r>
                      <a:endParaRPr lang="en-US" sz="1100"/>
                    </a:p>
                  </a:txBody>
                  <a:tcPr>
                    <a:lnL>
                      <a:noFill/>
                    </a:lnL>
                    <a:lnR>
                      <a:noFill/>
                    </a:lnR>
                    <a:lnT>
                      <a:noFill/>
                    </a:lnT>
                    <a:lnB>
                      <a:noFill/>
                    </a:lnB>
                  </a:tcPr>
                </a:tc>
              </a:tr>
            </a:tbl>
          </a:graphicData>
        </a:graphic>
      </p:graphicFrame>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%4.3_PDE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614974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%4.3_PDE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716908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Source term</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source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%4.3_PDE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8024632"/>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%4.3_PDE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0523869"/>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%4.3_PDE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825460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Damping or 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{{Chi_g1*NuSigF_MOX43_g1, Chi_g2*NuSigF_MOX43_g1, Chi_g3*NuSigF_MOX43_g1, Chi_g4*NuSigF_MOX43_g1, 0, 0, 0}, {Chi_g1*NuSigF_MOX43_g2, Chi_g2*NuSigF_MOX43_g2, Chi_g3*NuSigF_MOX43_g2, Chi_g4*NuSigF_MOX43_g2, 0, 0, 0}, {Chi_g1*NuSigF_MOX43_g3, Chi_g2*NuSigF_MOX43_g3, Chi_g3*NuSigF_MOX43_g3, Chi_g4*NuSigF_MOX43_g3, 0, 0, 0}, {Chi_g1*NuSigF_MOX43_g4, Chi_g2*NuSigF_MOX43_g4, Chi_g3*NuSigF_MOX43_g4, Chi_g4*NuSigF_MOX43_g4, 0, 0, 0}, {Chi_g1*NuSigF_MOX43_g5, Chi_g2*NuSigF_MOX43_g5, Chi_g3*NuSigF_MOX43_g5, Chi_g4*NuSigF_MOX43_g5, 0, 0, 0}, {Chi_g1*NuSigF_MOX43_g6, Chi_g2*NuSigF_MOX43_g6, Chi_g3*NuSigF_MOX43_g6, Chi_g4*NuSigF_MOX43_g6, 0, 0, 0}, {Chi_g1*NuSigF_MOX43_g7, Chi_g2*NuSigF_MOX43_g7, Chi_g3*NuSigF_MOX43_g7, Chi_g4*NuSigF_MOX43_g7, 0, 0, 0}}</a:t>
                      </a:r>
                      <a:endParaRPr lang="en-US" sz="1100"/>
                    </a:p>
                  </a:txBody>
                  <a:tcPr>
                    <a:lnL>
                      <a:noFill/>
                    </a:lnL>
                    <a:lnR>
                      <a:noFill/>
                    </a:lnR>
                    <a:lnT>
                      <a:noFill/>
                    </a:lnT>
                    <a:lnB>
                      <a:noFill/>
                    </a:lnB>
                  </a:tcPr>
                </a:tc>
              </a:tr>
            </a:tbl>
          </a:graphicData>
        </a:graphic>
      </p:graphicFrame>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5" name="AutoShape 5"/>
          <p:cNvSpPr/>
          <p:nvPr/>
        </p:nvSpPr>
        <p:spPr>
          <a:xfrm flipH="false" flipV="false" rot="0">
            <a:off x="838200" y="1825625"/>
            <a:ext cx="5181600" cy="649288"/>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true" i="false" lang="en-US" sz="3200" u="none">
                <a:latin typeface="Calibri Light"/>
              </a:rPr>
              <a:t>MOX %7.0_PDE</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%7.0_PDE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9" name="Table 9"/>
          <p:cNvGraphicFramePr>
            <a:graphicFrameLocks noGrp="true"/>
          </p:cNvGraphicFramePr>
          <p:nvPr/>
        </p:nvGraphicFramePr>
        <p:xfrm>
          <a:off x="838200" y="2601912"/>
          <a:ext cx="5232400" cy="13336808"/>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Geometric entity level</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Domain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Name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MOX %7.0</a:t>
                      </a:r>
                      <a:endParaRPr lang="en-US" sz="1100"/>
                    </a:p>
                  </a:txBody>
                  <a:tcPr>
                    <a:lnL>
                      <a:noFill/>
                    </a:lnL>
                    <a:lnR>
                      <a:noFill/>
                    </a:lnR>
                    <a:lnT>
                      <a:noFill/>
                    </a:lnT>
                    <a:lnB>
                      <a:noFill/>
                    </a:lnB>
                  </a:tcPr>
                </a:tc>
              </a:tr>
            </a:tbl>
          </a:graphicData>
        </a:graphic>
      </p:graphicFrame>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%7.0_PDE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2548053"/>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Selection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Named sel3: Geometry geom1: Dimension 2: Domains 70–84, 121–124, 126–127, 129–130, 132–135, 172–173, 175, 183, 185–186, 223–225, 235–237, 274, 288, 325–326, 338–339, 376–377, 389–390, 427, 441, 478–479, 491–492, 529–530, 542–543, 580, 594, 631–633, 643–645, 682–683, 685, 693, 695–696, 733–736, 738–739, 741–742, 744–747, 784–798, 920–934, 971–974, 976–977, 979–980, 982–985, 1022–1023, 1025, 1033, 1035–1036, 1073–1075, 1085–1087, 1124, 1138, 1175–1176, 1188–1189, 1226–1227, 1239–1240, 1277, 1291, 1328–1329, 1341–1342, 1379–1380, 1392–1393, 1430, 1444, 1481–1483, 1493–1495, 1532–1533, 1535, 1543, 1545–1546, 1583–1586, 1588–1589, 1591–1592, 1594–1597, 1634–1648</a:t>
                      </a:r>
                      <a:endParaRPr lang="en-US" sz="1100"/>
                    </a:p>
                  </a:txBody>
                  <a:tcPr>
                    <a:lnL>
                      <a:noFill/>
                    </a:lnL>
                    <a:lnR>
                      <a:noFill/>
                    </a:lnR>
                    <a:lnT>
                      <a:noFill/>
                    </a:lnT>
                    <a:lnB>
                      <a:noFill/>
                    </a:lnB>
                  </a:tcPr>
                </a:tc>
              </a:tr>
            </a:tbl>
          </a:graphicData>
        </a:graphic>
      </p:graphicFrame>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%7.0_PDE</a:t>
            </a:r>
          </a:p>
        </p:txBody>
      </p:sp>
      <p:pic>
        <p:nvPicPr>
          <p:cNvPr id="6" name="Picture 6"/>
          <p:cNvPicPr>
            <a:picLocks noChangeAspect="true"/>
          </p:cNvPicPr>
          <p:nvPr>
            <p:custDataLst>
              <p:tags r:id="rId6"/>
            </p:custDataLst>
          </p:nvPr>
        </p:nvPicPr>
        <p:blipFill>
          <a:blip r:embed="rId2"/>
          <a:stretch>
            <a:fillRect/>
          </a:stretch>
        </p:blipFill>
        <p:spPr>
          <a:xfrm>
            <a:off x="6172200" y="1896289"/>
            <a:ext cx="5181600" cy="3886200"/>
          </a:xfrm>
          <a:prstGeom prst="rect">
            <a:avLst/>
          </a:prstGeom>
        </p:spPr>
      </p:pic>
      <p:sp>
        <p:nvSpPr>
          <p:cNvPr id="5" name="AutoShape 5"/>
          <p:cNvSpPr/>
          <p:nvPr/>
        </p:nvSpPr>
        <p:spPr>
          <a:xfrm flipH="false" flipV="false" rot="0">
            <a:off x="838200" y="1825625"/>
            <a:ext cx="5181600" cy="636796"/>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false" i="true" lang="en-US" sz="2240" u="none">
                <a:latin typeface="Calibri"/>
              </a:rPr>
              <a:t>Equations</a:t>
            </a:r>
          </a:p>
        </p:txBody>
      </p:sp>
      <p:pic>
        <p:nvPicPr>
          <p:cNvPr id="9" name="Picture 9"/>
          <p:cNvPicPr>
            <a:picLocks noChangeAspect="true"/>
          </p:cNvPicPr>
          <p:nvPr/>
        </p:nvPicPr>
        <p:blipFill>
          <a:blip r:embed="rId3"/>
          <a:stretch>
            <a:fillRect/>
          </a:stretch>
        </p:blipFill>
        <p:spPr>
          <a:xfrm>
            <a:off x="965200" y="2652921"/>
            <a:ext cx="4851400" cy="279400"/>
          </a:xfrm>
          <a:prstGeom prst="rect">
            <a:avLst/>
          </a:prstGeom>
        </p:spPr>
      </p:pic>
      <p:pic>
        <p:nvPicPr>
          <p:cNvPr id="11" name="Picture 11"/>
          <p:cNvPicPr>
            <a:picLocks noChangeAspect="true"/>
          </p:cNvPicPr>
          <p:nvPr/>
        </p:nvPicPr>
        <p:blipFill>
          <a:blip r:embed="rId4"/>
          <a:stretch>
            <a:fillRect/>
          </a:stretch>
        </p:blipFill>
        <p:spPr>
          <a:xfrm>
            <a:off x="965200" y="3313321"/>
            <a:ext cx="2603500" cy="266700"/>
          </a:xfrm>
          <a:prstGeom prst="rect">
            <a:avLst/>
          </a:prstGeom>
        </p:spPr>
      </p:pic>
      <p:pic>
        <p:nvPicPr>
          <p:cNvPr id="13" name="Picture 13"/>
          <p:cNvPicPr>
            <a:picLocks noChangeAspect="true"/>
          </p:cNvPicPr>
          <p:nvPr/>
        </p:nvPicPr>
        <p:blipFill>
          <a:blip r:embed="rId5"/>
          <a:stretch>
            <a:fillRect/>
          </a:stretch>
        </p:blipFill>
        <p:spPr>
          <a:xfrm>
            <a:off x="965200" y="3961021"/>
            <a:ext cx="1104900" cy="508000"/>
          </a:xfrm>
          <a:prstGeom prst="rect">
            <a:avLst/>
          </a:prstGeom>
        </p:spPr>
      </p:pic>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%7.0_PDE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958581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Absorption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{{Srem_MOX70_g1, -Ss_MOX70_g1_to_g2, -Ss_MOX70_g1_to_g3, -Ss_MOX70_g1_to_g4, -Ss_MOX70_g1_to_g5, 0, 0}, {0, Srem_MOX70_g2, -Ss_MOX70_g2_to_g3, -Ss_MOX70_g2_to_g4, -Ss_MOX70_g2_to_g5, -Ss_MOX70_g2_to_g6, -Ss_MOX70_g2_to_g7}, {0, 0, Srem_MOX70_g3, -Ss_MOX70_g3_to_g4, -Ss_MOX70_g3_to_g5, -Ss_MOX70_g3_to_g6, -Ss_MOX70_g3_to_g7}, {0, 0, 0, Srem_MOX70_g4, -Ss_MOX70_g4_to_g5, -Ss_MOX70_g4_to_g6, -Ss_MOX70_g4_to_g7}, {0, 0, 0, -Ss_MOX70_g5_to_g4, Srem_MOX70_g5, -Ss_MOX70_g5_to_g6, -Ss_MOX70_g5_to_g7}, {0, 0, 0, 0, -Ss_MOX70_g6_to_g5, Srem_MOX70_g6, -Ss_MOX70_g6_to_g7}, {0, 0, 0, 0, 0, -Ss_MOX70_g7_to_g6, Srem_MOX70_g7}}</a:t>
                      </a:r>
                      <a:endParaRPr lang="en-US" sz="1100"/>
                    </a:p>
                  </a:txBody>
                  <a:tcPr>
                    <a:lnL>
                      <a:noFill/>
                    </a:lnL>
                    <a:lnR>
                      <a:noFill/>
                    </a:lnR>
                    <a:lnT>
                      <a:noFill/>
                    </a:lnT>
                    <a:lnB>
                      <a:noFill/>
                    </a:lnB>
                  </a:tcPr>
                </a:tc>
              </a:tr>
            </a:tbl>
          </a:graphicData>
        </a:graphic>
      </p:graphicFrame>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%7.0_PDE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958642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Diffusion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{{{{D_MOX70_g1, 0}, {0, D_MOX70_g1}}, {{0, 0}, {0, 0}}, {{0, 0}, {0, 0}}, {{0, 0}, {0, 0}}, {{0, 0}, {0, 0}}, {{0, 0}, {0, 0}}, {{0, 0}, {0, 0}}}, {{{0, 0}, {0, 0}}, {{D_MOX70_g2, 0}, {0, D_MOX70_g2}}, {{0, 0}, {0, 0}}, {{0, 0}, {0, 0}}, {{0, 0}, {0, 0}}, {{0, 0}, {0, 0}}, {{0, 0}, {0, 0}}}, {{{0, 0}, {0, 0}}, {{0, 0}, {0, 0}}, {{D_MOX70_g3, 0}, {0, D_MOX70_g3}}, {{0, 0}, {0, 0}}, {{0, 0}, {0, 0}}, {{0, 0}, {0, 0}}, {{0, 0}, {0, 0}}}, {{{0, 0}, {0, 0}}, {{0, 0}, {0, 0}}, {{0, 0}, {0, 0}}, {{D_MOX70_g4, 0}, {0, D_MOX70_g4}}, {{0, 0}, {0, 0}}, {{0, 0}, {0, 0}}, {{0, 0}, {0, 0}}}, {{{0, 0}, {0, 0}}, {{0, 0}, {0, 0}}, {{0, 0}, {0, 0}}, {{0, 0}, {0, 0}}, {{D_MOX70_g5, 0}, {0, D_MOX70_g5}}, {{0, 0}, {0, 0}}, {{0, 0}, {0, 0}}}, {{{0, 0}, {0, 0}}, {{0, 0}, {0, 0}}, {{0, 0}, {0, 0}}, {{0, 0}, {0, 0}}, {{0, 0}, {0, 0}}, {{D_MOX70_g6, 0}, {0, D_MOX70_g6}}, {{0, 0}, {0, 0}}}, {{{0, 0}, {0, 0}}, {{0, 0}, {0, 0}}, {{0, 0}, {0, 0}}, {{0, 0}, {0, 0}}, {{0, 0}, {0, 0}}, {{0, 0}, {0, 0}}, {{D_MOX70_g7, 0}, {0, D_MOX70_g7}}}}</a:t>
                      </a:r>
                      <a:endParaRPr lang="en-US" sz="1100"/>
                    </a:p>
                  </a:txBody>
                  <a:tcPr>
                    <a:lnL>
                      <a:noFill/>
                    </a:lnL>
                    <a:lnR>
                      <a:noFill/>
                    </a:lnR>
                    <a:lnT>
                      <a:noFill/>
                    </a:lnT>
                    <a:lnB>
                      <a:noFill/>
                    </a:lnB>
                  </a:tcPr>
                </a:tc>
              </a:tr>
            </a:tbl>
          </a:graphicData>
        </a:graphic>
      </p:graphicFrame>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%7.0_PDE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614974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%7.0_PDE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716908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Source term</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source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%7.0_PDE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8024632"/>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%7.0_PDE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0523869"/>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%7.0_PDE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825460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Damping or 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{{Chi_g1*NuSigF_MOX70_g1, Chi_g2*NuSigF_MOX70_g1, Chi_g3*NuSigF_MOX70_g1, Chi_g4*NuSigF_MOX70_g1, 0, 0, 0}, {Chi_g1*NuSigF_MOX70_g2, Chi_g2*NuSigF_MOX70_g2, Chi_g3*NuSigF_MOX70_g2, Chi_g4*NuSigF_MOX70_g2, 0, 0, 0}, {Chi_g1*NuSigF_MOX70_g3, Chi_g2*NuSigF_MOX70_g3, Chi_g3*NuSigF_MOX70_g3, Chi_g4*NuSigF_MOX70_g3, 0, 0, 0}, {Chi_g1*NuSigF_MOX70_g4, Chi_g2*NuSigF_MOX70_g4, Chi_g3*NuSigF_MOX70_g4, Chi_g4*NuSigF_MOX70_g4, 0, 0, 0}, {Chi_g1*NuSigF_MOX70_g5, Chi_g2*NuSigF_MOX70_g5, Chi_g3*NuSigF_MOX70_g5, Chi_g4*NuSigF_MOX70_g5, 0, 0, 0}, {Chi_g1*NuSigF_MOX70_g6, Chi_g2*NuSigF_MOX70_g6, Chi_g3*NuSigF_MOX70_g6, Chi_g4*NuSigF_MOX70_g6, 0, 0, 0}, {Chi_g1*NuSigF_MOX70_g7, Chi_g2*NuSigF_MOX70_g7, Chi_g3*NuSigF_MOX70_g7, Chi_g4*NuSigF_MOX70_g7, 0, 0, 0}}</a:t>
                      </a:r>
                      <a:endParaRPr lang="en-US" sz="1100"/>
                    </a:p>
                  </a:txBody>
                  <a:tcPr>
                    <a:lnL>
                      <a:noFill/>
                    </a:lnL>
                    <a:lnR>
                      <a:noFill/>
                    </a:lnR>
                    <a:lnT>
                      <a:noFill/>
                    </a:lnT>
                    <a:lnB>
                      <a:noFill/>
                    </a:lnB>
                  </a:tcPr>
                </a:tc>
              </a:tr>
            </a:tbl>
          </a:graphicData>
        </a:graphic>
      </p:graphicFrame>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5" name="AutoShape 5"/>
          <p:cNvSpPr/>
          <p:nvPr/>
        </p:nvSpPr>
        <p:spPr>
          <a:xfrm flipH="false" flipV="false" rot="0">
            <a:off x="838200" y="1825625"/>
            <a:ext cx="5181600" cy="649288"/>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true" i="false" lang="en-US" sz="3200" u="none">
                <a:latin typeface="Calibri Light"/>
              </a:rPr>
              <a:t>MOX %8.7_PDE</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%8.7_PDE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9" name="Table 9"/>
          <p:cNvGraphicFramePr>
            <a:graphicFrameLocks noGrp="true"/>
          </p:cNvGraphicFramePr>
          <p:nvPr/>
        </p:nvGraphicFramePr>
        <p:xfrm>
          <a:off x="838200" y="2601912"/>
          <a:ext cx="5232400" cy="9587037"/>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Geometric entity level</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Domain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Name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MOX %8.7</a:t>
                      </a:r>
                      <a:endParaRPr lang="en-US" sz="1100"/>
                    </a:p>
                  </a:txBody>
                  <a:tcPr>
                    <a:lnL>
                      <a:noFill/>
                    </a:lnL>
                    <a:lnR>
                      <a:noFill/>
                    </a:lnR>
                    <a:lnT>
                      <a:noFill/>
                    </a:lnT>
                    <a:lnB>
                      <a:noFill/>
                    </a:lnB>
                  </a:tcPr>
                </a:tc>
              </a:tr>
            </a:tbl>
          </a:graphicData>
        </a:graphic>
      </p:graphicFrame>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%8.7_PDE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8798282"/>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Selection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Named sel4: Geometry geom1: Dimension 2: Domains 176–182, 226–234, 276–277, 279–280, 282–283, 285–286, 327–337, 378–388, 429–430, 432–433, 435–436, 438–439, 480–490, 531–541, 582–583, 585–586, 588–589, 591–592, 634–642, 686–692, 1026–1032, 1076–1084, 1126–1127, 1129–1130, 1132–1133, 1135–1136, 1177–1187, 1228–1238, 1279–1280, 1282–1283, 1285–1286, 1288–1289, 1330–1340, 1381–1391, 1432–1433, 1435–1436, 1438–1439, 1441–1442, 1484–1492, 1536–1542</a:t>
                      </a:r>
                      <a:endParaRPr lang="en-US" sz="1100"/>
                    </a:p>
                  </a:txBody>
                  <a:tcPr>
                    <a:lnL>
                      <a:noFill/>
                    </a:lnL>
                    <a:lnR>
                      <a:noFill/>
                    </a:lnR>
                    <a:lnT>
                      <a:noFill/>
                    </a:lnT>
                    <a:lnB>
                      <a:noFill/>
                    </a:lnB>
                  </a:tcPr>
                </a:tc>
              </a:tr>
            </a:tbl>
          </a:graphicData>
        </a:graphic>
      </p:graphicFrame>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%8.7_PDE</a:t>
            </a:r>
          </a:p>
        </p:txBody>
      </p:sp>
      <p:pic>
        <p:nvPicPr>
          <p:cNvPr id="6" name="Picture 6"/>
          <p:cNvPicPr>
            <a:picLocks noChangeAspect="true"/>
          </p:cNvPicPr>
          <p:nvPr>
            <p:custDataLst>
              <p:tags r:id="rId6"/>
            </p:custDataLst>
          </p:nvPr>
        </p:nvPicPr>
        <p:blipFill>
          <a:blip r:embed="rId2"/>
          <a:stretch>
            <a:fillRect/>
          </a:stretch>
        </p:blipFill>
        <p:spPr>
          <a:xfrm>
            <a:off x="6172200" y="1896289"/>
            <a:ext cx="5181600" cy="3886200"/>
          </a:xfrm>
          <a:prstGeom prst="rect">
            <a:avLst/>
          </a:prstGeom>
        </p:spPr>
      </p:pic>
      <p:sp>
        <p:nvSpPr>
          <p:cNvPr id="5" name="AutoShape 5"/>
          <p:cNvSpPr/>
          <p:nvPr/>
        </p:nvSpPr>
        <p:spPr>
          <a:xfrm flipH="false" flipV="false" rot="0">
            <a:off x="838200" y="1825625"/>
            <a:ext cx="5181600" cy="636796"/>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false" i="true" lang="en-US" sz="2240" u="none">
                <a:latin typeface="Calibri"/>
              </a:rPr>
              <a:t>Equations</a:t>
            </a:r>
          </a:p>
        </p:txBody>
      </p:sp>
      <p:pic>
        <p:nvPicPr>
          <p:cNvPr id="9" name="Picture 9"/>
          <p:cNvPicPr>
            <a:picLocks noChangeAspect="true"/>
          </p:cNvPicPr>
          <p:nvPr/>
        </p:nvPicPr>
        <p:blipFill>
          <a:blip r:embed="rId3"/>
          <a:stretch>
            <a:fillRect/>
          </a:stretch>
        </p:blipFill>
        <p:spPr>
          <a:xfrm>
            <a:off x="965200" y="2652921"/>
            <a:ext cx="4851400" cy="279400"/>
          </a:xfrm>
          <a:prstGeom prst="rect">
            <a:avLst/>
          </a:prstGeom>
        </p:spPr>
      </p:pic>
      <p:pic>
        <p:nvPicPr>
          <p:cNvPr id="11" name="Picture 11"/>
          <p:cNvPicPr>
            <a:picLocks noChangeAspect="true"/>
          </p:cNvPicPr>
          <p:nvPr/>
        </p:nvPicPr>
        <p:blipFill>
          <a:blip r:embed="rId4"/>
          <a:stretch>
            <a:fillRect/>
          </a:stretch>
        </p:blipFill>
        <p:spPr>
          <a:xfrm>
            <a:off x="965200" y="3313321"/>
            <a:ext cx="2603500" cy="266700"/>
          </a:xfrm>
          <a:prstGeom prst="rect">
            <a:avLst/>
          </a:prstGeom>
        </p:spPr>
      </p:pic>
      <p:pic>
        <p:nvPicPr>
          <p:cNvPr id="13" name="Picture 13"/>
          <p:cNvPicPr>
            <a:picLocks noChangeAspect="true"/>
          </p:cNvPicPr>
          <p:nvPr/>
        </p:nvPicPr>
        <p:blipFill>
          <a:blip r:embed="rId5"/>
          <a:stretch>
            <a:fillRect/>
          </a:stretch>
        </p:blipFill>
        <p:spPr>
          <a:xfrm>
            <a:off x="965200" y="3961021"/>
            <a:ext cx="1104900" cy="508000"/>
          </a:xfrm>
          <a:prstGeom prst="rect">
            <a:avLst/>
          </a:prstGeom>
        </p:spPr>
      </p:pic>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%8.7_PDE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8960854"/>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Absorption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{{Srem_MOX87_g1, -Ss_MOX87_g1_to_g2, -Ss_MOX87_g1_to_g3, -Ss_MOX87_g1_to_g4, 0, 0, 0}, {0, Srem_MOX87_g2, -Ss_MOX87_g2_to_g3, -Ss_MOX87_g2_to_g4, -Ss_MOX87_g2_to_g5, -Ss_MOX87_g2_to_g6, -Ss_MOX87_g2_to_g7}, {0, 0, Srem_MOX87_g3, -Ss_MOX87_g3_to_g4, -Ss_MOX87_g3_to_g5, -Ss_MOX87_g3_to_g6, -Ss_MOX87_g3_to_g7}, {0, 0, 0, Srem_MOX87_g4, -Ss_MOX87_g4_to_g5, -Ss_MOX87_g4_to_g6, -Ss_MOX87_g4_to_g7}, {0, 0, 0, -Ss_MOX87_g5_to_g4, Srem_MOX87_g5, -Ss_MOX87_g5_to_g6, -Ss_MOX87_g5_to_g7}, {0, 0, 0, 0, -Ss_MOX87_g6_to_g5, Srem_MOX87_g6, -Ss_MOX87_g6_to_g7}, {0, 0, 0, 0, 0, -Ss_MOX87_g7_to_g6, Srem_MOX87_g7}}</a:t>
                      </a:r>
                      <a:endParaRPr lang="en-US" sz="1100"/>
                    </a:p>
                  </a:txBody>
                  <a:tcPr>
                    <a:lnL>
                      <a:noFill/>
                    </a:lnL>
                    <a:lnR>
                      <a:noFill/>
                    </a:lnR>
                    <a:lnT>
                      <a:noFill/>
                    </a:lnT>
                    <a:lnB>
                      <a:noFill/>
                    </a:lnB>
                  </a:tcPr>
                </a:tc>
              </a:tr>
            </a:tbl>
          </a:graphicData>
        </a:graphic>
      </p:graphicFrame>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%8.7_PDE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958642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Diffusion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{{{{D_MOX87_g1, 0}, {0, D_MOX87_g1}}, {{0, 0}, {0, 0}}, {{0, 0}, {0, 0}}, {{0, 0}, {0, 0}}, {{0, 0}, {0, 0}}, {{0, 0}, {0, 0}}, {{0, 0}, {0, 0}}}, {{{0, 0}, {0, 0}}, {{D_MOX87_g2, 0}, {0, D_MOX87_g2}}, {{0, 0}, {0, 0}}, {{0, 0}, {0, 0}}, {{0, 0}, {0, 0}}, {{0, 0}, {0, 0}}, {{0, 0}, {0, 0}}}, {{{0, 0}, {0, 0}}, {{0, 0}, {0, 0}}, {{D_MOX87_g3, 0}, {0, D_MOX87_g3}}, {{0, 0}, {0, 0}}, {{0, 0}, {0, 0}}, {{0, 0}, {0, 0}}, {{0, 0}, {0, 0}}}, {{{0, 0}, {0, 0}}, {{0, 0}, {0, 0}}, {{0, 0}, {0, 0}}, {{D_MOX87_g4, 0}, {0, D_MOX87_g4}}, {{0, 0}, {0, 0}}, {{0, 0}, {0, 0}}, {{0, 0}, {0, 0}}}, {{{0, 0}, {0, 0}}, {{0, 0}, {0, 0}}, {{0, 0}, {0, 0}}, {{0, 0}, {0, 0}}, {{D_MOX87_g5, 0}, {0, D_MOX87_g5}}, {{0, 0}, {0, 0}}, {{0, 0}, {0, 0}}}, {{{0, 0}, {0, 0}}, {{0, 0}, {0, 0}}, {{0, 0}, {0, 0}}, {{0, 0}, {0, 0}}, {{0, 0}, {0, 0}}, {{D_MOX87_g6, 0}, {0, D_MOX87_g6}}, {{0, 0}, {0, 0}}}, {{{0, 0}, {0, 0}}, {{0, 0}, {0, 0}}, {{0, 0}, {0, 0}}, {{0, 0}, {0, 0}}, {{0, 0}, {0, 0}}, {{0, 0}, {0, 0}}, {{D_MOX87_g7, 0}, {0, D_MOX87_g7}}}}</a:t>
                      </a:r>
                      <a:endParaRPr lang="en-US" sz="1100"/>
                    </a:p>
                  </a:txBody>
                  <a:tcPr>
                    <a:lnL>
                      <a:noFill/>
                    </a:lnL>
                    <a:lnR>
                      <a:noFill/>
                    </a:lnR>
                    <a:lnT>
                      <a:noFill/>
                    </a:lnT>
                    <a:lnB>
                      <a:noFill/>
                    </a:lnB>
                  </a:tcPr>
                </a:tc>
              </a:tr>
            </a:tbl>
          </a:graphicData>
        </a:graphic>
      </p:graphicFrame>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%8.7_PDE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614974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%8.7_PDE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716908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Source term</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source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%8.7_PDE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8024632"/>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%8.7_PDE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0523869"/>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MOX %8.7_PDE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825460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Damping or 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{{Chi_g1*NuSigF_MOX87_g1, Chi_g2*NuSigF_MOX87_g1, Chi_g3*NuSigF_MOX87_g1, Chi_g4*NuSigF_MOX87_g1, 0, 0, 0}, {Chi_g1*NuSigF_MOX87_g2, Chi_g2*NuSigF_MOX87_g2, Chi_g3*NuSigF_MOX87_g2, Chi_g4*NuSigF_MOX87_g2, 0, 0, 0}, {Chi_g1*NuSigF_MOX87_g3, Chi_g2*NuSigF_MOX87_g3, Chi_g3*NuSigF_MOX87_g3, Chi_g4*NuSigF_MOX87_g3, 0, 0, 0}, {Chi_g1*NuSigF_MOX87_g4, Chi_g2*NuSigF_MOX87_g4, Chi_g3*NuSigF_MOX87_g4, Chi_g4*NuSigF_MOX87_g4, 0, 0, 0}, {Chi_g1*NuSigF_MOX87_g5, Chi_g2*NuSigF_MOX87_g5, Chi_g3*NuSigF_MOX87_g5, Chi_g4*NuSigF_MOX87_g5, 0, 0, 0}, {Chi_g1*NuSigF_MOX87_g6, Chi_g2*NuSigF_MOX87_g6, Chi_g3*NuSigF_MOX87_g6, Chi_g4*NuSigF_MOX87_g6, 0, 0, 0}, {Chi_g1*NuSigF_MOX87_g7, Chi_g2*NuSigF_MOX87_g7, Chi_g3*NuSigF_MOX87_g7, Chi_g4*NuSigF_MOX87_g7, 0, 0, 0}}</a:t>
                      </a:r>
                      <a:endParaRPr lang="en-US" sz="1100"/>
                    </a:p>
                  </a:txBody>
                  <a:tcPr>
                    <a:lnL>
                      <a:noFill/>
                    </a:lnL>
                    <a:lnR>
                      <a:noFill/>
                    </a:lnR>
                    <a:lnT>
                      <a:noFill/>
                    </a:lnT>
                    <a:lnB>
                      <a:noFill/>
                    </a:lnB>
                  </a:tcPr>
                </a:tc>
              </a:tr>
            </a:tbl>
          </a:graphicData>
        </a:graphic>
      </p:graphicFrame>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5" name="AutoShape 5"/>
          <p:cNvSpPr/>
          <p:nvPr/>
        </p:nvSpPr>
        <p:spPr>
          <a:xfrm flipH="false" flipV="false" rot="0">
            <a:off x="838200" y="1825625"/>
            <a:ext cx="5181600" cy="649288"/>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true" i="false" lang="en-US" sz="3200" u="none">
                <a:latin typeface="Calibri Light"/>
              </a:rPr>
              <a:t>Fission Chamber_PDE</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Fission Chamber_PDE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9" name="Table 9"/>
          <p:cNvGraphicFramePr>
            <a:graphicFrameLocks noGrp="true"/>
          </p:cNvGraphicFramePr>
          <p:nvPr/>
        </p:nvGraphicFramePr>
        <p:xfrm>
          <a:off x="838200" y="2601912"/>
          <a:ext cx="5232400" cy="271245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Geometric entity level</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Domain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Name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Fission Chamber</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Selection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Named sel5: Geometry geom1: Dimension 2: Domains 417, 434, 1284, 1301</a:t>
                      </a:r>
                      <a:endParaRPr lang="en-US" sz="1100"/>
                    </a:p>
                  </a:txBody>
                  <a:tcPr>
                    <a:lnL>
                      <a:noFill/>
                    </a:lnL>
                    <a:lnR>
                      <a:noFill/>
                    </a:lnR>
                    <a:lnT>
                      <a:noFill/>
                    </a:lnT>
                    <a:lnB>
                      <a:noFill/>
                    </a:lnB>
                  </a:tcPr>
                </a:tc>
              </a:tr>
            </a:tbl>
          </a:graphicData>
        </a:graphic>
      </p:graphicFrame>
    </p:spTree>
  </p:cSld>
  <p:clrMapOvr>
    <a:masterClrMapping/>
  </p:clrMapOvr>
</p:sld>
</file>

<file path=ppt/slides/slide8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Fission Chamber_PDE</a:t>
            </a:r>
          </a:p>
        </p:txBody>
      </p:sp>
      <p:pic>
        <p:nvPicPr>
          <p:cNvPr id="6" name="Picture 6"/>
          <p:cNvPicPr>
            <a:picLocks noChangeAspect="true"/>
          </p:cNvPicPr>
          <p:nvPr>
            <p:custDataLst>
              <p:tags r:id="rId6"/>
            </p:custDataLst>
          </p:nvPr>
        </p:nvPicPr>
        <p:blipFill>
          <a:blip r:embed="rId2"/>
          <a:stretch>
            <a:fillRect/>
          </a:stretch>
        </p:blipFill>
        <p:spPr>
          <a:xfrm>
            <a:off x="6172200" y="1896289"/>
            <a:ext cx="5181600" cy="3886200"/>
          </a:xfrm>
          <a:prstGeom prst="rect">
            <a:avLst/>
          </a:prstGeom>
        </p:spPr>
      </p:pic>
      <p:sp>
        <p:nvSpPr>
          <p:cNvPr id="5" name="AutoShape 5"/>
          <p:cNvSpPr/>
          <p:nvPr/>
        </p:nvSpPr>
        <p:spPr>
          <a:xfrm flipH="false" flipV="false" rot="0">
            <a:off x="838200" y="1825625"/>
            <a:ext cx="5181600" cy="636796"/>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false" i="true" lang="en-US" sz="2240" u="none">
                <a:latin typeface="Calibri"/>
              </a:rPr>
              <a:t>Equations</a:t>
            </a:r>
          </a:p>
        </p:txBody>
      </p:sp>
      <p:pic>
        <p:nvPicPr>
          <p:cNvPr id="9" name="Picture 9"/>
          <p:cNvPicPr>
            <a:picLocks noChangeAspect="true"/>
          </p:cNvPicPr>
          <p:nvPr/>
        </p:nvPicPr>
        <p:blipFill>
          <a:blip r:embed="rId3"/>
          <a:stretch>
            <a:fillRect/>
          </a:stretch>
        </p:blipFill>
        <p:spPr>
          <a:xfrm>
            <a:off x="965200" y="2652921"/>
            <a:ext cx="4851400" cy="279400"/>
          </a:xfrm>
          <a:prstGeom prst="rect">
            <a:avLst/>
          </a:prstGeom>
        </p:spPr>
      </p:pic>
      <p:pic>
        <p:nvPicPr>
          <p:cNvPr id="11" name="Picture 11"/>
          <p:cNvPicPr>
            <a:picLocks noChangeAspect="true"/>
          </p:cNvPicPr>
          <p:nvPr/>
        </p:nvPicPr>
        <p:blipFill>
          <a:blip r:embed="rId4"/>
          <a:stretch>
            <a:fillRect/>
          </a:stretch>
        </p:blipFill>
        <p:spPr>
          <a:xfrm>
            <a:off x="965200" y="3313321"/>
            <a:ext cx="2603500" cy="266700"/>
          </a:xfrm>
          <a:prstGeom prst="rect">
            <a:avLst/>
          </a:prstGeom>
        </p:spPr>
      </p:pic>
      <p:pic>
        <p:nvPicPr>
          <p:cNvPr id="13" name="Picture 13"/>
          <p:cNvPicPr>
            <a:picLocks noChangeAspect="true"/>
          </p:cNvPicPr>
          <p:nvPr/>
        </p:nvPicPr>
        <p:blipFill>
          <a:blip r:embed="rId5"/>
          <a:stretch>
            <a:fillRect/>
          </a:stretch>
        </p:blipFill>
        <p:spPr>
          <a:xfrm>
            <a:off x="965200" y="3961021"/>
            <a:ext cx="1104900" cy="508000"/>
          </a:xfrm>
          <a:prstGeom prst="rect">
            <a:avLst/>
          </a:prstGeom>
        </p:spPr>
      </p:pic>
    </p:spTree>
  </p:cSld>
  <p:clrMapOvr>
    <a:masterClrMapping/>
  </p:clrMapOvr>
</p:sld>
</file>

<file path=ppt/slides/slide8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Fission Chamber_PDE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302371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Absorption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{{Srem_FC_g1, -Ss_FC_g1_to_g2, -Ss_FC_g1_to_g3, -Ss_FC_g1_to_g4, -Ss_FC_g1_to_g5, 0, 0}, {0, Srem_FC_g2, -Ss_FC_g2_to_g3, -Ss_FC_g2_to_g4, -Ss_FC_g2_to_g5, -Ss_FC_g2_to_g6, -Ss_FC_g2_to_g7}, {0, 0, Srem_FC_g3, -Ss_FC_g3_to_g4, -Ss_FC_g3_to_g5, -Ss_FC_g3_to_g6, -Ss_FC_g3_to_g7}, {0, 0, 0, Srem_FC_g4, -Ss_FC_g4_to_g5, -Ss_FC_g4_to_g6, -Ss_FC_g4_to_g7}, {0, 0, 0, -Ss_FC_g5_to_g4, Srem_FC_g5, -Ss_FC_g5_to_g6, -Ss_FC_g5_to_g7}, {0, 0, 0, 0, -Ss_FC_g6_to_g5, Srem_FC_g6, -Ss_FC_g6_to_g7}, {0, 0, 0, 0, 0, -Ss_FC_g7_to_g6, Srem_FC_g7}}</a:t>
                      </a:r>
                      <a:endParaRPr lang="en-US" sz="1100"/>
                    </a:p>
                  </a:txBody>
                  <a:tcPr>
                    <a:lnL>
                      <a:noFill/>
                    </a:lnL>
                    <a:lnR>
                      <a:noFill/>
                    </a:lnR>
                    <a:lnT>
                      <a:noFill/>
                    </a:lnT>
                    <a:lnB>
                      <a:noFill/>
                    </a:lnB>
                  </a:tcPr>
                </a:tc>
              </a:tr>
            </a:tbl>
          </a:graphicData>
        </a:graphic>
      </p:graphicFrame>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Fission Chamber_PDE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8024022"/>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Diffusion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{{{{D_FC_g1, 0}, {0, D_FC_g1}}, {{0, 0}, {0, 0}}, {{0, 0}, {0, 0}}, {{0, 0}, {0, 0}}, {{0, 0}, {0, 0}}, {{0, 0}, {0, 0}}, {{0, 0}, {0, 0}}}, {{{0, 0}, {0, 0}}, {{D_FC_g2, 0}, {0, D_FC_g2}}, {{0, 0}, {0, 0}}, {{0, 0}, {0, 0}}, {{0, 0}, {0, 0}}, {{0, 0}, {0, 0}}, {{0, 0}, {0, 0}}}, {{{0, 0}, {0, 0}}, {{0, 0}, {0, 0}}, {{D_FC_g3, 0}, {0, D_FC_g3}}, {{0, 0}, {0, 0}}, {{0, 0}, {0, 0}}, {{0, 0}, {0, 0}}, {{0, 0}, {0, 0}}}, {{{0, 0}, {0, 0}}, {{0, 0}, {0, 0}}, {{0, 0}, {0, 0}}, {{D_FC_g4, 0}, {0, D_FC_g4}}, {{0, 0}, {0, 0}}, {{0, 0}, {0, 0}}, {{0, 0}, {0, 0}}}, {{{0, 0}, {0, 0}}, {{0, 0}, {0, 0}}, {{0, 0}, {0, 0}}, {{0, 0}, {0, 0}}, {{D_FC_g5, 0}, {0, D_FC_g5}}, {{0, 0}, {0, 0}}, {{0, 0}, {0, 0}}}, {{{0, 0}, {0, 0}}, {{0, 0}, {0, 0}}, {{0, 0}, {0, 0}}, {{0, 0}, {0, 0}}, {{0, 0}, {0, 0}}, {{D_FC_g6, 0}, {0, D_FC_g6}}, {{0, 0}, {0, 0}}}, {{{0, 0}, {0, 0}}, {{0, 0}, {0, 0}}, {{0, 0}, {0, 0}}, {{0, 0}, {0, 0}}, {{0, 0}, {0, 0}}, {{0, 0}, {0, 0}}, {{D_FC_g7, 0}, {0, D_FC_g7}}}}</a:t>
                      </a:r>
                      <a:endParaRPr lang="en-US" sz="1100"/>
                    </a:p>
                  </a:txBody>
                  <a:tcPr>
                    <a:lnL>
                      <a:noFill/>
                    </a:lnL>
                    <a:lnR>
                      <a:noFill/>
                    </a:lnR>
                    <a:lnT>
                      <a:noFill/>
                    </a:lnT>
                    <a:lnB>
                      <a:noFill/>
                    </a:lnB>
                  </a:tcPr>
                </a:tc>
              </a:tr>
            </a:tbl>
          </a:graphicData>
        </a:graphic>
      </p:graphicFrame>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Fission Chamber_PDE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614974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9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Fission Chamber_PDE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716908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Source term</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source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9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Fission Chamber_PDE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8024632"/>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9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Fission Chamber_PDE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0523869"/>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9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Fission Chamber_PDE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825460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Damping or 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{{Chi_g1*NuSigF_FC_g1, Chi_g2*NuSigF_FC_g1, Chi_g3*NuSigF_FC_g1, Chi_g4*NuSigF_FC_g1, 0, 0, 0}, {Chi_g1*NuSigF_FC_g2, Chi_g2*NuSigF_FC_g2, Chi_g3*NuSigF_FC_g2, Chi_g4*NuSigF_FC_g2, 0, 0, 0}, {Chi_g1*NuSigF_FC_g3, Chi_g2*NuSigF_FC_g3, Chi_g3*NuSigF_FC_g3, Chi_g4*NuSigF_FC_g3, 0, 0, 0}, {Chi_g1*NuSigF_FC_g4, Chi_g2*NuSigF_FC_g4, Chi_g3*NuSigF_FC_g4, Chi_g4*NuSigF_FC_g4, 0, 0, 0}, {Chi_g1*NuSigF_FC_g5, Chi_g2*NuSigF_FC_g5, Chi_g3*NuSigF_FC_g5, Chi_g4*NuSigF_FC_g5, 0, 0, 0}, {Chi_g1*NuSigF_FC_g6, Chi_g2*NuSigF_FC_g6, Chi_g3*NuSigF_FC_g6, Chi_g4*NuSigF_FC_g6, 0, 0, 0}, {Chi_g1*NuSigF_FC_g7, Chi_g2*NuSigF_FC_g7, Chi_g3*NuSigF_FC_g7, Chi_g4*NuSigF_FC_g7, 0, 0, 0}}</a:t>
                      </a:r>
                      <a:endParaRPr lang="en-US" sz="1100"/>
                    </a:p>
                  </a:txBody>
                  <a:tcPr>
                    <a:lnL>
                      <a:noFill/>
                    </a:lnL>
                    <a:lnR>
                      <a:noFill/>
                    </a:lnR>
                    <a:lnT>
                      <a:noFill/>
                    </a:lnT>
                    <a:lnB>
                      <a:noFill/>
                    </a:lnB>
                  </a:tcPr>
                </a:tc>
              </a:tr>
            </a:tbl>
          </a:graphicData>
        </a:graphic>
      </p:graphicFrame>
    </p:spTree>
  </p:cSld>
  <p:clrMapOvr>
    <a:masterClrMapping/>
  </p:clrMapOvr>
</p:sld>
</file>

<file path=ppt/slides/slide9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5" name="AutoShape 5"/>
          <p:cNvSpPr/>
          <p:nvPr/>
        </p:nvSpPr>
        <p:spPr>
          <a:xfrm flipH="false" flipV="false" rot="0">
            <a:off x="838200" y="1825625"/>
            <a:ext cx="5181600" cy="649288"/>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true" i="false" lang="en-US" sz="3200" u="none">
                <a:latin typeface="Calibri Light"/>
              </a:rPr>
              <a:t>Guide Tube_PDE</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Guide Tube_PDE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9" name="Table 9"/>
          <p:cNvGraphicFramePr>
            <a:graphicFrameLocks noGrp="true"/>
          </p:cNvGraphicFramePr>
          <p:nvPr/>
        </p:nvGraphicFramePr>
        <p:xfrm>
          <a:off x="838200" y="2601912"/>
          <a:ext cx="5232400" cy="10836960"/>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Geometric entity level</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Domain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Name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Guide Tube</a:t>
                      </a:r>
                      <a:endParaRPr lang="en-US" sz="1100"/>
                    </a:p>
                  </a:txBody>
                  <a:tcPr>
                    <a:lnL>
                      <a:noFill/>
                    </a:lnL>
                    <a:lnR>
                      <a:noFill/>
                    </a:lnR>
                    <a:lnT>
                      <a:noFill/>
                    </a:lnT>
                    <a:lnB>
                      <a:noFill/>
                    </a:lnB>
                  </a:tcPr>
                </a:tc>
              </a:tr>
            </a:tbl>
          </a:graphicData>
        </a:graphic>
      </p:graphicFrame>
    </p:spTree>
  </p:cSld>
  <p:clrMapOvr>
    <a:masterClrMapping/>
  </p:clrMapOvr>
</p:sld>
</file>

<file path=ppt/slides/slide9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Guide Tube_PDE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0048205"/>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Selection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Named sel6: Geometry geom1: Dimension 2: Domains 108, 111, 114, 125, 128, 131, 157, 167, 174, 184, 258, 261, 264, 267, 270, 275, 278, 281, 284, 287, 411, 414, 420, 423, 428, 431, 437, 440, 564, 567, 570, 573, 576, 581, 584, 587, 590, 593, 667, 677, 684, 694, 720, 723, 726, 737, 740, 743, 975, 978, 981, 992, 995, 998, 1024, 1034, 1041, 1051, 1125, 1128, 1131, 1134, 1137, 1142, 1145, 1148, 1151, 1154, 1278, 1281, 1287, 1290, 1295, 1298, 1304, 1307, 1431, 1434, 1437, 1440, 1443, 1448, 1451, 1454, 1457, 1460, 1534, 1544, 1551, 1561, 1587, 1590, 1593, 1604, 1607, 1610</a:t>
                      </a:r>
                      <a:endParaRPr lang="en-US" sz="1100"/>
                    </a:p>
                  </a:txBody>
                  <a:tcPr>
                    <a:lnL>
                      <a:noFill/>
                    </a:lnL>
                    <a:lnR>
                      <a:noFill/>
                    </a:lnR>
                    <a:lnT>
                      <a:noFill/>
                    </a:lnT>
                    <a:lnB>
                      <a:noFill/>
                    </a:lnB>
                  </a:tcPr>
                </a:tc>
              </a:tr>
            </a:tbl>
          </a:graphicData>
        </a:graphic>
      </p:graphicFrame>
    </p:spTree>
  </p:cSld>
  <p:clrMapOvr>
    <a:masterClrMapping/>
  </p:clrMapOvr>
</p:sld>
</file>

<file path=ppt/slides/slide9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Guide Tube_PDE</a:t>
            </a:r>
          </a:p>
        </p:txBody>
      </p:sp>
      <p:pic>
        <p:nvPicPr>
          <p:cNvPr id="6" name="Picture 6"/>
          <p:cNvPicPr>
            <a:picLocks noChangeAspect="true"/>
          </p:cNvPicPr>
          <p:nvPr>
            <p:custDataLst>
              <p:tags r:id="rId6"/>
            </p:custDataLst>
          </p:nvPr>
        </p:nvPicPr>
        <p:blipFill>
          <a:blip r:embed="rId2"/>
          <a:stretch>
            <a:fillRect/>
          </a:stretch>
        </p:blipFill>
        <p:spPr>
          <a:xfrm>
            <a:off x="6172200" y="1896289"/>
            <a:ext cx="5181600" cy="3886200"/>
          </a:xfrm>
          <a:prstGeom prst="rect">
            <a:avLst/>
          </a:prstGeom>
        </p:spPr>
      </p:pic>
      <p:sp>
        <p:nvSpPr>
          <p:cNvPr id="5" name="AutoShape 5"/>
          <p:cNvSpPr/>
          <p:nvPr/>
        </p:nvSpPr>
        <p:spPr>
          <a:xfrm flipH="false" flipV="false" rot="0">
            <a:off x="838200" y="1825625"/>
            <a:ext cx="5181600" cy="636796"/>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false" i="true" lang="en-US" sz="2240" u="none">
                <a:latin typeface="Calibri"/>
              </a:rPr>
              <a:t>Equations</a:t>
            </a:r>
          </a:p>
        </p:txBody>
      </p:sp>
      <p:pic>
        <p:nvPicPr>
          <p:cNvPr id="9" name="Picture 9"/>
          <p:cNvPicPr>
            <a:picLocks noChangeAspect="true"/>
          </p:cNvPicPr>
          <p:nvPr/>
        </p:nvPicPr>
        <p:blipFill>
          <a:blip r:embed="rId3"/>
          <a:stretch>
            <a:fillRect/>
          </a:stretch>
        </p:blipFill>
        <p:spPr>
          <a:xfrm>
            <a:off x="965200" y="2652921"/>
            <a:ext cx="4851400" cy="279400"/>
          </a:xfrm>
          <a:prstGeom prst="rect">
            <a:avLst/>
          </a:prstGeom>
        </p:spPr>
      </p:pic>
      <p:pic>
        <p:nvPicPr>
          <p:cNvPr id="11" name="Picture 11"/>
          <p:cNvPicPr>
            <a:picLocks noChangeAspect="true"/>
          </p:cNvPicPr>
          <p:nvPr/>
        </p:nvPicPr>
        <p:blipFill>
          <a:blip r:embed="rId4"/>
          <a:stretch>
            <a:fillRect/>
          </a:stretch>
        </p:blipFill>
        <p:spPr>
          <a:xfrm>
            <a:off x="965200" y="3313321"/>
            <a:ext cx="2603500" cy="266700"/>
          </a:xfrm>
          <a:prstGeom prst="rect">
            <a:avLst/>
          </a:prstGeom>
        </p:spPr>
      </p:pic>
      <p:pic>
        <p:nvPicPr>
          <p:cNvPr id="13" name="Picture 13"/>
          <p:cNvPicPr>
            <a:picLocks noChangeAspect="true"/>
          </p:cNvPicPr>
          <p:nvPr/>
        </p:nvPicPr>
        <p:blipFill>
          <a:blip r:embed="rId5"/>
          <a:stretch>
            <a:fillRect/>
          </a:stretch>
        </p:blipFill>
        <p:spPr>
          <a:xfrm>
            <a:off x="965200" y="3961021"/>
            <a:ext cx="1104900" cy="508000"/>
          </a:xfrm>
          <a:prstGeom prst="rect">
            <a:avLst/>
          </a:prstGeom>
        </p:spPr>
      </p:pic>
    </p:spTree>
  </p:cSld>
  <p:clrMapOvr>
    <a:masterClrMapping/>
  </p:clrMapOvr>
</p:sld>
</file>

<file path=ppt/slides/slide9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Guide Tube_PDE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302371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Absorption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{{Srem_GT_g1, -Ss_GT_g1_to_g2, -Ss_GT_g1_to_g3, -Ss_GT_g1_to_g4, -Ss_GT_g1_to_g5, 0, 0}, {0, Srem_GT_g2, -Ss_GT_g2_to_g3, -Ss_GT_g2_to_g4, -Ss_GT_g2_to_g5, -Ss_GT_g2_to_g6, -Ss_GT_g2_to_g7}, {0, 0, Srem_GT_g3, -Ss_GT_g3_to_g4, -Ss_GT_g3_to_g5, -Ss_GT_g3_to_g6, -Ss_GT_g3_to_g7}, {0, 0, 0, Srem_GT_g4, -Ss_GT_g4_to_g5, -Ss_GT_g4_to_g6, -Ss_GT_g4_to_g7}, {0, 0, 0, -Ss_GT_g5_to_g4, Srem_GT_g5, -Ss_GT_g5_to_g6, -Ss_GT_g5_to_g7}, {0, 0, 0, 0, -Ss_GT_g6_to_g5, Srem_GT_g6, -Ss_GT_g6_to_g7}, {0, 0, 0, 0, 0, -Ss_GT_g7_to_g6, Srem_GT_g7}}</a:t>
                      </a:r>
                      <a:endParaRPr lang="en-US" sz="1100"/>
                    </a:p>
                  </a:txBody>
                  <a:tcPr>
                    <a:lnL>
                      <a:noFill/>
                    </a:lnL>
                    <a:lnR>
                      <a:noFill/>
                    </a:lnR>
                    <a:lnT>
                      <a:noFill/>
                    </a:lnT>
                    <a:lnB>
                      <a:noFill/>
                    </a:lnB>
                  </a:tcPr>
                </a:tc>
              </a:tr>
            </a:tbl>
          </a:graphicData>
        </a:graphic>
      </p:graphicFrame>
    </p:spTree>
  </p:cSld>
  <p:clrMapOvr>
    <a:masterClrMapping/>
  </p:clrMapOvr>
</p:sld>
</file>

<file path=ppt/slides/slide10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Guide Tube_PDE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8024022"/>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Diffusion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{{{{D_GT_g1, 0}, {0, D_GT_g1}}, {{0, 0}, {0, 0}}, {{0, 0}, {0, 0}}, {{0, 0}, {0, 0}}, {{0, 0}, {0, 0}}, {{0, 0}, {0, 0}}, {{0, 0}, {0, 0}}}, {{{0, 0}, {0, 0}}, {{D_GT_g2, 0}, {0, D_GT_g2}}, {{0, 0}, {0, 0}}, {{0, 0}, {0, 0}}, {{0, 0}, {0, 0}}, {{0, 0}, {0, 0}}, {{0, 0}, {0, 0}}}, {{{0, 0}, {0, 0}}, {{0, 0}, {0, 0}}, {{D_GT_g3, 0}, {0, D_GT_g3}}, {{0, 0}, {0, 0}}, {{0, 0}, {0, 0}}, {{0, 0}, {0, 0}}, {{0, 0}, {0, 0}}}, {{{0, 0}, {0, 0}}, {{0, 0}, {0, 0}}, {{0, 0}, {0, 0}}, {{D_GT_g4, 0}, {0, D_GT_g4}}, {{0, 0}, {0, 0}}, {{0, 0}, {0, 0}}, {{0, 0}, {0, 0}}}, {{{0, 0}, {0, 0}}, {{0, 0}, {0, 0}}, {{0, 0}, {0, 0}}, {{0, 0}, {0, 0}}, {{D_GT_g5, 0}, {0, D_GT_g5}}, {{0, 0}, {0, 0}}, {{0, 0}, {0, 0}}}, {{{0, 0}, {0, 0}}, {{0, 0}, {0, 0}}, {{0, 0}, {0, 0}}, {{0, 0}, {0, 0}}, {{0, 0}, {0, 0}}, {{D_GT_g6, 0}, {0, D_GT_g6}}, {{0, 0}, {0, 0}}}, {{{0, 0}, {0, 0}}, {{0, 0}, {0, 0}}, {{0, 0}, {0, 0}}, {{0, 0}, {0, 0}}, {{0, 0}, {0, 0}}, {{0, 0}, {0, 0}}, {{D_GT_g7, 0}, {0, D_GT_g7}}}}</a:t>
                      </a:r>
                      <a:endParaRPr lang="en-US" sz="1100"/>
                    </a:p>
                  </a:txBody>
                  <a:tcPr>
                    <a:lnL>
                      <a:noFill/>
                    </a:lnL>
                    <a:lnR>
                      <a:noFill/>
                    </a:lnR>
                    <a:lnT>
                      <a:noFill/>
                    </a:lnT>
                    <a:lnB>
                      <a:noFill/>
                    </a:lnB>
                  </a:tcPr>
                </a:tc>
              </a:tr>
            </a:tbl>
          </a:graphicData>
        </a:graphic>
      </p:graphicFrame>
    </p:spTree>
  </p:cSld>
  <p:clrMapOvr>
    <a:masterClrMapping/>
  </p:clrMapOvr>
</p:sld>
</file>

<file path=ppt/slides/slide10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Guide Tube_PDE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614974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10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Guide Tube_PDE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716908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Source term</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source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10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Guide Tube_PDE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8024632"/>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10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Guide Tube_PDE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5212304"/>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10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Guide Tube_PDE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943041"/>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Damping or 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10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5" name="AutoShape 5"/>
          <p:cNvSpPr/>
          <p:nvPr/>
        </p:nvSpPr>
        <p:spPr>
          <a:xfrm flipH="false" flipV="false" rot="0">
            <a:off x="838200" y="1825625"/>
            <a:ext cx="5181600" cy="649288"/>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true" i="false" lang="en-US" sz="3200" u="none">
                <a:latin typeface="Calibri Light"/>
              </a:rPr>
              <a:t>Moderator_PDE</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Moderator_PDE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9" name="Table 9"/>
          <p:cNvGraphicFramePr>
            <a:graphicFrameLocks noGrp="true"/>
          </p:cNvGraphicFramePr>
          <p:nvPr/>
        </p:nvGraphicFramePr>
        <p:xfrm>
          <a:off x="838200" y="2601912"/>
          <a:ext cx="5232400" cy="8337113"/>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Geometric entity level</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Domain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Name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Moderator</a:t>
                      </a:r>
                      <a:endParaRPr lang="en-US" sz="1100"/>
                    </a:p>
                  </a:txBody>
                  <a:tcPr>
                    <a:lnL>
                      <a:noFill/>
                    </a:lnL>
                    <a:lnR>
                      <a:noFill/>
                    </a:lnR>
                    <a:lnT>
                      <a:noFill/>
                    </a:lnT>
                    <a:lnB>
                      <a:noFill/>
                    </a:lnB>
                  </a:tcPr>
                </a:tc>
              </a:tr>
            </a:tbl>
          </a:graphicData>
        </a:graphic>
      </p:graphicFrame>
    </p:spTree>
  </p:cSld>
  <p:clrMapOvr>
    <a:masterClrMapping/>
  </p:clrMapOvr>
</p:sld>
</file>

<file path=ppt/slides/slide10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Moderator_PDE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7548358"/>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Selection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Named sel7: Geometry geom1: Dimension 2: Domains 35–51, 86–102, 137–153, 188–204, 239–255, 290–306, 341–357, 392–408, 443–459, 494–510, 545–561, 596–612, 647–663, 698–714, 749–765, 800–816, 851–867, 902–918, 953–969, 1004–1020, 1055–1071, 1106–1122, 1157–1173, 1208–1224, 1259–1275, 1310–1326, 1361–1377, 1412–1428, 1463–1479, 1514–1530, 1565–1581, 1616–1632, 1667–1683, 1718–2601</a:t>
                      </a:r>
                      <a:endParaRPr lang="en-US" sz="1100"/>
                    </a:p>
                  </a:txBody>
                  <a:tcPr>
                    <a:lnL>
                      <a:noFill/>
                    </a:lnL>
                    <a:lnR>
                      <a:noFill/>
                    </a:lnR>
                    <a:lnT>
                      <a:noFill/>
                    </a:lnT>
                    <a:lnB>
                      <a:noFill/>
                    </a:lnB>
                  </a:tcPr>
                </a:tc>
              </a:tr>
            </a:tbl>
          </a:graphicData>
        </a:graphic>
      </p:graphicFrame>
    </p:spTree>
  </p:cSld>
  <p:clrMapOvr>
    <a:masterClrMapping/>
  </p:clrMapOvr>
</p:sld>
</file>

<file path=ppt/slides/slide10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Moderator_PDE</a:t>
            </a:r>
          </a:p>
        </p:txBody>
      </p:sp>
      <p:pic>
        <p:nvPicPr>
          <p:cNvPr id="6" name="Picture 6"/>
          <p:cNvPicPr>
            <a:picLocks noChangeAspect="true"/>
          </p:cNvPicPr>
          <p:nvPr>
            <p:custDataLst>
              <p:tags r:id="rId6"/>
            </p:custDataLst>
          </p:nvPr>
        </p:nvPicPr>
        <p:blipFill>
          <a:blip r:embed="rId2"/>
          <a:stretch>
            <a:fillRect/>
          </a:stretch>
        </p:blipFill>
        <p:spPr>
          <a:xfrm>
            <a:off x="6172200" y="1896289"/>
            <a:ext cx="5181600" cy="3886200"/>
          </a:xfrm>
          <a:prstGeom prst="rect">
            <a:avLst/>
          </a:prstGeom>
        </p:spPr>
      </p:pic>
      <p:sp>
        <p:nvSpPr>
          <p:cNvPr id="5" name="AutoShape 5"/>
          <p:cNvSpPr/>
          <p:nvPr/>
        </p:nvSpPr>
        <p:spPr>
          <a:xfrm flipH="false" flipV="false" rot="0">
            <a:off x="838200" y="1825625"/>
            <a:ext cx="5181600" cy="636796"/>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false" i="true" lang="en-US" sz="2240" u="none">
                <a:latin typeface="Calibri"/>
              </a:rPr>
              <a:t>Equations</a:t>
            </a:r>
          </a:p>
        </p:txBody>
      </p:sp>
      <p:pic>
        <p:nvPicPr>
          <p:cNvPr id="9" name="Picture 9"/>
          <p:cNvPicPr>
            <a:picLocks noChangeAspect="true"/>
          </p:cNvPicPr>
          <p:nvPr/>
        </p:nvPicPr>
        <p:blipFill>
          <a:blip r:embed="rId3"/>
          <a:stretch>
            <a:fillRect/>
          </a:stretch>
        </p:blipFill>
        <p:spPr>
          <a:xfrm>
            <a:off x="965200" y="2652921"/>
            <a:ext cx="4851400" cy="279400"/>
          </a:xfrm>
          <a:prstGeom prst="rect">
            <a:avLst/>
          </a:prstGeom>
        </p:spPr>
      </p:pic>
      <p:pic>
        <p:nvPicPr>
          <p:cNvPr id="11" name="Picture 11"/>
          <p:cNvPicPr>
            <a:picLocks noChangeAspect="true"/>
          </p:cNvPicPr>
          <p:nvPr/>
        </p:nvPicPr>
        <p:blipFill>
          <a:blip r:embed="rId4"/>
          <a:stretch>
            <a:fillRect/>
          </a:stretch>
        </p:blipFill>
        <p:spPr>
          <a:xfrm>
            <a:off x="965200" y="3313321"/>
            <a:ext cx="2603500" cy="266700"/>
          </a:xfrm>
          <a:prstGeom prst="rect">
            <a:avLst/>
          </a:prstGeom>
        </p:spPr>
      </p:pic>
      <p:pic>
        <p:nvPicPr>
          <p:cNvPr id="13" name="Picture 13"/>
          <p:cNvPicPr>
            <a:picLocks noChangeAspect="true"/>
          </p:cNvPicPr>
          <p:nvPr/>
        </p:nvPicPr>
        <p:blipFill>
          <a:blip r:embed="rId5"/>
          <a:stretch>
            <a:fillRect/>
          </a:stretch>
        </p:blipFill>
        <p:spPr>
          <a:xfrm>
            <a:off x="965200" y="3961021"/>
            <a:ext cx="1104900" cy="508000"/>
          </a:xfrm>
          <a:prstGeom prst="rect">
            <a:avLst/>
          </a:prstGeom>
        </p:spPr>
      </p:pic>
    </p:spTree>
  </p:cSld>
  <p:clrMapOvr>
    <a:masterClrMapping/>
  </p:clrMapOvr>
</p:sld>
</file>

<file path=ppt/slides/slide10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Moderator_PDE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4273640"/>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Absorption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{{Srem_Mod_g1, -Ss_Mod_g1_to_g2, -Ss_Mod_g1_to_g3, -Ss_Mod_g1_to_g4, -Ss_Mod_g1_to_g5, 0, 0}, {0, Srem_Mod_g2, -Ss_Mod_g2_to_g3, -Ss_Mod_g2_to_g4, -Ss_Mod_g2_to_g5, -Ss_Mod_g2_to_g6, -Ss_Mod_g2_to_g7}, {0, 0, Srem_Mod_g3, -Ss_Mod_g3_to_g4, -Ss_Mod_g3_to_g5, -Ss_Mod_g3_to_g6, -Ss_Mod_g3_to_g7}, {0, 0, 0, Srem_Mod_g4, -Ss_Mod_g4_to_g5, -Ss_Mod_g4_to_g6, -Ss_Mod_g4_to_g7}, {0, 0, 0, -Ss_Mod_g5_to_g4, Srem_Mod_g5, -Ss_Mod_g5_to_g6, -Ss_Mod_g5_to_g7}, {0, 0, 0, 0, -Ss_Mod_g6_to_g5, Srem_Mod_g6, -Ss_Mod_g6_to_g7}, {0, 0, 0, 0, 0, -Ss_Mod_g7_to_g6, Srem_Mod_g7}}</a:t>
                      </a:r>
                      <a:endParaRPr lang="en-US" sz="1100"/>
                    </a:p>
                  </a:txBody>
                  <a:tcPr>
                    <a:lnL>
                      <a:noFill/>
                    </a:lnL>
                    <a:lnR>
                      <a:noFill/>
                    </a:lnR>
                    <a:lnT>
                      <a:noFill/>
                    </a:lnT>
                    <a:lnB>
                      <a:noFill/>
                    </a:lnB>
                  </a:tcPr>
                </a:tc>
              </a:tr>
            </a:tbl>
          </a:graphicData>
        </a:graphic>
      </p:graphicFrame>
    </p:spTree>
  </p:cSld>
  <p:clrMapOvr>
    <a:masterClrMapping/>
  </p:clrMapOvr>
</p:sld>
</file>

<file path=ppt/slides/slide1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Moderator_PDE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8961464"/>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Diffusion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{{{{D_Mod_g1, 0}, {0, D_Mod_g1}}, {{0, 0}, {0, 0}}, {{0, 0}, {0, 0}}, {{0, 0}, {0, 0}}, {{0, 0}, {0, 0}}, {{0, 0}, {0, 0}}, {{0, 0}, {0, 0}}}, {{{0, 0}, {0, 0}}, {{D_Mod_g2, 0}, {0, D_Mod_g2}}, {{0, 0}, {0, 0}}, {{0, 0}, {0, 0}}, {{0, 0}, {0, 0}}, {{0, 0}, {0, 0}}, {{0, 0}, {0, 0}}}, {{{0, 0}, {0, 0}}, {{0, 0}, {0, 0}}, {{D_Mod_g3, 0}, {0, D_Mod_g3}}, {{0, 0}, {0, 0}}, {{0, 0}, {0, 0}}, {{0, 0}, {0, 0}}, {{0, 0}, {0, 0}}}, {{{0, 0}, {0, 0}}, {{0, 0}, {0, 0}}, {{0, 0}, {0, 0}}, {{D_Mod_g4, 0}, {0, D_Mod_g4}}, {{0, 0}, {0, 0}}, {{0, 0}, {0, 0}}, {{0, 0}, {0, 0}}}, {{{0, 0}, {0, 0}}, {{0, 0}, {0, 0}}, {{0, 0}, {0, 0}}, {{0, 0}, {0, 0}}, {{D_Mod_g5, 0}, {0, D_Mod_g5}}, {{0, 0}, {0, 0}}, {{0, 0}, {0, 0}}}, {{{0, 0}, {0, 0}}, {{0, 0}, {0, 0}}, {{0, 0}, {0, 0}}, {{0, 0}, {0, 0}}, {{0, 0}, {0, 0}}, {{D_Mod_g6, 0}, {0, D_Mod_g6}}, {{0, 0}, {0, 0}}}, {{{0, 0}, {0, 0}}, {{0, 0}, {0, 0}}, {{0, 0}, {0, 0}}, {{0, 0}, {0, 0}}, {{0, 0}, {0, 0}}, {{0, 0}, {0, 0}}, {{D_Mod_g7, 0}, {0, D_Mod_g7}}}}</a:t>
                      </a:r>
                      <a:endParaRPr lang="en-US" sz="1100"/>
                    </a:p>
                  </a:txBody>
                  <a:tcPr>
                    <a:lnL>
                      <a:noFill/>
                    </a:lnL>
                    <a:lnR>
                      <a:noFill/>
                    </a:lnR>
                    <a:lnT>
                      <a:noFill/>
                    </a:lnT>
                    <a:lnB>
                      <a:noFill/>
                    </a:lnB>
                  </a:tcPr>
                </a:tc>
              </a:tr>
            </a:tbl>
          </a:graphicData>
        </a:graphic>
      </p:graphicFrame>
    </p:spTree>
  </p:cSld>
  <p:clrMapOvr>
    <a:masterClrMapping/>
  </p:clrMapOvr>
</p:sld>
</file>

<file path=ppt/slides/slide1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Moderator_PDE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614974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1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Moderator_PDE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7169086"/>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Source term</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source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1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Moderator_PDE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8024632"/>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Conservative flux convection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 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1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Moderator_PDE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5212304"/>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1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Moderator_PDE</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943041"/>
        </p:xfrm>
        <a:graphic>
          <a:graphicData uri="http://schemas.openxmlformats.org/drawingml/2006/table">
            <a:tbl>
              <a:tblPr/>
              <a:tblGrid>
                <a:gridCol w="2755216"/>
                <a:gridCol w="2426384"/>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Damping or mass coefficient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1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5" name="AutoShape 5"/>
          <p:cNvSpPr/>
          <p:nvPr/>
        </p:nvSpPr>
        <p:spPr>
          <a:xfrm flipH="false" flipV="false" rot="0">
            <a:off x="838200" y="1825625"/>
            <a:ext cx="5181600" cy="649288"/>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true" i="false" lang="en-US" sz="3200" u="none">
                <a:latin typeface="Calibri Light"/>
              </a:rPr>
              <a:t>Zero Flux 2</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Zero Flux 2</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9" name="Table 9"/>
          <p:cNvGraphicFramePr>
            <a:graphicFrameLocks noGrp="true"/>
          </p:cNvGraphicFramePr>
          <p:nvPr/>
        </p:nvGraphicFramePr>
        <p:xfrm>
          <a:off x="838200" y="2601912"/>
          <a:ext cx="5232400" cy="9192659"/>
        </p:xfrm>
        <a:graphic>
          <a:graphicData uri="http://schemas.openxmlformats.org/drawingml/2006/table">
            <a:tbl>
              <a:tblPr/>
              <a:tblGrid>
                <a:gridCol w="2537806"/>
                <a:gridCol w="264379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Geometric entity level</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Boundary</a:t>
                      </a:r>
                      <a:endParaRPr lang="en-US" sz="1100"/>
                    </a:p>
                  </a:txBody>
                  <a:tcPr>
                    <a:lnL>
                      <a:noFill/>
                    </a:lnL>
                    <a:lnR>
                      <a:noFill/>
                    </a:lnR>
                    <a:lnT>
                      <a:noFill/>
                    </a:lnT>
                    <a:lnB>
                      <a:noFill/>
                    </a:lnB>
                  </a:tcPr>
                </a:tc>
              </a:tr>
            </a:tbl>
          </a:graphicData>
        </a:graphic>
      </p:graphicFrame>
    </p:spTree>
  </p:cSld>
  <p:clrMapOvr>
    <a:masterClrMapping/>
  </p:clrMapOvr>
</p:sld>
</file>

<file path=ppt/slides/slide1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Zero Flux 2</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8798282"/>
        </p:xfrm>
        <a:graphic>
          <a:graphicData uri="http://schemas.openxmlformats.org/drawingml/2006/table">
            <a:tbl>
              <a:tblPr/>
              <a:tblGrid>
                <a:gridCol w="2537806"/>
                <a:gridCol w="2643794"/>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Selection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Geometry geom1: Dimension 1: Boundaries 1–3, 5, 7, 9, 11, 13, 15, 17, 19, 21, 23, 25, 27, 29, 31, 33, 35, 37, 39, 41, 43, 45, 47, 49, 51, 53, 55, 57, 59, 61, 63, 65, 67, 69, 71, 73, 75, 77, 79, 81, 83, 85, 87, 89, 91, 93, 95, 97, 99, 101, 105, 208, 311, 414, 517, 620, 723, 826, 929, 1032, 1135, 1238, 1341, 1444, 1547, 1650, 1753, 1856, 1959, 2062, 2165, 2268, 2371, 2474, 2577, 2680, 2783, 2886, 2989, 3092, 3195, 3298, 3401, 3504, 3607, 3710, 3813, 3916, 4019, 4122, 4225, 4328, 4431, 4534, 4637, 4740, 4843, 4946, 5049, 5152</a:t>
                      </a:r>
                      <a:endParaRPr lang="en-US" sz="1100"/>
                    </a:p>
                  </a:txBody>
                  <a:tcPr>
                    <a:lnL>
                      <a:noFill/>
                    </a:lnL>
                    <a:lnR>
                      <a:noFill/>
                    </a:lnR>
                    <a:lnT>
                      <a:noFill/>
                    </a:lnT>
                    <a:lnB>
                      <a:noFill/>
                    </a:lnB>
                  </a:tcPr>
                </a:tc>
              </a:tr>
            </a:tbl>
          </a:graphicData>
        </a:graphic>
      </p:graphicFrame>
    </p:spTree>
  </p:cSld>
  <p:clrMapOvr>
    <a:masterClrMapping/>
  </p:clrMapOvr>
</p:sld>
</file>

<file path=ppt/slides/slide1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Zero Flux 2</a:t>
            </a:r>
          </a:p>
        </p:txBody>
      </p:sp>
      <p:pic>
        <p:nvPicPr>
          <p:cNvPr id="6" name="Picture 6"/>
          <p:cNvPicPr>
            <a:picLocks noChangeAspect="true"/>
          </p:cNvPicPr>
          <p:nvPr>
            <p:custDataLst>
              <p:tags r:id="rId6"/>
            </p:custDataLst>
          </p:nvPr>
        </p:nvPicPr>
        <p:blipFill>
          <a:blip r:embed="rId2"/>
          <a:stretch>
            <a:fillRect/>
          </a:stretch>
        </p:blipFill>
        <p:spPr>
          <a:xfrm>
            <a:off x="6172200" y="1896289"/>
            <a:ext cx="5181600" cy="3886200"/>
          </a:xfrm>
          <a:prstGeom prst="rect">
            <a:avLst/>
          </a:prstGeom>
        </p:spPr>
      </p:pic>
      <p:sp>
        <p:nvSpPr>
          <p:cNvPr id="5" name="AutoShape 5"/>
          <p:cNvSpPr/>
          <p:nvPr/>
        </p:nvSpPr>
        <p:spPr>
          <a:xfrm flipH="false" flipV="false" rot="0">
            <a:off x="838200" y="1825625"/>
            <a:ext cx="5181600" cy="636796"/>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false" i="true" lang="en-US" sz="2240" u="none">
                <a:latin typeface="Calibri"/>
              </a:rPr>
              <a:t>Equations</a:t>
            </a:r>
          </a:p>
        </p:txBody>
      </p:sp>
      <p:pic>
        <p:nvPicPr>
          <p:cNvPr id="9" name="Picture 9"/>
          <p:cNvPicPr>
            <a:picLocks noChangeAspect="true"/>
          </p:cNvPicPr>
          <p:nvPr/>
        </p:nvPicPr>
        <p:blipFill>
          <a:blip r:embed="rId3"/>
          <a:stretch>
            <a:fillRect/>
          </a:stretch>
        </p:blipFill>
        <p:spPr>
          <a:xfrm>
            <a:off x="965200" y="2652921"/>
            <a:ext cx="2171700" cy="254000"/>
          </a:xfrm>
          <a:prstGeom prst="rect">
            <a:avLst/>
          </a:prstGeom>
        </p:spPr>
      </p:pic>
      <p:pic>
        <p:nvPicPr>
          <p:cNvPr id="11" name="Picture 11"/>
          <p:cNvPicPr>
            <a:picLocks noChangeAspect="true"/>
          </p:cNvPicPr>
          <p:nvPr/>
        </p:nvPicPr>
        <p:blipFill>
          <a:blip r:embed="rId4"/>
          <a:stretch>
            <a:fillRect/>
          </a:stretch>
        </p:blipFill>
        <p:spPr>
          <a:xfrm>
            <a:off x="965200" y="3287921"/>
            <a:ext cx="2603500" cy="266700"/>
          </a:xfrm>
          <a:prstGeom prst="rect">
            <a:avLst/>
          </a:prstGeom>
        </p:spPr>
      </p:pic>
      <p:pic>
        <p:nvPicPr>
          <p:cNvPr id="13" name="Picture 13"/>
          <p:cNvPicPr>
            <a:picLocks noChangeAspect="true"/>
          </p:cNvPicPr>
          <p:nvPr/>
        </p:nvPicPr>
        <p:blipFill>
          <a:blip r:embed="rId5"/>
          <a:stretch>
            <a:fillRect/>
          </a:stretch>
        </p:blipFill>
        <p:spPr>
          <a:xfrm>
            <a:off x="965200" y="3935621"/>
            <a:ext cx="1104900" cy="508000"/>
          </a:xfrm>
          <a:prstGeom prst="rect">
            <a:avLst/>
          </a:prstGeom>
        </p:spPr>
      </p:pic>
    </p:spTree>
  </p:cSld>
  <p:clrMapOvr>
    <a:masterClrMapping/>
  </p:clrMapOvr>
</p:sld>
</file>

<file path=ppt/slides/slide1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5" name="AutoShape 5"/>
          <p:cNvSpPr/>
          <p:nvPr/>
        </p:nvSpPr>
        <p:spPr>
          <a:xfrm flipH="false" flipV="false" rot="0">
            <a:off x="838200" y="1825625"/>
            <a:ext cx="5181600" cy="649288"/>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true" i="false" lang="en-US" sz="3200" u="none">
                <a:latin typeface="Calibri Light"/>
              </a:rPr>
              <a:t>Flux/Source 1</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Flux/Source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9" name="Table 9"/>
          <p:cNvGraphicFramePr>
            <a:graphicFrameLocks noGrp="true"/>
          </p:cNvGraphicFramePr>
          <p:nvPr/>
        </p:nvGraphicFramePr>
        <p:xfrm>
          <a:off x="838200" y="2601912"/>
          <a:ext cx="5232400" cy="9817621"/>
        </p:xfrm>
        <a:graphic>
          <a:graphicData uri="http://schemas.openxmlformats.org/drawingml/2006/table">
            <a:tbl>
              <a:tblPr/>
              <a:tblGrid>
                <a:gridCol w="3521133"/>
                <a:gridCol w="1660467"/>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Geometric entity level</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Boundary</a:t>
                      </a:r>
                      <a:endParaRPr lang="en-US" sz="1100"/>
                    </a:p>
                  </a:txBody>
                  <a:tcPr>
                    <a:lnL>
                      <a:noFill/>
                    </a:lnL>
                    <a:lnR>
                      <a:noFill/>
                    </a:lnR>
                    <a:lnT>
                      <a:noFill/>
                    </a:lnT>
                    <a:lnB>
                      <a:noFill/>
                    </a:lnB>
                  </a:tcPr>
                </a:tc>
              </a:tr>
            </a:tbl>
          </a:graphicData>
        </a:graphic>
      </p:graphicFrame>
    </p:spTree>
  </p:cSld>
  <p:clrMapOvr>
    <a:masterClrMapping/>
  </p:clrMapOvr>
</p:sld>
</file>

<file path=ppt/slides/slide1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Flux/Source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9423243"/>
        </p:xfrm>
        <a:graphic>
          <a:graphicData uri="http://schemas.openxmlformats.org/drawingml/2006/table">
            <a:tbl>
              <a:tblPr/>
              <a:tblGrid>
                <a:gridCol w="3521133"/>
                <a:gridCol w="1660467"/>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Selection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Geometry geom1: Dimension 1: Boundaries 103, 206, 309, 412, 515, 618, 721, 824, 927, 1030, 1133, 1236, 1339, 1442, 1545, 1648, 1751, 1854, 1957, 2060, 2163, 2266, 2369, 2472, 2575, 2678, 2781, 2884, 2987, 3090, 3193, 3296, 3399, 3502, 3605, 3708, 3811, 3914, 4017, 4120, 4223, 4326, 4429, 4532, 4635, 4738, 4841, 4944, 5047, 5150, 5253–5304</a:t>
                      </a:r>
                      <a:endParaRPr lang="en-US" sz="1100"/>
                    </a:p>
                  </a:txBody>
                  <a:tcPr>
                    <a:lnL>
                      <a:noFill/>
                    </a:lnL>
                    <a:lnR>
                      <a:noFill/>
                    </a:lnR>
                    <a:lnT>
                      <a:noFill/>
                    </a:lnT>
                    <a:lnB>
                      <a:noFill/>
                    </a:lnB>
                  </a:tcPr>
                </a:tc>
              </a:tr>
            </a:tbl>
          </a:graphicData>
        </a:graphic>
      </p:graphicFrame>
    </p:spTree>
  </p:cSld>
  <p:clrMapOvr>
    <a:masterClrMapping/>
  </p:clrMapOvr>
</p:sld>
</file>

<file path=ppt/slides/slide1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Flux/Source 1</a:t>
            </a:r>
          </a:p>
        </p:txBody>
      </p:sp>
      <p:pic>
        <p:nvPicPr>
          <p:cNvPr id="6" name="Picture 6"/>
          <p:cNvPicPr>
            <a:picLocks noChangeAspect="true"/>
          </p:cNvPicPr>
          <p:nvPr>
            <p:custDataLst>
              <p:tags r:id="rId6"/>
            </p:custDataLst>
          </p:nvPr>
        </p:nvPicPr>
        <p:blipFill>
          <a:blip r:embed="rId2"/>
          <a:stretch>
            <a:fillRect/>
          </a:stretch>
        </p:blipFill>
        <p:spPr>
          <a:xfrm>
            <a:off x="6172200" y="1896289"/>
            <a:ext cx="5181600" cy="3886200"/>
          </a:xfrm>
          <a:prstGeom prst="rect">
            <a:avLst/>
          </a:prstGeom>
        </p:spPr>
      </p:pic>
      <p:sp>
        <p:nvSpPr>
          <p:cNvPr id="5" name="AutoShape 5"/>
          <p:cNvSpPr/>
          <p:nvPr/>
        </p:nvSpPr>
        <p:spPr>
          <a:xfrm flipH="false" flipV="false" rot="0">
            <a:off x="838200" y="1825625"/>
            <a:ext cx="5181600" cy="636796"/>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false" i="true" lang="en-US" sz="2240" u="none">
                <a:latin typeface="Calibri"/>
              </a:rPr>
              <a:t>Equations</a:t>
            </a:r>
          </a:p>
        </p:txBody>
      </p:sp>
      <p:pic>
        <p:nvPicPr>
          <p:cNvPr id="9" name="Picture 9"/>
          <p:cNvPicPr>
            <a:picLocks noChangeAspect="true"/>
          </p:cNvPicPr>
          <p:nvPr/>
        </p:nvPicPr>
        <p:blipFill>
          <a:blip r:embed="rId3"/>
          <a:stretch>
            <a:fillRect/>
          </a:stretch>
        </p:blipFill>
        <p:spPr>
          <a:xfrm>
            <a:off x="965200" y="2652921"/>
            <a:ext cx="2590800" cy="254000"/>
          </a:xfrm>
          <a:prstGeom prst="rect">
            <a:avLst/>
          </a:prstGeom>
        </p:spPr>
      </p:pic>
      <p:pic>
        <p:nvPicPr>
          <p:cNvPr id="11" name="Picture 11"/>
          <p:cNvPicPr>
            <a:picLocks noChangeAspect="true"/>
          </p:cNvPicPr>
          <p:nvPr/>
        </p:nvPicPr>
        <p:blipFill>
          <a:blip r:embed="rId4"/>
          <a:stretch>
            <a:fillRect/>
          </a:stretch>
        </p:blipFill>
        <p:spPr>
          <a:xfrm>
            <a:off x="965200" y="3287921"/>
            <a:ext cx="2603500" cy="266700"/>
          </a:xfrm>
          <a:prstGeom prst="rect">
            <a:avLst/>
          </a:prstGeom>
        </p:spPr>
      </p:pic>
      <p:pic>
        <p:nvPicPr>
          <p:cNvPr id="13" name="Picture 13"/>
          <p:cNvPicPr>
            <a:picLocks noChangeAspect="true"/>
          </p:cNvPicPr>
          <p:nvPr/>
        </p:nvPicPr>
        <p:blipFill>
          <a:blip r:embed="rId5"/>
          <a:stretch>
            <a:fillRect/>
          </a:stretch>
        </p:blipFill>
        <p:spPr>
          <a:xfrm>
            <a:off x="965200" y="3935621"/>
            <a:ext cx="1104900" cy="508000"/>
          </a:xfrm>
          <a:prstGeom prst="rect">
            <a:avLst/>
          </a:prstGeom>
        </p:spPr>
      </p:pic>
    </p:spTree>
  </p:cSld>
  <p:clrMapOvr>
    <a:masterClrMapping/>
  </p:clrMapOvr>
</p:sld>
</file>

<file path=ppt/slides/slide1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Flux/Source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6149746"/>
        </p:xfrm>
        <a:graphic>
          <a:graphicData uri="http://schemas.openxmlformats.org/drawingml/2006/table">
            <a:tbl>
              <a:tblPr/>
              <a:tblGrid>
                <a:gridCol w="3521133"/>
                <a:gridCol w="1660467"/>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Boundary absorption/impedance term</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 0, 0, 0, 0, 0, 0}, {0, 0, 0, 0, 0, 0, 0}, {0, 0, 0, 0, 0, 0, 0}, {0, 0, 0, 0, 0, 0, 0}, {0, 0, 0, 0, 0, 0, 0}, {0, 0, 0, 0, 0, 0, 0}, {0, 0, 0, 0, 0, 0, 0}}</a:t>
                      </a:r>
                      <a:endParaRPr lang="en-US" sz="1100"/>
                    </a:p>
                  </a:txBody>
                  <a:tcPr>
                    <a:lnL>
                      <a:noFill/>
                    </a:lnL>
                    <a:lnR>
                      <a:noFill/>
                    </a:lnR>
                    <a:lnT>
                      <a:noFill/>
                    </a:lnT>
                    <a:lnB>
                      <a:noFill/>
                    </a:lnB>
                  </a:tcPr>
                </a:tc>
              </a:tr>
            </a:tbl>
          </a:graphicData>
        </a:graphic>
      </p:graphicFrame>
    </p:spTree>
  </p:cSld>
  <p:clrMapOvr>
    <a:masterClrMapping/>
  </p:clrMapOvr>
</p:sld>
</file>

<file path=ppt/slides/slide1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Coefficient Form PDE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Flux/Source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2943041"/>
        </p:xfrm>
        <a:graphic>
          <a:graphicData uri="http://schemas.openxmlformats.org/drawingml/2006/table">
            <a:tbl>
              <a:tblPr/>
              <a:tblGrid>
                <a:gridCol w="3521133"/>
                <a:gridCol w="1660467"/>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Boundary flux/source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{-0.5*phi1, -0.5*phi2, -0.5*phi3, -0.5*phi4, -0.5*phi5, -0.5*phi6, -0.5*phi7}</a:t>
                      </a:r>
                      <a:endParaRPr lang="en-US" sz="1100"/>
                    </a:p>
                  </a:txBody>
                  <a:tcPr>
                    <a:lnL>
                      <a:noFill/>
                    </a:lnL>
                    <a:lnR>
                      <a:noFill/>
                    </a:lnR>
                    <a:lnT>
                      <a:noFill/>
                    </a:lnT>
                    <a:lnB>
                      <a:noFill/>
                    </a:lnB>
                  </a:tcPr>
                </a:tc>
              </a:tr>
            </a:tbl>
          </a:graphicData>
        </a:graphic>
      </p:graphicFrame>
    </p:spTree>
  </p:cSld>
  <p:clrMapOvr>
    <a:masterClrMapping/>
  </p:clrMapOvr>
</p:sld>
</file>

<file path=ppt/slides/slide1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Mesh 1</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Mesh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3828797"/>
        </p:xfrm>
        <a:graphic>
          <a:graphicData uri="http://schemas.openxmlformats.org/drawingml/2006/table">
            <a:tbl>
              <a:tblPr/>
              <a:tblGrid>
                <a:gridCol w="3080173"/>
                <a:gridCol w="2101427"/>
              </a:tblGrid>
              <a:tr h="254000">
                <a:tc gridSpan="2">
                  <a:txBody>
                    <a:bodyPr anchor="t" rtlCol="false"/>
                    <a:lstStyle/>
                    <a:p>
                      <a:pPr algn="l">
                        <a:defRPr/>
                      </a:pPr>
                      <a:r>
                        <a:rPr b="false" i="true" lang="en-US" sz="2240" u="none">
                          <a:latin typeface="Calibri"/>
                        </a:rPr>
                        <a:t>Mesh statistics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Status</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Complete mesh</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Mesh vertices</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5305</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Triangles</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10404</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Edge elements</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5304</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Vertex elements</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2704</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Number of elements</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10404</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Minimum element quality</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0.75</a:t>
                      </a:r>
                      <a:endParaRPr lang="en-US" sz="1100"/>
                    </a:p>
                  </a:txBody>
                  <a:tcPr>
                    <a:lnL>
                      <a:noFill/>
                    </a:lnL>
                    <a:lnR>
                      <a:noFill/>
                    </a:lnR>
                    <a:lnT>
                      <a:noFill/>
                    </a:lnT>
                    <a:lnB>
                      <a:noFill/>
                    </a:lnB>
                  </a:tcPr>
                </a:tc>
              </a:tr>
            </a:tbl>
          </a:graphicData>
        </a:graphic>
      </p:graphicFrame>
    </p:spTree>
  </p:cSld>
  <p:clrMapOvr>
    <a:masterClrMapping/>
  </p:clrMapOvr>
</p:sld>
</file>

<file path=ppt/slides/slide1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Mesh 1 (continued)</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Mesh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856910"/>
        </p:xfrm>
        <a:graphic>
          <a:graphicData uri="http://schemas.openxmlformats.org/drawingml/2006/table">
            <a:tbl>
              <a:tblPr/>
              <a:tblGrid>
                <a:gridCol w="3080173"/>
                <a:gridCol w="2101427"/>
              </a:tblGrid>
              <a:tr h="254000">
                <a:tc gridSpan="2">
                  <a:txBody>
                    <a:bodyPr anchor="t" rtlCol="false"/>
                    <a:lstStyle/>
                    <a:p>
                      <a:pPr algn="l">
                        <a:defRPr/>
                      </a:pPr>
                      <a:r>
                        <a:rPr b="false" i="true" lang="en-US" sz="2240" u="none">
                          <a:latin typeface="Calibri"/>
                        </a:rPr>
                        <a:t>Mesh statistics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Average element quality</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0.75</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Element area ratio</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1</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Mesh area</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4129 m²</a:t>
                      </a:r>
                      <a:endParaRPr lang="en-US" sz="1100"/>
                    </a:p>
                  </a:txBody>
                  <a:tcPr>
                    <a:lnL>
                      <a:noFill/>
                    </a:lnL>
                    <a:lnR>
                      <a:noFill/>
                    </a:lnR>
                    <a:lnT>
                      <a:noFill/>
                    </a:lnT>
                    <a:lnB>
                      <a:noFill/>
                    </a:lnB>
                  </a:tcPr>
                </a:tc>
              </a:tr>
            </a:tbl>
          </a:graphicData>
        </a:graphic>
      </p:graphicFrame>
    </p:spTree>
  </p:cSld>
  <p:clrMapOvr>
    <a:masterClrMapping/>
  </p:clrMapOvr>
</p:sld>
</file>

<file path=ppt/slides/slide1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72D11ECB-5946-45BA-9D00-67CC6F9343A2}"/>
              </a:ext>
            </a:extLst>
          </p:cNvPr>
          <p:cNvSpPr>
            <a:spLocks noGrp="1"/>
          </p:cNvSpPr>
          <p:nvPr>
            <p:ph type="title"/>
          </p:nvPr>
        </p:nvSpPr>
        <p:spPr/>
        <p:txBody>
          <a:bodyPr/>
          <a:lstStyle/>
          <a:p>
            <a:r>
              <a:rPr lang="en-US"/>
              <a:t>Mesh 1 (continued)</a:t>
            </a:r>
          </a:p>
        </p:txBody>
      </p:sp>
      <p:sp>
        <p:nvSpPr>
          <p:cNvPr name="AutoShape 4" id="4"/>
          <p:cNvSpPr/>
          <p:nvPr/>
        </p:nvSpPr>
        <p:spPr>
          <a:xfrm flipH="false" flipV="false" rot="0">
            <a:off x="838200" y="1825625"/>
            <a:ext cx="10515600" cy="649288"/>
          </a:xfrm>
          <a:prstGeom prst="rect">
            <a:avLst/>
          </a:prstGeom>
          <a:noFill/>
          <a:ln>
            <a:noFill/>
            <a:headEnd type="none" len="med" w="med"/>
            <a:tailEnd type="none" len="med" w="med"/>
          </a:ln>
        </p:spPr>
        <p:txBody>
          <a:bodyPr anchorCtr="false" anchor="t" vert="horz" tIns="45720" lIns="91440" bIns="45720" rIns="91440" wrap="square">
            <a:normAutofit/>
          </a:bodyPr>
          <a:p>
            <a:pPr algn="l">
              <a:spcAft>
                <a:spcPct val="30000"/>
              </a:spcAft>
            </a:pPr>
            <a:r>
              <a:rPr lang="en-US" sz="3200" b="true" i="false" u="none">
                <a:latin typeface="Calibri Light"/>
              </a:rPr>
              <a:t>Size (size)</a:t>
            </a:r>
          </a:p>
        </p:txBody>
      </p:sp>
      <p:graphicFrame>
        <p:nvGraphicFramePr>
          <p:cNvPr name="Table 6" id="6"/>
          <p:cNvGraphicFramePr>
            <a:graphicFrameLocks noGrp="true"/>
          </p:cNvGraphicFramePr>
          <p:nvPr/>
        </p:nvGraphicFramePr>
        <p:xfrm>
          <a:off x="838200" y="2601912"/>
          <a:ext cx="5308600" cy="2455798"/>
        </p:xfrm>
        <a:graphic>
          <a:graphicData uri="http://schemas.openxmlformats.org/drawingml/2006/table">
            <a:tbl>
              <a:tblPr/>
              <a:tblGrid>
                <a:gridCol w="3962128"/>
                <a:gridCol w="1295672"/>
              </a:tblGrid>
              <a:tr h="254000">
                <a:tc gridSpan="2">
                  <a:txBody>
                    <a:bodyPr anchor="t" rtlCol="false"/>
                    <a:lstStyle/>
                    <a:p>
                      <a:pPr algn="l">
                        <a:defRPr/>
                      </a:pPr>
                      <a:r>
                        <a:rPr lang="en-US" sz="2240" b="false" i="true"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lang="en-US" sz="2240" b="true" i="false" u="none">
                          <a:latin typeface="Calibri"/>
                        </a:rPr>
                        <a:t>Description</a:t>
                      </a:r>
                      <a:endParaRPr lang="en-US" sz="1100"/>
                    </a:p>
                  </a:txBody>
                  <a:tcPr>
                    <a:lnL>
                      <a:noFill/>
                    </a:lnL>
                    <a:lnR>
                      <a:noFill/>
                    </a:lnR>
                    <a:lnT>
                      <a:noFill/>
                    </a:lnT>
                    <a:lnB>
                      <a:noFill/>
                    </a:lnB>
                  </a:tcPr>
                </a:tc>
                <a:tc>
                  <a:txBody>
                    <a:bodyPr anchor="t" rtlCol="false"/>
                    <a:lstStyle/>
                    <a:p>
                      <a:pPr algn="l">
                        <a:defRPr/>
                      </a:pPr>
                      <a:r>
                        <a:rPr lang="en-US" sz="2240" b="true" i="false" u="none">
                          <a:latin typeface="Calibri"/>
                        </a:rPr>
                        <a:t>Value</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Maximum element size</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4.31</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Minimum element size</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0.0193</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Curvature factor</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0.3</a:t>
                      </a:r>
                      <a:endParaRPr lang="en-US" sz="1100"/>
                    </a:p>
                  </a:txBody>
                  <a:tcPr>
                    <a:lnL>
                      <a:noFill/>
                    </a:lnL>
                    <a:lnR>
                      <a:noFill/>
                    </a:lnR>
                    <a:lnT>
                      <a:noFill/>
                    </a:lnT>
                    <a:lnB>
                      <a:noFill/>
                    </a:lnB>
                  </a:tcPr>
                </a:tc>
              </a:tr>
              <a:tr h="254000">
                <a:tc>
                  <a:txBody>
                    <a:bodyPr anchor="t" rtlCol="false"/>
                    <a:lstStyle/>
                    <a:p>
                      <a:pPr algn="l">
                        <a:defRPr/>
                      </a:pPr>
                      <a:r>
                        <a:rPr lang="en-US" sz="2240" b="false" i="false" u="none">
                          <a:latin typeface="Calibri"/>
                        </a:rPr>
                        <a:t>Maximum element growth rate</a:t>
                      </a:r>
                      <a:endParaRPr lang="en-US" sz="1100"/>
                    </a:p>
                  </a:txBody>
                  <a:tcPr>
                    <a:lnL>
                      <a:noFill/>
                    </a:lnL>
                    <a:lnR>
                      <a:noFill/>
                    </a:lnR>
                    <a:lnT>
                      <a:noFill/>
                    </a:lnT>
                    <a:lnB>
                      <a:noFill/>
                    </a:lnB>
                  </a:tcPr>
                </a:tc>
                <a:tc>
                  <a:txBody>
                    <a:bodyPr anchor="t" rtlCol="false"/>
                    <a:lstStyle/>
                    <a:p>
                      <a:pPr algn="l">
                        <a:defRPr/>
                      </a:pPr>
                      <a:r>
                        <a:rPr lang="en-US" sz="2240" b="false" i="false" u="none">
                          <a:latin typeface="Calibri"/>
                        </a:rPr>
                        <a:t>1.3</a:t>
                      </a:r>
                      <a:endParaRPr lang="en-US" sz="1100"/>
                    </a:p>
                  </a:txBody>
                  <a:tcPr>
                    <a:lnL>
                      <a:noFill/>
                    </a:lnL>
                    <a:lnR>
                      <a:noFill/>
                    </a:lnR>
                    <a:lnT>
                      <a:noFill/>
                    </a:lnT>
                    <a:lnB>
                      <a:noFill/>
                    </a:lnB>
                  </a:tcPr>
                </a:tc>
              </a:tr>
            </a:tbl>
          </a:graphicData>
        </a:graphic>
      </p:graphicFrame>
    </p:spTree>
  </p:cSld>
  <p:clrMapOvr>
    <a:masterClrMapping/>
  </p:clrMapOvr>
</p:sld>
</file>

<file path=ppt/slides/slide1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Mesh 1 (continued)</a:t>
            </a:r>
          </a:p>
        </p:txBody>
      </p:sp>
      <p:sp>
        <p:nvSpPr>
          <p:cNvPr id="5" name="AutoShape 5"/>
          <p:cNvSpPr/>
          <p:nvPr/>
        </p:nvSpPr>
        <p:spPr>
          <a:xfrm flipH="false" flipV="false" rot="0">
            <a:off x="838200" y="1825625"/>
            <a:ext cx="5181600" cy="649288"/>
          </a:xfrm>
          <a:prstGeom prst="rect">
            <a:avLst/>
          </a:prstGeom>
          <a:noFill/>
          <a:ln>
            <a:noFill/>
            <a:headEnd len="med" type="none" w="med"/>
            <a:tailEnd len="med" type="none" w="med"/>
          </a:ln>
        </p:spPr>
        <p:txBody>
          <a:bodyPr anchor="t" anchorCtr="false" bIns="45720" lIns="91440" rIns="91440" tIns="45720" vert="horz" wrap="square">
            <a:normAutofit/>
          </a:bodyPr>
          <a:p>
            <a:pPr algn="l">
              <a:spcAft>
                <a:spcPct val="30000"/>
              </a:spcAft>
            </a:pPr>
            <a:r>
              <a:rPr b="true" i="false" lang="en-US" sz="3200" u="none">
                <a:latin typeface="Calibri Light"/>
              </a:rPr>
              <a:t>Free Triangular 1 (ftri1)</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Free Triangular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9" name="Table 9"/>
          <p:cNvGraphicFramePr>
            <a:graphicFrameLocks noGrp="true"/>
          </p:cNvGraphicFramePr>
          <p:nvPr/>
        </p:nvGraphicFramePr>
        <p:xfrm>
          <a:off x="838200" y="2601912"/>
          <a:ext cx="5232400" cy="1068155"/>
        </p:xfrm>
        <a:graphic>
          <a:graphicData uri="http://schemas.openxmlformats.org/drawingml/2006/table">
            <a:tbl>
              <a:tblPr/>
              <a:tblGrid>
                <a:gridCol w="2534334"/>
                <a:gridCol w="2647266"/>
              </a:tblGrid>
              <a:tr h="254000">
                <a:tc gridSpan="2">
                  <a:txBody>
                    <a:bodyPr anchor="t" rtlCol="false"/>
                    <a:lstStyle/>
                    <a:p>
                      <a:pPr algn="l">
                        <a:defRPr/>
                      </a:pPr>
                      <a:r>
                        <a:rPr b="false" i="true" lang="en-US" sz="2240" u="none">
                          <a:latin typeface="Calibri"/>
                        </a:rPr>
                        <a:t>Selection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false" i="false" lang="en-US" sz="2016" u="none">
                          <a:latin typeface="Calibri"/>
                        </a:rPr>
                        <a:t>Geometric entity level</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Domain</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Selection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Remaining</a:t>
                      </a:r>
                      <a:endParaRPr lang="en-US" sz="1100"/>
                    </a:p>
                  </a:txBody>
                  <a:tcPr>
                    <a:lnL>
                      <a:noFill/>
                    </a:lnL>
                    <a:lnR>
                      <a:noFill/>
                    </a:lnR>
                    <a:lnT>
                      <a:noFill/>
                    </a:lnT>
                    <a:lnB>
                      <a:noFill/>
                    </a:lnB>
                  </a:tcPr>
                </a:tc>
              </a:tr>
            </a:tbl>
          </a:graphicData>
        </a:graphic>
      </p:graphicFrame>
    </p:spTree>
  </p:cSld>
  <p:clrMapOvr>
    <a:masterClrMapping/>
  </p:clrMapOvr>
</p:sld>
</file>

<file path=ppt/slides/slide1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Mesh 1 (continued)</a:t>
            </a:r>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Free Triangular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3188730"/>
        </p:xfrm>
        <a:graphic>
          <a:graphicData uri="http://schemas.openxmlformats.org/drawingml/2006/table">
            <a:tbl>
              <a:tblPr/>
              <a:tblGrid>
                <a:gridCol w="2534334"/>
                <a:gridCol w="2647266"/>
              </a:tblGrid>
              <a:tr h="254000">
                <a:tc gridSpan="2">
                  <a:txBody>
                    <a:bodyPr anchor="t" rtlCol="false"/>
                    <a:lstStyle/>
                    <a:p>
                      <a:pPr algn="l">
                        <a:defRPr/>
                      </a:pPr>
                      <a:r>
                        <a:rPr b="false" i="true" lang="en-US" sz="2240" u="none">
                          <a:latin typeface="Calibri"/>
                        </a:rPr>
                        <a:t>Settings</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Number of iterations</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4</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Maximum element depth to process</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4</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Last build time</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4</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Built with</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COMSOL 6.0.0.318 (win64)|2026 - 06 - 28T14:53:05.253178700</a:t>
                      </a:r>
                      <a:endParaRPr lang="en-US" sz="1100"/>
                    </a:p>
                  </a:txBody>
                  <a:tcPr>
                    <a:lnL>
                      <a:noFill/>
                    </a:lnL>
                    <a:lnR>
                      <a:noFill/>
                    </a:lnR>
                    <a:lnT>
                      <a:noFill/>
                    </a:lnT>
                    <a:lnB>
                      <a:noFill/>
                    </a:lnB>
                  </a:tcPr>
                </a:tc>
              </a:tr>
            </a:tbl>
          </a:graphicData>
        </a:graphic>
      </p:graphicFrame>
    </p:spTree>
  </p:cSld>
  <p:clrMapOvr>
    <a:masterClrMapping/>
  </p:clrMapOvr>
</p:sld>
</file>

<file path=ppt/slides/slide1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BB0ABC90-8170-4D79-89A9-C888F72D4A3A}"/>
              </a:ext>
            </a:extLst>
          </p:cNvPr>
          <p:cNvSpPr>
            <a:spLocks noGrp="1"/>
          </p:cNvSpPr>
          <p:nvPr>
            <p:ph type="title"/>
          </p:nvPr>
        </p:nvSpPr>
        <p:spPr>
          <a:xfrm>
            <a:off x="831850" y="1709738"/>
            <a:ext cx="10515600" cy="2852737"/>
          </a:xfrm>
        </p:spPr>
        <p:txBody>
          <a:bodyPr anchor="b"/>
          <a:lstStyle>
            <a:lvl1pPr>
              <a:defRPr sz="6000"/>
            </a:lvl1pPr>
          </a:lstStyle>
          <a:p>
            <a:r>
              <a:rPr lang="en-US"/>
              <a:t>Results</a:t>
            </a:r>
          </a:p>
        </p:txBody>
      </p:sp>
    </p:spTree>
  </p:cSld>
  <p:clrMapOvr>
    <a:masterClrMapping/>
  </p:clrMapOvr>
</p:sld>
</file>

<file path=ppt/slides/slide1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BB0ABC90-8170-4D79-89A9-C888F72D4A3A}"/>
              </a:ext>
            </a:extLst>
          </p:cNvPr>
          <p:cNvSpPr>
            <a:spLocks noGrp="1"/>
          </p:cNvSpPr>
          <p:nvPr>
            <p:ph type="title"/>
          </p:nvPr>
        </p:nvSpPr>
        <p:spPr>
          <a:xfrm>
            <a:off x="831850" y="1709738"/>
            <a:ext cx="10515600" cy="2852737"/>
          </a:xfrm>
        </p:spPr>
        <p:txBody>
          <a:bodyPr anchor="b"/>
          <a:lstStyle>
            <a:lvl1pPr>
              <a:defRPr sz="6000"/>
            </a:lvl1pPr>
          </a:lstStyle>
          <a:p>
            <a:r>
              <a:rPr lang="en-US"/>
              <a:t>Datasets</a:t>
            </a:r>
          </a:p>
        </p:txBody>
      </p:sp>
    </p:spTree>
  </p:cSld>
  <p:clrMapOvr>
    <a:masterClrMapping/>
  </p:clrMapOvr>
</p:sld>
</file>

<file path=ppt/slides/slide1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1CC-138F-4308-88D3-AF143E29F510}"/>
              </a:ext>
            </a:extLst>
          </p:cNvPr>
          <p:cNvSpPr>
            <a:spLocks noGrp="1"/>
          </p:cNvSpPr>
          <p:nvPr>
            <p:ph type="title"/>
          </p:nvPr>
        </p:nvSpPr>
        <p:spPr/>
        <p:txBody>
          <a:bodyPr/>
          <a:lstStyle/>
          <a:p>
            <a:r>
              <a:rPr lang="en-US"/>
              <a:t>Study 1/Solution 1</a:t>
            </a:r>
            <a:endParaRPr lang="en-US"/>
          </a:p>
        </p:txBody>
      </p:sp>
      <p:sp>
        <p:nvSpPr>
          <p:cNvPr id="7" name="AutoShape 7"/>
          <p:cNvSpPr/>
          <p:nvPr/>
        </p:nvSpPr>
        <p:spPr>
          <a:xfrm>
            <a:off x="6172200" y="5782489"/>
            <a:ext cx="5181600" cy="323810"/>
          </a:xfrm>
          <a:prstGeom prst="rect">
            <a:avLst/>
          </a:prstGeom>
        </p:spPr>
        <p:txBody>
          <a:bodyPr anchor="t" anchorCtr="false"/>
          <a:p>
            <a:r>
              <a:rPr b="false" i="true" lang="en-US" sz="1200" u="none">
                <a:latin typeface="Calibri"/>
              </a:rPr>
              <a:t>Dataset: Study 1/Solution 1</a:t>
            </a:r>
          </a:p>
        </p:txBody>
      </p:sp>
      <p:pic>
        <p:nvPicPr>
          <p:cNvPr id="6" name="Picture 6"/>
          <p:cNvPicPr>
            <a:picLocks noChangeAspect="true"/>
          </p:cNvPicPr>
          <p:nvPr>
            <p:custDataLst>
              <p:tags r:id="rId3"/>
            </p:custDataLst>
          </p:nvPr>
        </p:nvPicPr>
        <p:blipFill>
          <a:blip r:embed="rId2"/>
          <a:stretch>
            <a:fillRect/>
          </a:stretch>
        </p:blipFill>
        <p:spPr>
          <a:xfrm>
            <a:off x="6172200" y="1896289"/>
            <a:ext cx="5181600" cy="3886200"/>
          </a:xfrm>
          <a:prstGeom prst="rect">
            <a:avLst/>
          </a:prstGeom>
        </p:spPr>
      </p:pic>
      <p:graphicFrame>
        <p:nvGraphicFramePr>
          <p:cNvPr id="8" name="Table 8"/>
          <p:cNvGraphicFramePr>
            <a:graphicFrameLocks noGrp="true"/>
          </p:cNvGraphicFramePr>
          <p:nvPr/>
        </p:nvGraphicFramePr>
        <p:xfrm>
          <a:off x="838200" y="1825625"/>
          <a:ext cx="5232400" cy="1462532"/>
        </p:xfrm>
        <a:graphic>
          <a:graphicData uri="http://schemas.openxmlformats.org/drawingml/2006/table">
            <a:tbl>
              <a:tblPr/>
              <a:tblGrid>
                <a:gridCol w="1770380"/>
                <a:gridCol w="3411220"/>
              </a:tblGrid>
              <a:tr h="254000">
                <a:tc gridSpan="2">
                  <a:txBody>
                    <a:bodyPr anchor="t" rtlCol="false"/>
                    <a:lstStyle/>
                    <a:p>
                      <a:pPr algn="l">
                        <a:defRPr/>
                      </a:pPr>
                      <a:r>
                        <a:rPr b="false" i="true" lang="en-US" sz="2240" u="none">
                          <a:latin typeface="Calibri"/>
                        </a:rPr>
                        <a:t>Solution</a:t>
                      </a:r>
                      <a:endParaRPr lang="en-US" sz="1100"/>
                    </a:p>
                  </a:txBody>
                  <a:tcPr>
                    <a:lnL>
                      <a:noFill/>
                    </a:lnL>
                    <a:lnR>
                      <a:noFill/>
                    </a:lnR>
                    <a:lnT>
                      <a:noFill/>
                    </a:lnT>
                    <a:lnB>
                      <a:noFill/>
                    </a:lnB>
                  </a:tcPr>
                </a:tc>
                <a:tc hMerge="true">
                  <a:tcPr>
                    <a:lnL>
                      <a:noFill/>
                    </a:lnL>
                    <a:lnR>
                      <a:noFill/>
                    </a:lnR>
                    <a:lnT>
                      <a:noFill/>
                    </a:lnT>
                    <a:lnB>
                      <a:noFill/>
                    </a:lnB>
                  </a:tcPr>
                </a:tc>
              </a:tr>
              <a:tr h="254000">
                <a:tc>
                  <a:txBody>
                    <a:bodyPr anchor="t" rtlCol="false"/>
                    <a:lstStyle/>
                    <a:p>
                      <a:pPr algn="l">
                        <a:defRPr/>
                      </a:pPr>
                      <a:r>
                        <a:rPr b="true" i="false" lang="en-US" sz="2016" u="none">
                          <a:latin typeface="Calibri"/>
                        </a:rPr>
                        <a:t>Description</a:t>
                      </a:r>
                      <a:endParaRPr lang="en-US" sz="1100"/>
                    </a:p>
                  </a:txBody>
                  <a:tcPr>
                    <a:lnL>
                      <a:noFill/>
                    </a:lnL>
                    <a:lnR>
                      <a:noFill/>
                    </a:lnR>
                    <a:lnT>
                      <a:noFill/>
                    </a:lnT>
                    <a:lnB>
                      <a:noFill/>
                    </a:lnB>
                  </a:tcPr>
                </a:tc>
                <a:tc>
                  <a:txBody>
                    <a:bodyPr anchor="t" rtlCol="false"/>
                    <a:lstStyle/>
                    <a:p>
                      <a:pPr algn="l">
                        <a:defRPr/>
                      </a:pPr>
                      <a:r>
                        <a:rPr b="true" i="false" lang="en-US" sz="2016" u="none">
                          <a:latin typeface="Calibri"/>
                        </a:rPr>
                        <a:t>Value</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Solution</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Solution 1</a:t>
                      </a:r>
                      <a:endParaRPr lang="en-US" sz="1100"/>
                    </a:p>
                  </a:txBody>
                  <a:tcPr>
                    <a:lnL>
                      <a:noFill/>
                    </a:lnL>
                    <a:lnR>
                      <a:noFill/>
                    </a:lnR>
                    <a:lnT>
                      <a:noFill/>
                    </a:lnT>
                    <a:lnB>
                      <a:noFill/>
                    </a:lnB>
                  </a:tcPr>
                </a:tc>
              </a:tr>
              <a:tr h="254000">
                <a:tc>
                  <a:txBody>
                    <a:bodyPr anchor="t" rtlCol="false"/>
                    <a:lstStyle/>
                    <a:p>
                      <a:pPr algn="l">
                        <a:defRPr/>
                      </a:pPr>
                      <a:r>
                        <a:rPr b="false" i="false" lang="en-US" sz="2016" u="none">
                          <a:latin typeface="Calibri"/>
                        </a:rPr>
                        <a:t>Component</a:t>
                      </a:r>
                      <a:endParaRPr lang="en-US" sz="1100"/>
                    </a:p>
                  </a:txBody>
                  <a:tcPr>
                    <a:lnL>
                      <a:noFill/>
                    </a:lnL>
                    <a:lnR>
                      <a:noFill/>
                    </a:lnR>
                    <a:lnT>
                      <a:noFill/>
                    </a:lnT>
                    <a:lnB>
                      <a:noFill/>
                    </a:lnB>
                  </a:tcPr>
                </a:tc>
                <a:tc>
                  <a:txBody>
                    <a:bodyPr anchor="t" rtlCol="false"/>
                    <a:lstStyle/>
                    <a:p>
                      <a:pPr algn="l">
                        <a:defRPr/>
                      </a:pPr>
                      <a:r>
                        <a:rPr b="false" i="false" lang="en-US" sz="2016" u="none">
                          <a:latin typeface="Calibri"/>
                        </a:rPr>
                        <a:t>Component 1 (comp1)</a:t>
                      </a:r>
                      <a:endParaRPr lang="en-US" sz="1100"/>
                    </a:p>
                  </a:txBody>
                  <a:tcPr>
                    <a:lnL>
                      <a:noFill/>
                    </a:lnL>
                    <a:lnR>
                      <a:noFill/>
                    </a:lnR>
                    <a:lnT>
                      <a:noFill/>
                    </a:lnT>
                    <a:lnB>
                      <a:noFill/>
                    </a:lnB>
                  </a:tcPr>
                </a:tc>
              </a:tr>
            </a:tbl>
          </a:graphicData>
        </a:graphic>
      </p:graphicFrame>
    </p:spTree>
  </p:cSld>
  <p:clrMapOvr>
    <a:masterClrMapping/>
  </p:clrMapOvr>
</p:sld>
</file>

<file path=ppt/slides/slide1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a:extLst>
              <a:ext uri="{FF2B5EF4-FFF2-40B4-BE49-F238E27FC236}">
                <a16:creationId xmlns:a16="http://schemas.microsoft.com/office/drawing/2014/main" id="{BB0ABC90-8170-4D79-89A9-C888F72D4A3A}"/>
              </a:ext>
            </a:extLst>
          </p:cNvPr>
          <p:cNvSpPr>
            <a:spLocks noGrp="1"/>
          </p:cNvSpPr>
          <p:nvPr>
            <p:ph type="title"/>
          </p:nvPr>
        </p:nvSpPr>
        <p:spPr>
          <a:xfrm>
            <a:off x="831850" y="1709738"/>
            <a:ext cx="10515600" cy="2852737"/>
          </a:xfrm>
        </p:spPr>
        <p:txBody>
          <a:bodyPr anchor="b"/>
          <a:lstStyle>
            <a:lvl1pPr>
              <a:defRPr sz="6000"/>
            </a:lvl1pPr>
          </a:lstStyle>
          <a:p>
            <a:r>
              <a:rPr lang="en-US"/>
              <a:t>Plot Groups</a:t>
            </a:r>
          </a:p>
        </p:txBody>
      </p:sp>
    </p:spTree>
  </p:cSld>
  <p:clrMapOvr>
    <a:masterClrMapping/>
  </p:clrMapOvr>
</p:sld>
</file>

<file path=ppt/slides/slide1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1ECB-5946-45BA-9D00-67CC6F9343A2}"/>
              </a:ext>
            </a:extLst>
          </p:cNvPr>
          <p:cNvSpPr>
            <a:spLocks noGrp="1"/>
          </p:cNvSpPr>
          <p:nvPr>
            <p:ph type="title"/>
          </p:nvPr>
        </p:nvSpPr>
        <p:spPr/>
        <p:txBody>
          <a:bodyPr/>
          <a:lstStyle/>
          <a:p>
            <a:r>
              <a:rPr lang="en-US"/>
              <a:t>2D Plot Group 1</a:t>
            </a:r>
            <a:endParaRPr lang="en-US"/>
          </a:p>
        </p:txBody>
      </p:sp>
      <p:sp>
        <p:nvSpPr>
          <p:cNvPr id="6" name="AutoShape 6"/>
          <p:cNvSpPr/>
          <p:nvPr/>
        </p:nvSpPr>
        <p:spPr>
          <a:xfrm>
            <a:off x="3410981" y="5853153"/>
            <a:ext cx="6771640" cy="323810"/>
          </a:xfrm>
          <a:prstGeom prst="rect">
            <a:avLst/>
          </a:prstGeom>
        </p:spPr>
        <p:txBody>
          <a:bodyPr anchor="t" anchorCtr="false"/>
          <a:p>
            <a:r>
              <a:rPr b="false" i="true" lang="en-US" sz="1200" u="none">
                <a:latin typeface="Calibri"/>
              </a:rPr>
              <a:t>Surface: Dependent variable phi7 (1)</a:t>
            </a:r>
          </a:p>
        </p:txBody>
      </p:sp>
      <p:pic>
        <p:nvPicPr>
          <p:cNvPr id="5" name="Picture 5"/>
          <p:cNvPicPr>
            <a:picLocks noChangeAspect="true"/>
          </p:cNvPicPr>
          <p:nvPr>
            <p:custDataLst>
              <p:tags r:id="rId3"/>
            </p:custDataLst>
          </p:nvPr>
        </p:nvPicPr>
        <p:blipFill>
          <a:blip r:embed="rId2"/>
          <a:stretch>
            <a:fillRect/>
          </a:stretch>
        </p:blipFill>
        <p:spPr>
          <a:xfrm>
            <a:off x="3410981" y="1825625"/>
            <a:ext cx="5370037" cy="4027528"/>
          </a:xfrm>
          <a:prstGeom prst="rect">
            <a:avLst/>
          </a:prstGeom>
        </p:spPr>
      </p:pic>
    </p:spTree>
  </p:cSld>
  <p:clrMapOvr>
    <a:masterClrMapping/>
  </p:clrMapOvr>
</p:sld>
</file>

<file path=ppt/tags/tag1.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selection/sel1&lt;/Entity&gt;&lt;Tag&gt;sel1&lt;/Tag&gt;&lt;Node&gt;Component 1 (comp1) &amp;gt; Definitions &amp;gt; Selections &amp;gt; UO2&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featureselection&quot; type=&quot;bool&quot; value=&quot;off&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0:59 PM&lt;/UpdateTimeStamp&gt;&lt;/Root&gt;"/>
</p:tagLst>
</file>

<file path=ppt/tags/tag2.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selection/sel1&lt;/Entity&gt;&lt;Tag&gt;sel1&lt;/Tag&gt;&lt;Node&gt;Component 1 (comp1) &amp;gt; Definitions &amp;gt; Selections &amp;gt; UO2&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featureselection&quot; type=&quot;bool&quot; value=&quot;off&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0:59 PM&lt;/UpdateTimeStamp&gt;&lt;/Root&gt;"/>
</p:tagLst>
</file>

<file path=ppt/tags/tag3.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selection/sel2&lt;/Entity&gt;&lt;Tag&gt;sel2&lt;/Tag&gt;&lt;Node&gt;Component 1 (comp1) &amp;gt; Definitions &amp;gt; Selections &amp;gt; MOX %4.3&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featureselection&quot; type=&quot;bool&quot; value=&quot;off&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0 PM&lt;/UpdateTimeStamp&gt;&lt;/Root&gt;"/>
</p:tagLst>
</file>

<file path=ppt/tags/tag4.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selection/sel2&lt;/Entity&gt;&lt;Tag&gt;sel2&lt;/Tag&gt;&lt;Node&gt;Component 1 (comp1) &amp;gt; Definitions &amp;gt; Selections &amp;gt; MOX %4.3&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featureselection&quot; type=&quot;bool&quot; value=&quot;off&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0 PM&lt;/UpdateTimeStamp&gt;&lt;/Root&gt;"/>
</p:tagLst>
</file>

<file path=ppt/tags/tag5.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selection/sel3&lt;/Entity&gt;&lt;Tag&gt;sel3&lt;/Tag&gt;&lt;Node&gt;Component 1 (comp1) &amp;gt; Definitions &amp;gt; Selections &amp;gt; MOX %7.0&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featureselection&quot; type=&quot;bool&quot; value=&quot;off&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1 PM&lt;/UpdateTimeStamp&gt;&lt;/Root&gt;"/>
</p:tagLst>
</file>

<file path=ppt/tags/tag6.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selection/sel3&lt;/Entity&gt;&lt;Tag&gt;sel3&lt;/Tag&gt;&lt;Node&gt;Component 1 (comp1) &amp;gt; Definitions &amp;gt; Selections &amp;gt; MOX %7.0&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featureselection&quot; type=&quot;bool&quot; value=&quot;off&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1 PM&lt;/UpdateTimeStamp&gt;&lt;/Root&gt;"/>
</p:tagLst>
</file>

<file path=ppt/tags/tag7.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selection/sel4&lt;/Entity&gt;&lt;Tag&gt;sel4&lt;/Tag&gt;&lt;Node&gt;Component 1 (comp1) &amp;gt; Definitions &amp;gt; Selections &amp;gt; MOX %8.7 &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featureselection&quot; type=&quot;bool&quot; value=&quot;off&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3 PM&lt;/UpdateTimeStamp&gt;&lt;/Root&gt;"/>
</p:tagLst>
</file>

<file path=ppt/tags/tag8.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selection/sel4&lt;/Entity&gt;&lt;Tag&gt;sel4&lt;/Tag&gt;&lt;Node&gt;Component 1 (comp1) &amp;gt; Definitions &amp;gt; Selections &amp;gt; MOX %8.7 &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featureselection&quot; type=&quot;bool&quot; value=&quot;off&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3 PM&lt;/UpdateTimeStamp&gt;&lt;/Root&gt;"/>
</p:tagLst>
</file>

<file path=ppt/tags/tag9.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selection/sel5&lt;/Entity&gt;&lt;Tag&gt;sel5&lt;/Tag&gt;&lt;Node&gt;Component 1 (comp1) &amp;gt; Definitions &amp;gt; Selections &amp;gt; Fission Chamber&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featureselection&quot; type=&quot;bool&quot; value=&quot;off&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4 PM&lt;/UpdateTimeStamp&gt;&lt;/Root&gt;"/>
</p:tagLst>
</file>

<file path=ppt/tags/tag10.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selection/sel6&lt;/Entity&gt;&lt;Tag&gt;sel6&lt;/Tag&gt;&lt;Node&gt;Component 1 (comp1) &amp;gt; Definitions &amp;gt; Selections &amp;gt; Guide Tub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featureselection&quot; type=&quot;bool&quot; value=&quot;off&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5 PM&lt;/UpdateTimeStamp&gt;&lt;/Root&gt;"/>
</p:tagLst>
</file>

<file path=ppt/tags/tag11.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selection/sel6&lt;/Entity&gt;&lt;Tag&gt;sel6&lt;/Tag&gt;&lt;Node&gt;Component 1 (comp1) &amp;gt; Definitions &amp;gt; Selections &amp;gt; Guide Tub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featureselection&quot; type=&quot;bool&quot; value=&quot;off&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5 PM&lt;/UpdateTimeStamp&gt;&lt;/Root&gt;"/>
</p:tagLst>
</file>

<file path=ppt/tags/tag12.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selection/sel7&lt;/Entity&gt;&lt;Tag&gt;sel7&lt;/Tag&gt;&lt;Node&gt;Component 1 (comp1) &amp;gt; Definitions &amp;gt; Selections &amp;gt; Moderator&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featureselection&quot; type=&quot;bool&quot; value=&quot;off&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6 PM&lt;/UpdateTimeStamp&gt;&lt;/Root&gt;"/>
</p:tagLst>
</file>

<file path=ppt/tags/tag13.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selection/sel7&lt;/Entity&gt;&lt;Tag&gt;sel7&lt;/Tag&gt;&lt;Node&gt;Component 1 (comp1) &amp;gt; Definitions &amp;gt; Selections &amp;gt; Moderator&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featureselection&quot; type=&quot;bool&quot; value=&quot;off&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6 PM&lt;/UpdateTimeStamp&gt;&lt;/Root&gt;"/>
</p:tagLst>
</file>

<file path=ppt/tags/tag14.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geom/geom1&lt;/Entity&gt;&lt;Tag&gt;geom1&lt;/Tag&gt;&lt;Node&gt;Component 1 (comp1) &amp;gt; Geometry 1&lt;/Node&gt;&lt;LinkType&gt;Image&lt;/LinkType&gt;&lt;ModelLink directoryType=&quot;none&quot;&gt;C:\Users\egoem\OneDrive\İş masası\comsol_fueltemp1\c5g7_comsol_valid.mph&lt;/ModelLink&gt;&lt;LocalPath&gt;c5g7_comsol_valid.mph&lt;/LocalPath&gt;&lt;Current&gt;fin&lt;/Current&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extents&quot; type=&quot;bool&quot; value=&quot;on&quot;/&gt;&lt;Property name=&quot;ispendingzoom&quot; type=&quot;bool&quot; value=&quot;off&quot;/&gt;&lt;Property name=&quot;zoomlevel&quot; type=&quot;integer&quot; value=&quot;0&quot;/&gt;&lt;Property name=&quot;drawmode&quot; type=&quot;bool&quot; value=&quot;off&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7 PM&lt;/UpdateTimeStamp&gt;&lt;/Root&gt;"/>
</p:tagLst>
</file>

<file path=ppt/tags/tag15.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lt;/Entity&gt;&lt;Tag&gt;c&lt;/Tag&gt;&lt;Node&gt;Component 1 (comp1) &amp;gt; Coefficient Form PDE (c)&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8 PM&lt;/UpdateTimeStamp&gt;&lt;/Root&gt;"/>
</p:tagLst>
</file>

<file path=ppt/tags/tag16.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lt;/Entity&gt;&lt;Tag&gt;c&lt;/Tag&gt;&lt;Node&gt;Component 1 (comp1) &amp;gt; Coefficient Form PDE (c)&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8 PM&lt;/UpdateTimeStamp&gt;&lt;/Root&gt;"/>
</p:tagLst>
</file>

<file path=ppt/tags/tag17.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lt;/Entity&gt;&lt;Tag&gt;c&lt;/Tag&gt;&lt;Node&gt;Component 1 (comp1) &amp;gt; Coefficient Form PDE (c)&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8 PM&lt;/UpdateTimeStamp&gt;&lt;/Root&gt;"/>
</p:tagLst>
</file>

<file path=ppt/tags/tag18.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lt;/Entity&gt;&lt;Tag&gt;c&lt;/Tag&gt;&lt;Node&gt;Component 1 (comp1) &amp;gt; Coefficient Form PDE (c)&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8 PM&lt;/UpdateTimeStamp&gt;&lt;/Root&gt;"/>
</p:tagLst>
</file>

<file path=ppt/tags/tag19.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1&lt;/Entity&gt;&lt;Tag&gt;cfeq1&lt;/Tag&gt;&lt;Node&gt;Component 1 (comp1) &amp;gt; Coefficient Form PDE (c) &amp;gt; Coefficient Form PDE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8 PM&lt;/UpdateTimeStamp&gt;&lt;/Root&gt;"/>
</p:tagLst>
</file>

<file path=ppt/tags/tag20.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1&lt;/Entity&gt;&lt;Tag&gt;cfeq1&lt;/Tag&gt;&lt;Node&gt;Component 1 (comp1) &amp;gt; Coefficient Form PDE (c) &amp;gt; Coefficient Form PDE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8 PM&lt;/UpdateTimeStamp&gt;&lt;/Root&gt;"/>
</p:tagLst>
</file>

<file path=ppt/tags/tag21.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1&lt;/Entity&gt;&lt;Tag&gt;cfeq1&lt;/Tag&gt;&lt;Node&gt;Component 1 (comp1) &amp;gt; Coefficient Form PDE (c) &amp;gt; Coefficient Form PDE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8 PM&lt;/UpdateTimeStamp&gt;&lt;/Root&gt;"/>
</p:tagLst>
</file>

<file path=ppt/tags/tag22.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1&lt;/Entity&gt;&lt;Tag&gt;cfeq1&lt;/Tag&gt;&lt;Node&gt;Component 1 (comp1) &amp;gt; Coefficient Form PDE (c) &amp;gt; Coefficient Form PDE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8 PM&lt;/UpdateTimeStamp&gt;&lt;/Root&gt;"/>
</p:tagLst>
</file>

<file path=ppt/tags/tag23.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1&lt;/Entity&gt;&lt;Tag&gt;cfeq1&lt;/Tag&gt;&lt;Node&gt;Component 1 (comp1) &amp;gt; Coefficient Form PDE (c) &amp;gt; Coefficient Form PDE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8 PM&lt;/UpdateTimeStamp&gt;&lt;/Root&gt;"/>
</p:tagLst>
</file>

<file path=ppt/tags/tag24.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1&lt;/Entity&gt;&lt;Tag&gt;cfeq1&lt;/Tag&gt;&lt;Node&gt;Component 1 (comp1) &amp;gt; Coefficient Form PDE (c) &amp;gt; Coefficient Form PDE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8 PM&lt;/UpdateTimeStamp&gt;&lt;/Root&gt;"/>
</p:tagLst>
</file>

<file path=ppt/tags/tag25.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1&lt;/Entity&gt;&lt;Tag&gt;cfeq1&lt;/Tag&gt;&lt;Node&gt;Component 1 (comp1) &amp;gt; Coefficient Form PDE (c) &amp;gt; Coefficient Form PDE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8 PM&lt;/UpdateTimeStamp&gt;&lt;/Root&gt;"/>
</p:tagLst>
</file>

<file path=ppt/tags/tag26.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1&lt;/Entity&gt;&lt;Tag&gt;cfeq1&lt;/Tag&gt;&lt;Node&gt;Component 1 (comp1) &amp;gt; Coefficient Form PDE (c) &amp;gt; Coefficient Form PDE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8 PM&lt;/UpdateTimeStamp&gt;&lt;/Root&gt;"/>
</p:tagLst>
</file>

<file path=ppt/tags/tag27.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1&lt;/Entity&gt;&lt;Tag&gt;cfeq1&lt;/Tag&gt;&lt;Node&gt;Component 1 (comp1) &amp;gt; Coefficient Form PDE (c) &amp;gt; Coefficient Form PDE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8 PM&lt;/UpdateTimeStamp&gt;&lt;/Root&gt;"/>
</p:tagLst>
</file>

<file path=ppt/tags/tag28.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zflx1&lt;/Entity&gt;&lt;Tag&gt;zflx1&lt;/Tag&gt;&lt;Node&gt;Component 1 (comp1) &amp;gt; Coefficient Form PDE (c) &amp;gt; Zero Flux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9 PM&lt;/UpdateTimeStamp&gt;&lt;/Root&gt;"/>
</p:tagLst>
</file>

<file path=ppt/tags/tag29.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zflx1&lt;/Entity&gt;&lt;Tag&gt;zflx1&lt;/Tag&gt;&lt;Node&gt;Component 1 (comp1) &amp;gt; Coefficient Form PDE (c) &amp;gt; Zero Flux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09 PM&lt;/UpdateTimeStamp&gt;&lt;/Root&gt;"/>
</p:tagLst>
</file>

<file path=ppt/tags/tag30.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init1&lt;/Entity&gt;&lt;Tag&gt;init1&lt;/Tag&gt;&lt;Node&gt;Component 1 (comp1) &amp;gt; Coefficient Form PDE (c) &amp;gt; Initial Values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0 PM&lt;/UpdateTimeStamp&gt;&lt;/Root&gt;"/>
</p:tagLst>
</file>

<file path=ppt/tags/tag31.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init1&lt;/Entity&gt;&lt;Tag&gt;init1&lt;/Tag&gt;&lt;Node&gt;Component 1 (comp1) &amp;gt; Coefficient Form PDE (c) &amp;gt; Initial Values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0 PM&lt;/UpdateTimeStamp&gt;&lt;/Root&gt;"/>
</p:tagLst>
</file>

<file path=ppt/tags/tag32.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init1&lt;/Entity&gt;&lt;Tag&gt;init1&lt;/Tag&gt;&lt;Node&gt;Component 1 (comp1) &amp;gt; Coefficient Form PDE (c) &amp;gt; Initial Values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0 PM&lt;/UpdateTimeStamp&gt;&lt;/Root&gt;"/>
</p:tagLst>
</file>

<file path=ppt/tags/tag33.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init1&lt;/Entity&gt;&lt;Tag&gt;init1&lt;/Tag&gt;&lt;Node&gt;Component 1 (comp1) &amp;gt; Coefficient Form PDE (c) &amp;gt; Initial Values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0 PM&lt;/UpdateTimeStamp&gt;&lt;/Root&gt;"/>
</p:tagLst>
</file>

<file path=ppt/tags/tag34.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2&lt;/Entity&gt;&lt;Tag&gt;cfeq2&lt;/Tag&gt;&lt;Node&gt;Component 1 (comp1) &amp;gt; Coefficient Form PDE (c) &amp;gt; UO2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1 PM&lt;/UpdateTimeStamp&gt;&lt;/Root&gt;"/>
</p:tagLst>
</file>

<file path=ppt/tags/tag35.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2&lt;/Entity&gt;&lt;Tag&gt;cfeq2&lt;/Tag&gt;&lt;Node&gt;Component 1 (comp1) &amp;gt; Coefficient Form PDE (c) &amp;gt; UO2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1 PM&lt;/UpdateTimeStamp&gt;&lt;/Root&gt;"/>
</p:tagLst>
</file>

<file path=ppt/tags/tag36.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2&lt;/Entity&gt;&lt;Tag&gt;cfeq2&lt;/Tag&gt;&lt;Node&gt;Component 1 (comp1) &amp;gt; Coefficient Form PDE (c) &amp;gt; UO2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1 PM&lt;/UpdateTimeStamp&gt;&lt;/Root&gt;"/>
</p:tagLst>
</file>

<file path=ppt/tags/tag37.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2&lt;/Entity&gt;&lt;Tag&gt;cfeq2&lt;/Tag&gt;&lt;Node&gt;Component 1 (comp1) &amp;gt; Coefficient Form PDE (c) &amp;gt; UO2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1 PM&lt;/UpdateTimeStamp&gt;&lt;/Root&gt;"/>
</p:tagLst>
</file>

<file path=ppt/tags/tag38.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2&lt;/Entity&gt;&lt;Tag&gt;cfeq2&lt;/Tag&gt;&lt;Node&gt;Component 1 (comp1) &amp;gt; Coefficient Form PDE (c) &amp;gt; UO2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1 PM&lt;/UpdateTimeStamp&gt;&lt;/Root&gt;"/>
</p:tagLst>
</file>

<file path=ppt/tags/tag39.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2&lt;/Entity&gt;&lt;Tag&gt;cfeq2&lt;/Tag&gt;&lt;Node&gt;Component 1 (comp1) &amp;gt; Coefficient Form PDE (c) &amp;gt; UO2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1 PM&lt;/UpdateTimeStamp&gt;&lt;/Root&gt;"/>
</p:tagLst>
</file>

<file path=ppt/tags/tag40.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2&lt;/Entity&gt;&lt;Tag&gt;cfeq2&lt;/Tag&gt;&lt;Node&gt;Component 1 (comp1) &amp;gt; Coefficient Form PDE (c) &amp;gt; UO2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1 PM&lt;/UpdateTimeStamp&gt;&lt;/Root&gt;"/>
</p:tagLst>
</file>

<file path=ppt/tags/tag41.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2&lt;/Entity&gt;&lt;Tag&gt;cfeq2&lt;/Tag&gt;&lt;Node&gt;Component 1 (comp1) &amp;gt; Coefficient Form PDE (c) &amp;gt; UO2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1 PM&lt;/UpdateTimeStamp&gt;&lt;/Root&gt;"/>
</p:tagLst>
</file>

<file path=ppt/tags/tag42.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2&lt;/Entity&gt;&lt;Tag&gt;cfeq2&lt;/Tag&gt;&lt;Node&gt;Component 1 (comp1) &amp;gt; Coefficient Form PDE (c) &amp;gt; UO2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1 PM&lt;/UpdateTimeStamp&gt;&lt;/Root&gt;"/>
</p:tagLst>
</file>

<file path=ppt/tags/tag43.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2&lt;/Entity&gt;&lt;Tag&gt;cfeq2&lt;/Tag&gt;&lt;Node&gt;Component 1 (comp1) &amp;gt; Coefficient Form PDE (c) &amp;gt; UO2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1 PM&lt;/UpdateTimeStamp&gt;&lt;/Root&gt;"/>
</p:tagLst>
</file>

<file path=ppt/tags/tag44.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3&lt;/Entity&gt;&lt;Tag&gt;cfeq3&lt;/Tag&gt;&lt;Node&gt;Component 1 (comp1) &amp;gt; Coefficient Form PDE (c) &amp;gt; MOX %4.3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2 PM&lt;/UpdateTimeStamp&gt;&lt;/Root&gt;"/>
</p:tagLst>
</file>

<file path=ppt/tags/tag45.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3&lt;/Entity&gt;&lt;Tag&gt;cfeq3&lt;/Tag&gt;&lt;Node&gt;Component 1 (comp1) &amp;gt; Coefficient Form PDE (c) &amp;gt; MOX %4.3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2 PM&lt;/UpdateTimeStamp&gt;&lt;/Root&gt;"/>
</p:tagLst>
</file>

<file path=ppt/tags/tag46.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3&lt;/Entity&gt;&lt;Tag&gt;cfeq3&lt;/Tag&gt;&lt;Node&gt;Component 1 (comp1) &amp;gt; Coefficient Form PDE (c) &amp;gt; MOX %4.3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2 PM&lt;/UpdateTimeStamp&gt;&lt;/Root&gt;"/>
</p:tagLst>
</file>

<file path=ppt/tags/tag47.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3&lt;/Entity&gt;&lt;Tag&gt;cfeq3&lt;/Tag&gt;&lt;Node&gt;Component 1 (comp1) &amp;gt; Coefficient Form PDE (c) &amp;gt; MOX %4.3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2 PM&lt;/UpdateTimeStamp&gt;&lt;/Root&gt;"/>
</p:tagLst>
</file>

<file path=ppt/tags/tag48.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3&lt;/Entity&gt;&lt;Tag&gt;cfeq3&lt;/Tag&gt;&lt;Node&gt;Component 1 (comp1) &amp;gt; Coefficient Form PDE (c) &amp;gt; MOX %4.3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2 PM&lt;/UpdateTimeStamp&gt;&lt;/Root&gt;"/>
</p:tagLst>
</file>

<file path=ppt/tags/tag49.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3&lt;/Entity&gt;&lt;Tag&gt;cfeq3&lt;/Tag&gt;&lt;Node&gt;Component 1 (comp1) &amp;gt; Coefficient Form PDE (c) &amp;gt; MOX %4.3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2 PM&lt;/UpdateTimeStamp&gt;&lt;/Root&gt;"/>
</p:tagLst>
</file>

<file path=ppt/tags/tag50.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3&lt;/Entity&gt;&lt;Tag&gt;cfeq3&lt;/Tag&gt;&lt;Node&gt;Component 1 (comp1) &amp;gt; Coefficient Form PDE (c) &amp;gt; MOX %4.3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2 PM&lt;/UpdateTimeStamp&gt;&lt;/Root&gt;"/>
</p:tagLst>
</file>

<file path=ppt/tags/tag51.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3&lt;/Entity&gt;&lt;Tag&gt;cfeq3&lt;/Tag&gt;&lt;Node&gt;Component 1 (comp1) &amp;gt; Coefficient Form PDE (c) &amp;gt; MOX %4.3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2 PM&lt;/UpdateTimeStamp&gt;&lt;/Root&gt;"/>
</p:tagLst>
</file>

<file path=ppt/tags/tag52.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3&lt;/Entity&gt;&lt;Tag&gt;cfeq3&lt;/Tag&gt;&lt;Node&gt;Component 1 (comp1) &amp;gt; Coefficient Form PDE (c) &amp;gt; MOX %4.3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2 PM&lt;/UpdateTimeStamp&gt;&lt;/Root&gt;"/>
</p:tagLst>
</file>

<file path=ppt/tags/tag53.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3&lt;/Entity&gt;&lt;Tag&gt;cfeq3&lt;/Tag&gt;&lt;Node&gt;Component 1 (comp1) &amp;gt; Coefficient Form PDE (c) &amp;gt; MOX %4.3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2 PM&lt;/UpdateTimeStamp&gt;&lt;/Root&gt;"/>
</p:tagLst>
</file>

<file path=ppt/tags/tag54.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4&lt;/Entity&gt;&lt;Tag&gt;cfeq4&lt;/Tag&gt;&lt;Node&gt;Component 1 (comp1) &amp;gt; Coefficient Form PDE (c) &amp;gt; MOX %7.0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3 PM&lt;/UpdateTimeStamp&gt;&lt;/Root&gt;"/>
</p:tagLst>
</file>

<file path=ppt/tags/tag55.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4&lt;/Entity&gt;&lt;Tag&gt;cfeq4&lt;/Tag&gt;&lt;Node&gt;Component 1 (comp1) &amp;gt; Coefficient Form PDE (c) &amp;gt; MOX %7.0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3 PM&lt;/UpdateTimeStamp&gt;&lt;/Root&gt;"/>
</p:tagLst>
</file>

<file path=ppt/tags/tag56.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4&lt;/Entity&gt;&lt;Tag&gt;cfeq4&lt;/Tag&gt;&lt;Node&gt;Component 1 (comp1) &amp;gt; Coefficient Form PDE (c) &amp;gt; MOX %7.0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3 PM&lt;/UpdateTimeStamp&gt;&lt;/Root&gt;"/>
</p:tagLst>
</file>

<file path=ppt/tags/tag57.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4&lt;/Entity&gt;&lt;Tag&gt;cfeq4&lt;/Tag&gt;&lt;Node&gt;Component 1 (comp1) &amp;gt; Coefficient Form PDE (c) &amp;gt; MOX %7.0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3 PM&lt;/UpdateTimeStamp&gt;&lt;/Root&gt;"/>
</p:tagLst>
</file>

<file path=ppt/tags/tag58.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4&lt;/Entity&gt;&lt;Tag&gt;cfeq4&lt;/Tag&gt;&lt;Node&gt;Component 1 (comp1) &amp;gt; Coefficient Form PDE (c) &amp;gt; MOX %7.0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3 PM&lt;/UpdateTimeStamp&gt;&lt;/Root&gt;"/>
</p:tagLst>
</file>

<file path=ppt/tags/tag59.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4&lt;/Entity&gt;&lt;Tag&gt;cfeq4&lt;/Tag&gt;&lt;Node&gt;Component 1 (comp1) &amp;gt; Coefficient Form PDE (c) &amp;gt; MOX %7.0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3 PM&lt;/UpdateTimeStamp&gt;&lt;/Root&gt;"/>
</p:tagLst>
</file>

<file path=ppt/tags/tag60.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4&lt;/Entity&gt;&lt;Tag&gt;cfeq4&lt;/Tag&gt;&lt;Node&gt;Component 1 (comp1) &amp;gt; Coefficient Form PDE (c) &amp;gt; MOX %7.0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3 PM&lt;/UpdateTimeStamp&gt;&lt;/Root&gt;"/>
</p:tagLst>
</file>

<file path=ppt/tags/tag61.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4&lt;/Entity&gt;&lt;Tag&gt;cfeq4&lt;/Tag&gt;&lt;Node&gt;Component 1 (comp1) &amp;gt; Coefficient Form PDE (c) &amp;gt; MOX %7.0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3 PM&lt;/UpdateTimeStamp&gt;&lt;/Root&gt;"/>
</p:tagLst>
</file>

<file path=ppt/tags/tag62.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4&lt;/Entity&gt;&lt;Tag&gt;cfeq4&lt;/Tag&gt;&lt;Node&gt;Component 1 (comp1) &amp;gt; Coefficient Form PDE (c) &amp;gt; MOX %7.0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3 PM&lt;/UpdateTimeStamp&gt;&lt;/Root&gt;"/>
</p:tagLst>
</file>

<file path=ppt/tags/tag63.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4&lt;/Entity&gt;&lt;Tag&gt;cfeq4&lt;/Tag&gt;&lt;Node&gt;Component 1 (comp1) &amp;gt; Coefficient Form PDE (c) &amp;gt; MOX %7.0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3 PM&lt;/UpdateTimeStamp&gt;&lt;/Root&gt;"/>
</p:tagLst>
</file>

<file path=ppt/tags/tag64.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5&lt;/Entity&gt;&lt;Tag&gt;cfeq5&lt;/Tag&gt;&lt;Node&gt;Component 1 (comp1) &amp;gt; Coefficient Form PDE (c) &amp;gt; MOX %8.7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4 PM&lt;/UpdateTimeStamp&gt;&lt;/Root&gt;"/>
</p:tagLst>
</file>

<file path=ppt/tags/tag65.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5&lt;/Entity&gt;&lt;Tag&gt;cfeq5&lt;/Tag&gt;&lt;Node&gt;Component 1 (comp1) &amp;gt; Coefficient Form PDE (c) &amp;gt; MOX %8.7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4 PM&lt;/UpdateTimeStamp&gt;&lt;/Root&gt;"/>
</p:tagLst>
</file>

<file path=ppt/tags/tag66.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5&lt;/Entity&gt;&lt;Tag&gt;cfeq5&lt;/Tag&gt;&lt;Node&gt;Component 1 (comp1) &amp;gt; Coefficient Form PDE (c) &amp;gt; MOX %8.7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4 PM&lt;/UpdateTimeStamp&gt;&lt;/Root&gt;"/>
</p:tagLst>
</file>

<file path=ppt/tags/tag67.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5&lt;/Entity&gt;&lt;Tag&gt;cfeq5&lt;/Tag&gt;&lt;Node&gt;Component 1 (comp1) &amp;gt; Coefficient Form PDE (c) &amp;gt; MOX %8.7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4 PM&lt;/UpdateTimeStamp&gt;&lt;/Root&gt;"/>
</p:tagLst>
</file>

<file path=ppt/tags/tag68.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5&lt;/Entity&gt;&lt;Tag&gt;cfeq5&lt;/Tag&gt;&lt;Node&gt;Component 1 (comp1) &amp;gt; Coefficient Form PDE (c) &amp;gt; MOX %8.7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4 PM&lt;/UpdateTimeStamp&gt;&lt;/Root&gt;"/>
</p:tagLst>
</file>

<file path=ppt/tags/tag69.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5&lt;/Entity&gt;&lt;Tag&gt;cfeq5&lt;/Tag&gt;&lt;Node&gt;Component 1 (comp1) &amp;gt; Coefficient Form PDE (c) &amp;gt; MOX %8.7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4 PM&lt;/UpdateTimeStamp&gt;&lt;/Root&gt;"/>
</p:tagLst>
</file>

<file path=ppt/tags/tag70.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5&lt;/Entity&gt;&lt;Tag&gt;cfeq5&lt;/Tag&gt;&lt;Node&gt;Component 1 (comp1) &amp;gt; Coefficient Form PDE (c) &amp;gt; MOX %8.7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4 PM&lt;/UpdateTimeStamp&gt;&lt;/Root&gt;"/>
</p:tagLst>
</file>

<file path=ppt/tags/tag71.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5&lt;/Entity&gt;&lt;Tag&gt;cfeq5&lt;/Tag&gt;&lt;Node&gt;Component 1 (comp1) &amp;gt; Coefficient Form PDE (c) &amp;gt; MOX %8.7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4 PM&lt;/UpdateTimeStamp&gt;&lt;/Root&gt;"/>
</p:tagLst>
</file>

<file path=ppt/tags/tag72.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5&lt;/Entity&gt;&lt;Tag&gt;cfeq5&lt;/Tag&gt;&lt;Node&gt;Component 1 (comp1) &amp;gt; Coefficient Form PDE (c) &amp;gt; MOX %8.7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4 PM&lt;/UpdateTimeStamp&gt;&lt;/Root&gt;"/>
</p:tagLst>
</file>

<file path=ppt/tags/tag73.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5&lt;/Entity&gt;&lt;Tag&gt;cfeq5&lt;/Tag&gt;&lt;Node&gt;Component 1 (comp1) &amp;gt; Coefficient Form PDE (c) &amp;gt; MOX %8.7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4 PM&lt;/UpdateTimeStamp&gt;&lt;/Root&gt;"/>
</p:tagLst>
</file>

<file path=ppt/tags/tag74.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6&lt;/Entity&gt;&lt;Tag&gt;cfeq6&lt;/Tag&gt;&lt;Node&gt;Component 1 (comp1) &amp;gt; Coefficient Form PDE (c) &amp;gt; Fission Chambe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5 PM&lt;/UpdateTimeStamp&gt;&lt;/Root&gt;"/>
</p:tagLst>
</file>

<file path=ppt/tags/tag75.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6&lt;/Entity&gt;&lt;Tag&gt;cfeq6&lt;/Tag&gt;&lt;Node&gt;Component 1 (comp1) &amp;gt; Coefficient Form PDE (c) &amp;gt; Fission Chambe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5 PM&lt;/UpdateTimeStamp&gt;&lt;/Root&gt;"/>
</p:tagLst>
</file>

<file path=ppt/tags/tag76.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6&lt;/Entity&gt;&lt;Tag&gt;cfeq6&lt;/Tag&gt;&lt;Node&gt;Component 1 (comp1) &amp;gt; Coefficient Form PDE (c) &amp;gt; Fission Chambe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5 PM&lt;/UpdateTimeStamp&gt;&lt;/Root&gt;"/>
</p:tagLst>
</file>

<file path=ppt/tags/tag77.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6&lt;/Entity&gt;&lt;Tag&gt;cfeq6&lt;/Tag&gt;&lt;Node&gt;Component 1 (comp1) &amp;gt; Coefficient Form PDE (c) &amp;gt; Fission Chambe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5 PM&lt;/UpdateTimeStamp&gt;&lt;/Root&gt;"/>
</p:tagLst>
</file>

<file path=ppt/tags/tag78.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6&lt;/Entity&gt;&lt;Tag&gt;cfeq6&lt;/Tag&gt;&lt;Node&gt;Component 1 (comp1) &amp;gt; Coefficient Form PDE (c) &amp;gt; Fission Chambe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5 PM&lt;/UpdateTimeStamp&gt;&lt;/Root&gt;"/>
</p:tagLst>
</file>

<file path=ppt/tags/tag79.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6&lt;/Entity&gt;&lt;Tag&gt;cfeq6&lt;/Tag&gt;&lt;Node&gt;Component 1 (comp1) &amp;gt; Coefficient Form PDE (c) &amp;gt; Fission Chambe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5 PM&lt;/UpdateTimeStamp&gt;&lt;/Root&gt;"/>
</p:tagLst>
</file>

<file path=ppt/tags/tag80.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6&lt;/Entity&gt;&lt;Tag&gt;cfeq6&lt;/Tag&gt;&lt;Node&gt;Component 1 (comp1) &amp;gt; Coefficient Form PDE (c) &amp;gt; Fission Chambe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5 PM&lt;/UpdateTimeStamp&gt;&lt;/Root&gt;"/>
</p:tagLst>
</file>

<file path=ppt/tags/tag81.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6&lt;/Entity&gt;&lt;Tag&gt;cfeq6&lt;/Tag&gt;&lt;Node&gt;Component 1 (comp1) &amp;gt; Coefficient Form PDE (c) &amp;gt; Fission Chambe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5 PM&lt;/UpdateTimeStamp&gt;&lt;/Root&gt;"/>
</p:tagLst>
</file>

<file path=ppt/tags/tag82.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6&lt;/Entity&gt;&lt;Tag&gt;cfeq6&lt;/Tag&gt;&lt;Node&gt;Component 1 (comp1) &amp;gt; Coefficient Form PDE (c) &amp;gt; Fission Chambe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5 PM&lt;/UpdateTimeStamp&gt;&lt;/Root&gt;"/>
</p:tagLst>
</file>

<file path=ppt/tags/tag83.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7&lt;/Entity&gt;&lt;Tag&gt;cfeq7&lt;/Tag&gt;&lt;Node&gt;Component 1 (comp1) &amp;gt; Coefficient Form PDE (c) &amp;gt; Guide Tube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6 PM&lt;/UpdateTimeStamp&gt;&lt;/Root&gt;"/>
</p:tagLst>
</file>

<file path=ppt/tags/tag84.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7&lt;/Entity&gt;&lt;Tag&gt;cfeq7&lt;/Tag&gt;&lt;Node&gt;Component 1 (comp1) &amp;gt; Coefficient Form PDE (c) &amp;gt; Guide Tube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6 PM&lt;/UpdateTimeStamp&gt;&lt;/Root&gt;"/>
</p:tagLst>
</file>

<file path=ppt/tags/tag85.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7&lt;/Entity&gt;&lt;Tag&gt;cfeq7&lt;/Tag&gt;&lt;Node&gt;Component 1 (comp1) &amp;gt; Coefficient Form PDE (c) &amp;gt; Guide Tube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6 PM&lt;/UpdateTimeStamp&gt;&lt;/Root&gt;"/>
</p:tagLst>
</file>

<file path=ppt/tags/tag86.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7&lt;/Entity&gt;&lt;Tag&gt;cfeq7&lt;/Tag&gt;&lt;Node&gt;Component 1 (comp1) &amp;gt; Coefficient Form PDE (c) &amp;gt; Guide Tube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6 PM&lt;/UpdateTimeStamp&gt;&lt;/Root&gt;"/>
</p:tagLst>
</file>

<file path=ppt/tags/tag87.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7&lt;/Entity&gt;&lt;Tag&gt;cfeq7&lt;/Tag&gt;&lt;Node&gt;Component 1 (comp1) &amp;gt; Coefficient Form PDE (c) &amp;gt; Guide Tube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6 PM&lt;/UpdateTimeStamp&gt;&lt;/Root&gt;"/>
</p:tagLst>
</file>

<file path=ppt/tags/tag88.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7&lt;/Entity&gt;&lt;Tag&gt;cfeq7&lt;/Tag&gt;&lt;Node&gt;Component 1 (comp1) &amp;gt; Coefficient Form PDE (c) &amp;gt; Guide Tube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6 PM&lt;/UpdateTimeStamp&gt;&lt;/Root&gt;"/>
</p:tagLst>
</file>

<file path=ppt/tags/tag89.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7&lt;/Entity&gt;&lt;Tag&gt;cfeq7&lt;/Tag&gt;&lt;Node&gt;Component 1 (comp1) &amp;gt; Coefficient Form PDE (c) &amp;gt; Guide Tube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6 PM&lt;/UpdateTimeStamp&gt;&lt;/Root&gt;"/>
</p:tagLst>
</file>

<file path=ppt/tags/tag90.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7&lt;/Entity&gt;&lt;Tag&gt;cfeq7&lt;/Tag&gt;&lt;Node&gt;Component 1 (comp1) &amp;gt; Coefficient Form PDE (c) &amp;gt; Guide Tube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6 PM&lt;/UpdateTimeStamp&gt;&lt;/Root&gt;"/>
</p:tagLst>
</file>

<file path=ppt/tags/tag91.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7&lt;/Entity&gt;&lt;Tag&gt;cfeq7&lt;/Tag&gt;&lt;Node&gt;Component 1 (comp1) &amp;gt; Coefficient Form PDE (c) &amp;gt; Guide Tube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6 PM&lt;/UpdateTimeStamp&gt;&lt;/Root&gt;"/>
</p:tagLst>
</file>

<file path=ppt/tags/tag92.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7&lt;/Entity&gt;&lt;Tag&gt;cfeq7&lt;/Tag&gt;&lt;Node&gt;Component 1 (comp1) &amp;gt; Coefficient Form PDE (c) &amp;gt; Guide Tube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6 PM&lt;/UpdateTimeStamp&gt;&lt;/Root&gt;"/>
</p:tagLst>
</file>

<file path=ppt/tags/tag93.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8&lt;/Entity&gt;&lt;Tag&gt;cfeq8&lt;/Tag&gt;&lt;Node&gt;Component 1 (comp1) &amp;gt; Coefficient Form PDE (c) &amp;gt; Moderato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7 PM&lt;/UpdateTimeStamp&gt;&lt;/Root&gt;"/>
</p:tagLst>
</file>

<file path=ppt/tags/tag94.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8&lt;/Entity&gt;&lt;Tag&gt;cfeq8&lt;/Tag&gt;&lt;Node&gt;Component 1 (comp1) &amp;gt; Coefficient Form PDE (c) &amp;gt; Moderato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7 PM&lt;/UpdateTimeStamp&gt;&lt;/Root&gt;"/>
</p:tagLst>
</file>

<file path=ppt/tags/tag95.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8&lt;/Entity&gt;&lt;Tag&gt;cfeq8&lt;/Tag&gt;&lt;Node&gt;Component 1 (comp1) &amp;gt; Coefficient Form PDE (c) &amp;gt; Moderato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7 PM&lt;/UpdateTimeStamp&gt;&lt;/Root&gt;"/>
</p:tagLst>
</file>

<file path=ppt/tags/tag96.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8&lt;/Entity&gt;&lt;Tag&gt;cfeq8&lt;/Tag&gt;&lt;Node&gt;Component 1 (comp1) &amp;gt; Coefficient Form PDE (c) &amp;gt; Moderato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7 PM&lt;/UpdateTimeStamp&gt;&lt;/Root&gt;"/>
</p:tagLst>
</file>

<file path=ppt/tags/tag97.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8&lt;/Entity&gt;&lt;Tag&gt;cfeq8&lt;/Tag&gt;&lt;Node&gt;Component 1 (comp1) &amp;gt; Coefficient Form PDE (c) &amp;gt; Moderato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7 PM&lt;/UpdateTimeStamp&gt;&lt;/Root&gt;"/>
</p:tagLst>
</file>

<file path=ppt/tags/tag98.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8&lt;/Entity&gt;&lt;Tag&gt;cfeq8&lt;/Tag&gt;&lt;Node&gt;Component 1 (comp1) &amp;gt; Coefficient Form PDE (c) &amp;gt; Moderato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7 PM&lt;/UpdateTimeStamp&gt;&lt;/Root&gt;"/>
</p:tagLst>
</file>

<file path=ppt/tags/tag99.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8&lt;/Entity&gt;&lt;Tag&gt;cfeq8&lt;/Tag&gt;&lt;Node&gt;Component 1 (comp1) &amp;gt; Coefficient Form PDE (c) &amp;gt; Moderato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7 PM&lt;/UpdateTimeStamp&gt;&lt;/Root&gt;"/>
</p:tagLst>
</file>

<file path=ppt/tags/tag100.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8&lt;/Entity&gt;&lt;Tag&gt;cfeq8&lt;/Tag&gt;&lt;Node&gt;Component 1 (comp1) &amp;gt; Coefficient Form PDE (c) &amp;gt; Moderato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7 PM&lt;/UpdateTimeStamp&gt;&lt;/Root&gt;"/>
</p:tagLst>
</file>

<file path=ppt/tags/tag101.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8&lt;/Entity&gt;&lt;Tag&gt;cfeq8&lt;/Tag&gt;&lt;Node&gt;Component 1 (comp1) &amp;gt; Coefficient Form PDE (c) &amp;gt; Moderato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7 PM&lt;/UpdateTimeStamp&gt;&lt;/Root&gt;"/>
</p:tagLst>
</file>

<file path=ppt/tags/tag102.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cfeq8&lt;/Entity&gt;&lt;Tag&gt;cfeq8&lt;/Tag&gt;&lt;Node&gt;Component 1 (comp1) &amp;gt; Coefficient Form PDE (c) &amp;gt; Moderator_PDE&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7 PM&lt;/UpdateTimeStamp&gt;&lt;/Root&gt;"/>
</p:tagLst>
</file>

<file path=ppt/tags/tag103.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zflx2&lt;/Entity&gt;&lt;Tag&gt;zflx2&lt;/Tag&gt;&lt;Node&gt;Component 1 (comp1) &amp;gt; Coefficient Form PDE (c) &amp;gt; Zero Flux 2&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8 PM&lt;/UpdateTimeStamp&gt;&lt;/Root&gt;"/>
</p:tagLst>
</file>

<file path=ppt/tags/tag104.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zflx2&lt;/Entity&gt;&lt;Tag&gt;zflx2&lt;/Tag&gt;&lt;Node&gt;Component 1 (comp1) &amp;gt; Coefficient Form PDE (c) &amp;gt; Zero Flux 2&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8 PM&lt;/UpdateTimeStamp&gt;&lt;/Root&gt;"/>
</p:tagLst>
</file>

<file path=ppt/tags/tag105.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zflx2&lt;/Entity&gt;&lt;Tag&gt;zflx2&lt;/Tag&gt;&lt;Node&gt;Component 1 (comp1) &amp;gt; Coefficient Form PDE (c) &amp;gt; Zero Flux 2&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8 PM&lt;/UpdateTimeStamp&gt;&lt;/Root&gt;"/>
</p:tagLst>
</file>

<file path=ppt/tags/tag106.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flux1&lt;/Entity&gt;&lt;Tag&gt;flux1&lt;/Tag&gt;&lt;Node&gt;Component 1 (comp1) &amp;gt; Coefficient Form PDE (c) &amp;gt; Flux/Source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9 PM&lt;/UpdateTimeStamp&gt;&lt;/Root&gt;"/>
</p:tagLst>
</file>

<file path=ppt/tags/tag107.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flux1&lt;/Entity&gt;&lt;Tag&gt;flux1&lt;/Tag&gt;&lt;Node&gt;Component 1 (comp1) &amp;gt; Coefficient Form PDE (c) &amp;gt; Flux/Source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9 PM&lt;/UpdateTimeStamp&gt;&lt;/Root&gt;"/>
</p:tagLst>
</file>

<file path=ppt/tags/tag108.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flux1&lt;/Entity&gt;&lt;Tag&gt;flux1&lt;/Tag&gt;&lt;Node&gt;Component 1 (comp1) &amp;gt; Coefficient Form PDE (c) &amp;gt; Flux/Source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9 PM&lt;/UpdateTimeStamp&gt;&lt;/Root&gt;"/>
</p:tagLst>
</file>

<file path=ppt/tags/tag109.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flux1&lt;/Entity&gt;&lt;Tag&gt;flux1&lt;/Tag&gt;&lt;Node&gt;Component 1 (comp1) &amp;gt; Coefficient Form PDE (c) &amp;gt; Flux/Source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9 PM&lt;/UpdateTimeStamp&gt;&lt;/Root&gt;"/>
</p:tagLst>
</file>

<file path=ppt/tags/tag110.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physics/c/feature/flux1&lt;/Entity&gt;&lt;Tag&gt;flux1&lt;/Tag&gt;&lt;Node&gt;Component 1 (comp1) &amp;gt; Coefficient Form PDE (c) &amp;gt; Flux/Source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19 PM&lt;/UpdateTimeStamp&gt;&lt;/Root&gt;"/>
</p:tagLst>
</file>

<file path=ppt/tags/tag111.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mesh/mesh1&lt;/Entity&gt;&lt;Tag&gt;mesh1&lt;/Tag&gt;&lt;Node&gt;Component 1 (comp1) &amp;gt; Mesh 1&lt;/Node&gt;&lt;LinkType&gt;Image&lt;/LinkType&gt;&lt;ModelLink directoryType=&quot;none&quot;&gt;C:\Users\egoem\OneDrive\İş masası\comsol_fueltemp1\c5g7_comsol_valid.mph&lt;/ModelLink&gt;&lt;LocalPath&gt;c5g7_comsol_valid.mph&lt;/LocalPath&gt;&lt;Current&gt;ftri1&lt;/Current&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rendermesh&quot; type=&quot;string&quot; value=&quot;fromview&quot;/&gt;&lt;Property name=&quot;showselection&quot; type=&quot;string&quot; value=&quot;fromview&quot;/&gt;&lt;Property name=&quot;showmaterial&quot; type=&quot;string&quot; value=&quot;fromview&quot;/&gt;&lt;Property name=&quot;zoomextents&quot; type=&quot;bool&quot; value=&quot;on&quot;/&gt;&lt;Property name=&quot;ispendingzoom&quot; type=&quot;bool&quot; value=&quot;off&quot;/&gt;&lt;Property name=&quot;zoomlevel&quot; type=&quot;integer&quot; value=&quot;0&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20 PM&lt;/UpdateTimeStamp&gt;&lt;/Root&gt;"/>
</p:tagLst>
</file>

<file path=ppt/tags/tag112.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mesh/mesh1&lt;/Entity&gt;&lt;Tag&gt;mesh1&lt;/Tag&gt;&lt;Node&gt;Component 1 (comp1) &amp;gt; Mesh 1&lt;/Node&gt;&lt;LinkType&gt;Image&lt;/LinkType&gt;&lt;ModelLink directoryType=&quot;none&quot;&gt;C:\Users\egoem\OneDrive\İş masası\comsol_fueltemp1\c5g7_comsol_valid.mph&lt;/ModelLink&gt;&lt;LocalPath&gt;c5g7_comsol_valid.mph&lt;/LocalPath&gt;&lt;Current&gt;ftri1&lt;/Current&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rendermesh&quot; type=&quot;string&quot; value=&quot;fromview&quot;/&gt;&lt;Property name=&quot;showselection&quot; type=&quot;string&quot; value=&quot;fromview&quot;/&gt;&lt;Property name=&quot;showmaterial&quot; type=&quot;string&quot; value=&quot;fromview&quot;/&gt;&lt;Property name=&quot;zoomextents&quot; type=&quot;bool&quot; value=&quot;on&quot;/&gt;&lt;Property name=&quot;ispendingzoom&quot; type=&quot;bool&quot; value=&quot;off&quot;/&gt;&lt;Property name=&quot;zoomlevel&quot; type=&quot;integer&quot; value=&quot;0&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20 PM&lt;/UpdateTimeStamp&gt;&lt;/Root&gt;"/>
</p:tagLst>
</file>

<file path=ppt/tags/tag113.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mesh/mesh1/feature/ftri1&lt;/Entity&gt;&lt;Tag&gt;ftri1&lt;/Tag&gt;&lt;Node&gt;Component 1 (comp1) &amp;gt; Mesh 1 &amp;gt; Free Triangular 1&lt;/Node&gt;&lt;LinkType&gt;Image&lt;/LinkType&gt;&lt;ModelLink directoryType=&quot;none&quot;&gt;C:\Users\egoem\OneDrive\İş masası\comsol_fueltemp1\c5g7_comsol_valid.mph&lt;/ModelLink&gt;&lt;LocalPath&gt;c5g7_comsol_valid.mph&lt;/LocalPath&gt;&lt;Current&gt;ftri1&lt;/Current&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rendermesh&quot; type=&quot;string&quot; value=&quot;fromview&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21 PM&lt;/UpdateTimeStamp&gt;&lt;/Root&gt;"/>
</p:tagLst>
</file>

<file path=ppt/tags/tag114.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mesh/mesh1/feature/ftri1&lt;/Entity&gt;&lt;Tag&gt;ftri1&lt;/Tag&gt;&lt;Node&gt;Component 1 (comp1) &amp;gt; Mesh 1 &amp;gt; Free Triangular 1&lt;/Node&gt;&lt;LinkType&gt;Image&lt;/LinkType&gt;&lt;ModelLink directoryType=&quot;none&quot;&gt;C:\Users\egoem\OneDrive\İş masası\comsol_fueltemp1\c5g7_comsol_valid.mph&lt;/ModelLink&gt;&lt;LocalPath&gt;c5g7_comsol_valid.mph&lt;/LocalPath&gt;&lt;Current&gt;ftri1&lt;/Current&gt;&lt;SDim&gt;2&lt;/SDim&gt;&lt;Locked&gt;false&lt;/Locked&gt;&lt;PropSet id=&quot;image&quot;&gt;&lt;Property name=&quot;window&quot; type=&quot;string&quot; value=&quot;new&quot;/&gt;&lt;Property name=&quot;windowtitle&quot; type=&quot;string&quot; value=&quot;&quot;/&gt;&lt;Property name=&quot;view&quot; type=&quot;reference&quot; value=&quot;auto&quot;/&gt;&lt;Property name=&quot;rendermesh&quot; type=&quot;string&quot; value=&quot;fromview&quot;/&gt;&lt;Property name=&quot;showselection&quot; type=&quot;string&quot; value=&quot;fromview&quot;/&gt;&lt;Property name=&quot;showmaterial&quot; type=&quot;string&quot; value=&quot;fromview&quot;/&gt;&lt;Property name=&quot;zooming&quot; type=&quot;string&quot; value=&quot;zoomtoselection&quot;/&gt;&lt;Property name=&quot;ispendingzoom&quot; type=&quot;bool&quot; value=&quot;off&quot;/&gt;&lt;Property name=&quot;zoomlevel&quot; type=&quot;integer&quot; value=&quot;0&quot;/&gt;&lt;Property name=&quot;selection&quot; type=&quot;string&quot; value=&quot;mai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21 PM&lt;/UpdateTimeStamp&gt;&lt;/Root&gt;"/>
</p:tagLst>
</file>

<file path=ppt/tags/tag115.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result/dataset/dset1&lt;/Entity&gt;&lt;Tag&gt;dset1&lt;/Tag&gt;&lt;Node&gt;Results &amp;gt; Datasets &amp;gt; Study 1/Solution 1 (sol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window&quot; type=&quot;string&quot; value=&quot;new&quot;/&gt;&lt;Property name=&quot;windowtitle&quot; type=&quot;string&quot; value=&quot;&quot;/&gt;&lt;Property name=&quot;zoomextents&quot; type=&quot;bool&quot; value=&quot;on&quot;/&gt;&lt;Property name=&quot;zoomlevel&quot; type=&quot;integer&quot; value=&quot;0&quot;/&gt;&lt;Property name=&quot;isforreport&quot; type=&quot;bool&quot; value=&quot;o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1200&quot;/&gt;&lt;Property name=&quot;height&quot; type=&quot;real&quot; value=&quot;900&quot;/&gt;&lt;Property name=&quot;resolution&quot; type=&quot;integer&quot; value=&quot;300&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antialias&quot; type=&quot;bool&quot; value=&quot;on&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lastwrittenfile&quot; type=&quot;string&quot; value=&quot;&quot;/&gt;&lt;Property name=&quot;lastfiletype&quot; type=&quot;string&quot; value=&quot;png&quot;/&gt;&lt;Property name=&quot;sdim&quot; type=&quot;group&quot; value=&quot;2&quot;/&gt;&lt;Property name=&quot;options2d&quot; type=&quot;group&quot; value=&quot;on&quot;/&gt;&lt;Property name=&quot;title2d&quot; type=&quot;bool&quot; value=&quot;on&quot;/&gt;&lt;Property name=&quot;axes2d&quot; type=&quot;bool&quot; value=&quot;on&quot;/&gt;&lt;Property name=&quot;logo2d&quot; type=&quot;bool&quot; value=&quot;off&quot;/&gt;&lt;Property name=&quot;fontsize&quot; type=&quot;integer&quot; value=&quot;8&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Set id=&quot;camera&quot;/&gt;&lt;PropSet id=&quot;axis&quot;/&gt;&lt;PropSet id=&quot;table&quot;/&gt;&lt;UpdateTimeStamp&gt;Jun 29, 2026, 8:51:22 PM&lt;/UpdateTimeStamp&gt;&lt;/Root&gt;"/>
</p:tagLst>
</file>

<file path=ppt/tags/tag116.xml><?xml version="1.0" encoding="utf-8"?>
<p:tagLst xmlns:p="http://schemas.openxmlformats.org/presentationml/2006/main" xmlns:r="http://schemas.openxmlformats.org/officeDocument/2006/relationships" xmlns:a="http://schemas.openxmlformats.org/drawingml/2006/main">
  <p:tag name="COMSOL LIVELINK TAG" val="&lt;!-- &#10;PropSet elements are populated with properties elements in format &lt;Property name=&quot;&quot; value=&quot;&quot; type=&quot;&quot;/&gt;&#10;LinkType element has either Image, or Table as value.&#10;--&gt;&lt;Root completeVersion=&quot;6.0.0.x&quot; formatVersion=&quot;2.0.0.0&quot; version=&quot;6.0.0.318&quot;&gt;&lt;VersionInformation&gt;&lt;Version&gt;1&lt;/Version&gt;&lt;/VersionInformation&gt;&lt;Entity&gt;/result/feature/pg1&lt;/Entity&gt;&lt;Tag&gt;pg1&lt;/Tag&gt;&lt;Node&gt;Results &amp;gt; 2D Plot Group 1&lt;/Node&gt;&lt;LinkType&gt;Image&lt;/LinkType&gt;&lt;ModelLink directoryType=&quot;none&quot;&gt;C:\Users\egoem\OneDrive\İş masası\comsol_fueltemp1\c5g7_comsol_valid.mph&lt;/ModelLink&gt;&lt;LocalPath&gt;c5g7_comsol_valid.mph&lt;/LocalPath&gt;&lt;SDim&gt;2&lt;/SDim&gt;&lt;Locked&gt;false&lt;/Locked&gt;&lt;PropSet id=&quot;image&quot;&gt;&lt;Property name=&quot;view&quot; type=&quot;reference&quot; value=&quot;auto&quot;/&gt;&lt;Property name=&quot;animating&quot; type=&quot;bool&quot; value=&quot;off&quot;/&gt;&lt;Property name=&quot;isclientfile&quot; type=&quot;bool&quot; value=&quot;on&quot;/&gt;&lt;Property name=&quot;isforreport&quot; type=&quot;bool&quot; value=&quot;on&quot;/&gt;&lt;Property name=&quot;size&quot; type=&quot;string&quot; value=&quot;manualweb&quot;/&gt;&lt;Property name=&quot;hiddensize&quot; type=&quot;group&quot; value=&quot;manual&quot;/&gt;&lt;Property name=&quot;unit&quot; type=&quot;group&quot; value=&quot;px&quot;/&gt;&lt;Property name=&quot;lockratio&quot; type=&quot;bool&quot; value=&quot;off&quot;/&gt;&lt;Property name=&quot;aspectratio&quot; type=&quot;real&quot; value=&quot;1&quot;/&gt;&lt;Property name=&quot;width&quot; type=&quot;real&quot; value=&quot;2160&quot;/&gt;&lt;Property name=&quot;height&quot; type=&quot;real&quot; value=&quot;1620&quot;/&gt;&lt;Property name=&quot;resolution&quot; type=&quot;integer&quot; value=&quot;300&quot;/&gt;&lt;Property name=&quot;sizedesc&quot; type=&quot;string&quot; value=&quot;183 x 137 mm&quot;/&gt;&lt;Property name=&quot;widthpx&quot; type=&quot;integer&quot; value=&quot;0&quot;/&gt;&lt;Property name=&quot;heightpx&quot; type=&quot;integer&quot; value=&quot;0&quot;/&gt;&lt;Property name=&quot;widthexact&quot; type=&quot;real&quot; value=&quot;0&quot;/&gt;&lt;Property name=&quot;heightexact&quot; type=&quot;real&quot; value=&quot;0&quot;/&gt;&lt;Property name=&quot;exactstored&quot; type=&quot;bool&quot; value=&quot;off&quot;/&gt;&lt;Property name=&quot;usage&quot; type=&quot;group&quot; value=&quot;tree&quot;/&gt;&lt;Property name=&quot;zoomextents&quot; type=&quot;bool&quot; value=&quot;on&quot;/&gt;&lt;Property name=&quot;antialias&quot; type=&quot;bool&quot; value=&quot;on&quot;/&gt;&lt;Property name=&quot;screenwidthpx&quot; type=&quot;integer&quot; value=&quot;0&quot;/&gt;&lt;Property name=&quot;screenheightpx&quot; type=&quot;integer&quot; value=&quot;0&quot;/&gt;&lt;Property name=&quot;linkpossible&quot; type=&quot;bool&quot; value=&quot;on&quot;/&gt;&lt;Property name=&quot;heightmultiple&quot; type=&quot;integer&quot; value=&quot;1&quot;/&gt;&lt;Property name=&quot;zoomlevel&quot; type=&quot;integer&quot; value=&quot;0&quot;/&gt;&lt;Property name=&quot;saveepscopy&quot; type=&quot;bool&quot; value=&quot;off&quot;/&gt;&lt;Property name=&quot;resizefactor&quot; type=&quot;integer&quot; value=&quot;1&quot;/&gt;&lt;Property name=&quot;saveprefs&quot; type=&quot;bool&quot; value=&quot;off&quot;/&gt;&lt;Property name=&quot;decorationscale&quot; type=&quot;real&quot; value=&quot;0.6944444179534912&quot;/&gt;&lt;Property name=&quot;clearfilenameafterwards&quot; type=&quot;bool&quot; value=&quot;off&quot;/&gt;&lt;Property name=&quot;allowlinked&quot; type=&quot;bool&quot; value=&quot;on&quot;/&gt;&lt;Property name=&quot;allowpaste&quot; type=&quot;group&quot; value=&quot;on&quot;/&gt;&lt;Property name=&quot;target&quot; type=&quot;group&quot; value=&quot;linked&quot;/&gt;&lt;Property name=&quot;imagetype&quot; type=&quot;group&quot; value=&quot;png&quot;/&gt;&lt;Property name=&quot;alwaysask&quot; type=&quot;bool&quot; value=&quot;off&quot;/&gt;&lt;Property name=&quot;addsuffix&quot; type=&quot;bool&quot; value=&quot;off&quot;/&gt;&lt;Property name=&quot;alloweps&quot; type=&quot;bool&quot; value=&quot;off&quot;/&gt;&lt;Property name=&quot;allowgltf&quot; type=&quot;bool&quot; value=&quot;off&quot;/&gt;&lt;Property name=&quot;lastwrittenfile&quot; type=&quot;string&quot; value=&quot;&quot;/&gt;&lt;Property name=&quot;lastfiletype&quot; type=&quot;string&quot; value=&quot;png&quot;/&gt;&lt;Property name=&quot;context&quot; type=&quot;group&quot; value=&quot;report&quot;/&gt;&lt;Property name=&quot;clusterrootonly&quot; type=&quot;bool&quot; value=&quot;on&quot;/&gt;&lt;Property name=&quot;layoutmode&quot; type=&quot;group&quot; value=&quot;image&quot;/&gt;&lt;Property name=&quot;sdim&quot; type=&quot;group&quot; value=&quot;2&quot;/&gt;&lt;Property name=&quot;options2d&quot; type=&quot;group&quot; value=&quot;on&quot;/&gt;&lt;Property name=&quot;title2d&quot; type=&quot;bool&quot; value=&quot;on&quot;/&gt;&lt;Property name=&quot;legend2d&quot; type=&quot;bool&quot; value=&quot;on&quot;/&gt;&lt;Property name=&quot;axes2d&quot; type=&quot;bool&quot; value=&quot;on&quot;/&gt;&lt;Property name=&quot;logo2d&quot; type=&quot;bool&quot; value=&quot;off&quot;/&gt;&lt;Property name=&quot;fontsize&quot; type=&quot;integer&quot; value=&quot;10&quot;/&gt;&lt;Property name=&quot;colortheme&quot; type=&quot;string&quot; value=&quot;globaltheme&quot;/&gt;&lt;Property name=&quot;background&quot; type=&quot;group&quot; value=&quot;transparent&quot;/&gt;&lt;Property name=&quot;lockview&quot; type=&quot;string&quot; value=&quot;off&quot;/&gt;&lt;Property name=&quot;linkedinfo&quot; type=&quot;string&quot; value=&quot;&quot;/&gt;&lt;/PropSet&gt;&lt;PropSet id=&quot;view&quot;&gt;&lt;Property name=&quot;showlabels&quot; type=&quot;bool&quot; value=&quot;off&quot;/&gt;&lt;Property name=&quot;showDirections&quot; type=&quot;bool&quot; value=&quot;off&quot;/&gt;&lt;Property name=&quot;showgrid&quot; type=&quot;bool&quot; value=&quot;on&quot;/&gt;&lt;Property name=&quot;rendermesh&quot; type=&quot;bool&quot; value=&quot;on&quot;/&gt;&lt;Property name=&quot;showunits&quot; type=&quot;bool&quot; value=&quot;on&quot;/&gt;&lt;Property name=&quot;plotgroupunits&quot; type=&quot;stringarray&quot; value=&quot;, &quot;/&gt;&lt;Property name=&quot;locked&quot; type=&quot;bool&quot; value=&quot;off&quot;/&gt;&lt;Property name=&quot;istemporary&quot; type=&quot;bool&quot; value=&quot;off&quot;/&gt;&lt;Property name=&quot;showselection&quot; type=&quot;bool&quot; value=&quot;on&quot;/&gt;&lt;Property name=&quot;showmaterial&quot; type=&quot;bool&quot; value=&quot;off&quot;/&gt;&lt;Property name=&quot;hidestatus&quot; type=&quot;string&quot; value=&quot;hide&quot;/&gt;&lt;Property name=&quot;isnew&quot; type=&quot;bool&quot; value=&quot;off&quot;/&gt;&lt;Property name=&quot;postviewkey&quot; type=&quot;string&quot; value=&quot;&quot;/&gt;&lt;Property name=&quot;workplaneclip&quot; type=&quot;bool&quot; value=&quot;off&quot;/&gt;&lt;Property name=&quot;offscreenoverride&quot; type=&quot;bool&quot; value=&quot;off&quot;/&gt;&lt;/PropSet&gt;&lt;PropSet id=&quot;camera&quot;/&gt;&lt;PropSet id=&quot;axis&quot;&gt;&lt;Property name=&quot;xmin&quot; type=&quot;real&quot; value=&quot;-10.22961711883545&quot;/&gt;&lt;Property name=&quot;xmax&quot; type=&quot;real&quot; value=&quot;74.48961639404297&quot;/&gt;&lt;Property name=&quot;ymin&quot; type=&quot;real&quot; value=&quot;-2.173492431640625&quot;/&gt;&lt;Property name=&quot;ymax&quot; type=&quot;real&quot; value=&quot;66.4334945678711&quot;/&gt;&lt;Property name=&quot;xminhidden&quot; type=&quot;real&quot; value=&quot;-10.22961711883545&quot;/&gt;&lt;Property name=&quot;xmaxhidden&quot; type=&quot;real&quot; value=&quot;74.48961639404297&quot;/&gt;&lt;Property name=&quot;yminhidden&quot; type=&quot;real&quot; value=&quot;-2.173492431640625&quot;/&gt;&lt;Property name=&quot;ymaxhidden&quot; type=&quot;real&quot; value=&quot;66.4334945678711&quot;/&gt;&lt;Property name=&quot;forcenoviewscaling&quot; type=&quot;bool&quot; value=&quot;off&quot;/&gt;&lt;Property name=&quot;viewscaletype&quot; type=&quot;group&quot; value=&quot;none&quot;/&gt;&lt;Property name=&quot;autocontext&quot; type=&quot;group&quot; value=&quot;autofit&quot;/&gt;&lt;Property name=&quot;xweight&quot; type=&quot;real&quot; value=&quot;1&quot;/&gt;&lt;Property name=&quot;yweight&quot; type=&quot;real&quot; value=&quot;1&quot;/&gt;&lt;Property name=&quot;xscale&quot; type=&quot;real&quot; value=&quot;1&quot;/&gt;&lt;Property name=&quot;yscale&quot; type=&quot;real&quot; value=&quot;1&quot;/&gt;&lt;Property name=&quot;abstractviewsetting&quot; type=&quot;group&quot; value=&quot;on&quot;/&gt;&lt;Property name=&quot;abstractviewlratio&quot; type=&quot;real&quot; value=&quot;-0.2886028587818146&quot;/&gt;&lt;Property name=&quot;abstractviewrratio&quot; type=&quot;real&quot; value=&quot;0.2886027991771698&quot;/&gt;&lt;Property name=&quot;abstractviewbratio&quot; type=&quot;real&quot; value=&quot;-0.04999995976686478&quot;/&gt;&lt;Property name=&quot;abstractviewtratio&quot; type=&quot;real&quot; value=&quot;0.04999995976686478&quot;/&gt;&lt;Property name=&quot;abstractviewxscale&quot; type=&quot;real&quot; value=&quot;0.25987496972084045&quot;/&gt;&lt;Property name=&quot;abstractviewyscale&quot; type=&quot;real&quot; value=&quot;0.25987499952316284&quot;/&gt;&lt;Property name=&quot;manualgrid&quot; type=&quot;group&quot; value=&quot;off&quot;/&gt;&lt;Property name=&quot;xspacing&quot; type=&quot;real&quot; value=&quot;1&quot;/&gt;&lt;Property name=&quot;yspacing&quot; type=&quot;real&quot; value=&quot;1&quot;/&gt;&lt;Property name=&quot;xextra&quot; type=&quot;realarray&quot; value=&quot;&quot;/&gt;&lt;Property name=&quot;xextra_vector_method&quot; type=&quot;string&quot; value=&quot;step&quot;/&gt;&lt;Property name=&quot;xextra_vector_start&quot; type=&quot;string&quot; value=&quot;&quot;/&gt;&lt;Property name=&quot;xextra_vector_stop&quot; type=&quot;string&quot; value=&quot;&quot;/&gt;&lt;Property name=&quot;xextra_vector_step&quot; type=&quot;string&quot; value=&quot;&quot;/&gt;&lt;Property name=&quot;xextra_vector_numvalues&quot; type=&quot;string&quot; value=&quot;&quot;/&gt;&lt;Property name=&quot;xextra_vector_function&quot; type=&quot;string&quot; value=&quot;none&quot;/&gt;&lt;Property name=&quot;xextra_vector_interval&quot; type=&quot;string&quot; value=&quot;octave&quot;/&gt;&lt;Property name=&quot;xextra_vector_freqperdec&quot; type=&quot;string&quot; value=&quot;&quot;/&gt;&lt;Property name=&quot;yextra&quot; type=&quot;realarray&quot; value=&quot;&quot;/&gt;&lt;Property name=&quot;yextra_vector_method&quot; type=&quot;string&quot; value=&quot;step&quot;/&gt;&lt;Property name=&quot;yextra_vector_start&quot; type=&quot;string&quot; value=&quot;&quot;/&gt;&lt;Property name=&quot;yextra_vector_stop&quot; type=&quot;string&quot; value=&quot;&quot;/&gt;&lt;Property name=&quot;yextra_vector_step&quot; type=&quot;string&quot; value=&quot;&quot;/&gt;&lt;Property name=&quot;yextra_vector_numvalues&quot; type=&quot;string&quot; value=&quot;&quot;/&gt;&lt;Property name=&quot;yextra_vector_function&quot; type=&quot;string&quot; value=&quot;none&quot;/&gt;&lt;Property name=&quot;yextra_vector_interval&quot; type=&quot;string&quot; value=&quot;octave&quot;/&gt;&lt;Property name=&quot;yextra_vector_freqperdec&quot; type=&quot;string&quot; value=&quot;&quot;/&gt;&lt;/PropSet&gt;&lt;PropSet id=&quot;table&quot;/&gt;&lt;UpdateTimeStamp&gt;Jun 29, 2026, 8:51:22 PM&lt;/UpdateTimeStamp&gt;&lt;/Root&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F15BFA04-86A6-430F-B74F-49F1ABB378D9}" vid="{B8F21736-871D-4428-9C14-7192E5D101E4}"/>
    </a:ext>
  </a:extLst>
</a:theme>
</file>

<file path=docProps/app.xml><?xml version="1.0" encoding="utf-8"?>
<Properties xmlns="http://schemas.openxmlformats.org/officeDocument/2006/extended-properties" xmlns:vt="http://schemas.openxmlformats.org/officeDocument/2006/docPropsVTypes">
  <Template/>
  <TotalTime>0</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2021-06-24T10:27:22Z</dcterms:created>
  <dc:creator>Anders Westerberg</dc:creator>
  <cp:lastModifiedBy>Anders Westerberg</cp:lastModifiedBy>
  <dcterms:modified xsi:type="dcterms:W3CDTF">2021-06-24T10:28:04Z</dcterms:modified>
  <cp:revision>1</cp:revision>
  <dc:title>PowerPoint Presentation</dc:title>
</cp:coreProperties>
</file>